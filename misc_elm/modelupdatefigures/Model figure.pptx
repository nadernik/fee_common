
<file path=[Content_Types].xml><?xml version="1.0" encoding="utf-8"?>
<Types xmlns="http://schemas.openxmlformats.org/package/2006/content-types">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8"/>
  </p:notesMasterIdLst>
  <p:sldIdLst>
    <p:sldId id="259" r:id="rId2"/>
    <p:sldId id="256" r:id="rId3"/>
    <p:sldId id="258" r:id="rId4"/>
    <p:sldId id="257" r:id="rId5"/>
    <p:sldId id="260" r:id="rId6"/>
    <p:sldId id="261" r:id="rId7"/>
  </p:sldIdLst>
  <p:sldSz cx="6858000" cy="9144000" type="letter"/>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36" userDrawn="1">
          <p15:clr>
            <a:srgbClr val="A4A3A4"/>
          </p15:clr>
        </p15:guide>
        <p15:guide id="2" pos="240" userDrawn="1">
          <p15:clr>
            <a:srgbClr val="A4A3A4"/>
          </p15:clr>
        </p15:guide>
        <p15:guide id="3" orient="horz" pos="364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4" autoAdjust="0"/>
    <p:restoredTop sz="83599" autoAdjust="0"/>
  </p:normalViewPr>
  <p:slideViewPr>
    <p:cSldViewPr snapToGrid="0" showGuides="1">
      <p:cViewPr varScale="1">
        <p:scale>
          <a:sx n="58" d="100"/>
          <a:sy n="58" d="100"/>
        </p:scale>
        <p:origin x="2778" y="78"/>
      </p:cViewPr>
      <p:guideLst>
        <p:guide orient="horz" pos="336"/>
        <p:guide pos="240"/>
        <p:guide orient="horz" pos="3648"/>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A89D1C0-E319-4E94-803C-064D848B6B29}" type="datetimeFigureOut">
              <a:rPr lang="en-US" smtClean="0"/>
              <a:t>11/25/2014</a:t>
            </a:fld>
            <a:endParaRPr lang="en-US"/>
          </a:p>
        </p:txBody>
      </p:sp>
      <p:sp>
        <p:nvSpPr>
          <p:cNvPr id="4" name="Slide Image Placeholder 3"/>
          <p:cNvSpPr>
            <a:spLocks noGrp="1" noRot="1" noChangeAspect="1"/>
          </p:cNvSpPr>
          <p:nvPr>
            <p:ph type="sldImg" idx="2"/>
          </p:nvPr>
        </p:nvSpPr>
        <p:spPr>
          <a:xfrm>
            <a:off x="2271713" y="1143000"/>
            <a:ext cx="2314575"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B47A091-1025-4C33-93B2-B19D2608A5C4}" type="slidenum">
              <a:rPr lang="en-US" smtClean="0"/>
              <a:t>‹#›</a:t>
            </a:fld>
            <a:endParaRPr lang="en-US"/>
          </a:p>
        </p:txBody>
      </p:sp>
    </p:spTree>
    <p:extLst>
      <p:ext uri="{BB962C8B-B14F-4D97-AF65-F5344CB8AC3E}">
        <p14:creationId xmlns:p14="http://schemas.microsoft.com/office/powerpoint/2010/main" val="22890805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smtClean="0">
                <a:solidFill>
                  <a:schemeClr val="tx1"/>
                </a:solidFill>
                <a:latin typeface="+mn-lt"/>
                <a:ea typeface="+mn-ea"/>
                <a:cs typeface="+mn-cs"/>
              </a:rPr>
              <a:t>%% ONE CHAIN</a:t>
            </a:r>
          </a:p>
          <a:p>
            <a:r>
              <a:rPr lang="en-US" sz="1200" b="0" i="0" u="none" strike="noStrike" kern="1200" baseline="0" dirty="0" smtClean="0">
                <a:solidFill>
                  <a:schemeClr val="tx1"/>
                </a:solidFill>
                <a:latin typeface="+mn-lt"/>
                <a:ea typeface="+mn-ea"/>
                <a:cs typeface="+mn-cs"/>
              </a:rPr>
              <a:t>k = 8;          % External input drives k neurons simultaneously</a:t>
            </a:r>
          </a:p>
          <a:p>
            <a:r>
              <a:rPr lang="en-US" sz="1200" b="0" i="0" u="none" strike="noStrike" kern="1200" baseline="0" dirty="0" smtClean="0">
                <a:solidFill>
                  <a:schemeClr val="tx1"/>
                </a:solidFill>
                <a:latin typeface="+mn-lt"/>
                <a:ea typeface="+mn-ea"/>
                <a:cs typeface="+mn-cs"/>
              </a:rPr>
              <a:t>m = k;          % Each neuron can have m*</a:t>
            </a:r>
            <a:r>
              <a:rPr lang="en-US" sz="1200" b="0" i="0" u="none" strike="noStrike" kern="1200" baseline="0" dirty="0" err="1" smtClean="0">
                <a:solidFill>
                  <a:schemeClr val="tx1"/>
                </a:solidFill>
                <a:latin typeface="+mn-lt"/>
                <a:ea typeface="+mn-ea"/>
                <a:cs typeface="+mn-cs"/>
              </a:rPr>
              <a:t>wmax</a:t>
            </a:r>
            <a:r>
              <a:rPr lang="en-US" sz="1200" b="0" i="0" u="none" strike="noStrike" kern="1200" baseline="0" dirty="0" smtClean="0">
                <a:solidFill>
                  <a:schemeClr val="tx1"/>
                </a:solidFill>
                <a:latin typeface="+mn-lt"/>
                <a:ea typeface="+mn-ea"/>
                <a:cs typeface="+mn-cs"/>
              </a:rPr>
              <a:t> incoming(outgoing) synaptic weight before </a:t>
            </a:r>
            <a:r>
              <a:rPr lang="en-US" sz="1200" b="0" i="0" u="none" strike="noStrike" kern="1200" baseline="0" dirty="0" err="1" smtClean="0">
                <a:solidFill>
                  <a:schemeClr val="tx1"/>
                </a:solidFill>
                <a:latin typeface="+mn-lt"/>
                <a:ea typeface="+mn-ea"/>
                <a:cs typeface="+mn-cs"/>
              </a:rPr>
              <a:t>heterosynaptic</a:t>
            </a:r>
            <a:r>
              <a:rPr lang="en-US" sz="1200" b="0" i="0" u="none" strike="noStrike" kern="1200" baseline="0" dirty="0" smtClean="0">
                <a:solidFill>
                  <a:schemeClr val="tx1"/>
                </a:solidFill>
                <a:latin typeface="+mn-lt"/>
                <a:ea typeface="+mn-ea"/>
                <a:cs typeface="+mn-cs"/>
              </a:rPr>
              <a:t> LTD kicks in</a:t>
            </a:r>
          </a:p>
          <a:p>
            <a:r>
              <a:rPr lang="en-US" sz="1200" b="0" i="0" u="none" strike="noStrike" kern="1200" baseline="0" dirty="0" smtClean="0">
                <a:solidFill>
                  <a:schemeClr val="tx1"/>
                </a:solidFill>
                <a:latin typeface="+mn-lt"/>
                <a:ea typeface="+mn-ea"/>
                <a:cs typeface="+mn-cs"/>
              </a:rPr>
              <a:t>n = 100;        % Number of neurons</a:t>
            </a:r>
          </a:p>
          <a:p>
            <a:r>
              <a:rPr lang="en-US" sz="1200" b="0" i="0" u="none" strike="noStrike" kern="1200" baseline="0" dirty="0" err="1" smtClean="0">
                <a:solidFill>
                  <a:schemeClr val="tx1"/>
                </a:solidFill>
                <a:latin typeface="+mn-lt"/>
                <a:ea typeface="+mn-ea"/>
                <a:cs typeface="+mn-cs"/>
              </a:rPr>
              <a:t>nsteps</a:t>
            </a:r>
            <a:r>
              <a:rPr lang="en-US" sz="1200" b="0" i="0" u="none" strike="noStrike" kern="1200" baseline="0" dirty="0" smtClean="0">
                <a:solidFill>
                  <a:schemeClr val="tx1"/>
                </a:solidFill>
                <a:latin typeface="+mn-lt"/>
                <a:ea typeface="+mn-ea"/>
                <a:cs typeface="+mn-cs"/>
              </a:rPr>
              <a:t> = 100;   % Number of time steps per iteration</a:t>
            </a:r>
          </a:p>
          <a:p>
            <a:r>
              <a:rPr lang="en-US" sz="1200" b="0" i="0" u="none" strike="noStrike" kern="1200" baseline="0" dirty="0" err="1" smtClean="0">
                <a:solidFill>
                  <a:schemeClr val="tx1"/>
                </a:solidFill>
                <a:latin typeface="+mn-lt"/>
                <a:ea typeface="+mn-ea"/>
                <a:cs typeface="+mn-cs"/>
              </a:rPr>
              <a:t>trainint</a:t>
            </a:r>
            <a:r>
              <a:rPr lang="en-US" sz="1200" b="0" i="0" u="none" strike="noStrike" kern="1200" baseline="0" dirty="0" smtClean="0">
                <a:solidFill>
                  <a:schemeClr val="tx1"/>
                </a:solidFill>
                <a:latin typeface="+mn-lt"/>
                <a:ea typeface="+mn-ea"/>
                <a:cs typeface="+mn-cs"/>
              </a:rPr>
              <a:t> = 10;  % Interval between training input</a:t>
            </a:r>
          </a:p>
          <a:p>
            <a:r>
              <a:rPr lang="en-US" sz="1200" b="0" i="0" u="none" strike="noStrike" kern="1200" baseline="0" dirty="0" smtClean="0">
                <a:solidFill>
                  <a:schemeClr val="tx1"/>
                </a:solidFill>
                <a:latin typeface="+mn-lt"/>
                <a:ea typeface="+mn-ea"/>
                <a:cs typeface="+mn-cs"/>
              </a:rPr>
              <a:t>beta = .1;      % Strength of feed-forward inhibition. .02 for </a:t>
            </a:r>
            <a:r>
              <a:rPr lang="en-US" sz="1200" b="0" i="0" u="none" strike="noStrike" kern="1200" baseline="0" dirty="0" err="1" smtClean="0">
                <a:solidFill>
                  <a:schemeClr val="tx1"/>
                </a:solidFill>
                <a:latin typeface="+mn-lt"/>
                <a:ea typeface="+mn-ea"/>
                <a:cs typeface="+mn-cs"/>
              </a:rPr>
              <a:t>trainint</a:t>
            </a:r>
            <a:r>
              <a:rPr lang="en-US" sz="1200" b="0" i="0" u="none" strike="noStrike" kern="1200" baseline="0" dirty="0" smtClean="0">
                <a:solidFill>
                  <a:schemeClr val="tx1"/>
                </a:solidFill>
                <a:latin typeface="+mn-lt"/>
                <a:ea typeface="+mn-ea"/>
                <a:cs typeface="+mn-cs"/>
              </a:rPr>
              <a:t> 10</a:t>
            </a:r>
          </a:p>
          <a:p>
            <a:r>
              <a:rPr lang="en-US" sz="1200" b="0" i="0" u="none" strike="noStrike" kern="1200" baseline="0" dirty="0" smtClean="0">
                <a:solidFill>
                  <a:schemeClr val="tx1"/>
                </a:solidFill>
                <a:latin typeface="+mn-lt"/>
                <a:ea typeface="+mn-ea"/>
                <a:cs typeface="+mn-cs"/>
              </a:rPr>
              <a:t>eta = .02;      % Overall learning rate</a:t>
            </a:r>
          </a:p>
          <a:p>
            <a:r>
              <a:rPr lang="en-US" sz="1200" b="0" i="0" u="none" strike="noStrike" kern="1200" baseline="0" dirty="0" smtClean="0">
                <a:solidFill>
                  <a:schemeClr val="tx1"/>
                </a:solidFill>
                <a:latin typeface="+mn-lt"/>
                <a:ea typeface="+mn-ea"/>
                <a:cs typeface="+mn-cs"/>
              </a:rPr>
              <a:t>epsilon = .01;  % Relative strength of </a:t>
            </a:r>
            <a:r>
              <a:rPr lang="en-US" sz="1200" b="0" i="0" u="none" strike="noStrike" kern="1200" baseline="0" dirty="0" err="1" smtClean="0">
                <a:solidFill>
                  <a:schemeClr val="tx1"/>
                </a:solidFill>
                <a:latin typeface="+mn-lt"/>
                <a:ea typeface="+mn-ea"/>
                <a:cs typeface="+mn-cs"/>
              </a:rPr>
              <a:t>heterosynaptic</a:t>
            </a:r>
            <a:r>
              <a:rPr lang="en-US" sz="1200" b="0" i="0" u="none" strike="noStrike" kern="1200" baseline="0" dirty="0" smtClean="0">
                <a:solidFill>
                  <a:schemeClr val="tx1"/>
                </a:solidFill>
                <a:latin typeface="+mn-lt"/>
                <a:ea typeface="+mn-ea"/>
                <a:cs typeface="+mn-cs"/>
              </a:rPr>
              <a:t> LTD</a:t>
            </a:r>
          </a:p>
          <a:p>
            <a:r>
              <a:rPr lang="en-US" sz="1200" b="0" i="0" u="none" strike="noStrike" kern="1200" baseline="0" dirty="0" smtClean="0">
                <a:solidFill>
                  <a:schemeClr val="tx1"/>
                </a:solidFill>
                <a:latin typeface="+mn-lt"/>
                <a:ea typeface="+mn-ea"/>
                <a:cs typeface="+mn-cs"/>
              </a:rPr>
              <a:t>pin = .01;      % Probability of random activation of any one neuron</a:t>
            </a:r>
          </a:p>
          <a:p>
            <a:r>
              <a:rPr lang="en-US" sz="1200" b="0" i="0" u="none" strike="noStrike" kern="1200" baseline="0" dirty="0" err="1" smtClean="0">
                <a:solidFill>
                  <a:schemeClr val="tx1"/>
                </a:solidFill>
                <a:latin typeface="+mn-lt"/>
                <a:ea typeface="+mn-ea"/>
                <a:cs typeface="+mn-cs"/>
              </a:rPr>
              <a:t>vidname</a:t>
            </a:r>
            <a:r>
              <a:rPr lang="en-US" sz="1200" b="0" i="0" u="none" strike="noStrike" kern="1200" baseline="0" dirty="0" smtClean="0">
                <a:solidFill>
                  <a:schemeClr val="tx1"/>
                </a:solidFill>
                <a:latin typeface="+mn-lt"/>
                <a:ea typeface="+mn-ea"/>
                <a:cs typeface="+mn-cs"/>
              </a:rPr>
              <a:t> = [];'</a:t>
            </a:r>
            <a:r>
              <a:rPr lang="en-US" sz="1200" b="0" i="0" u="none" strike="noStrike" kern="1200" baseline="0" dirty="0" err="1" smtClean="0">
                <a:solidFill>
                  <a:schemeClr val="tx1"/>
                </a:solidFill>
                <a:latin typeface="+mn-lt"/>
                <a:ea typeface="+mn-ea"/>
                <a:cs typeface="+mn-cs"/>
              </a:rPr>
              <a:t>onechain_new</a:t>
            </a:r>
            <a:r>
              <a:rPr lang="en-US" sz="1200" b="0" i="0" u="none" strike="noStrike" kern="1200" baseline="0" dirty="0" smtClean="0">
                <a:solidFill>
                  <a:schemeClr val="tx1"/>
                </a:solidFill>
                <a:latin typeface="+mn-lt"/>
                <a:ea typeface="+mn-ea"/>
                <a:cs typeface="+mn-cs"/>
              </a:rPr>
              <a:t>';   % Save video name (leave empty [] if unneeded)</a:t>
            </a:r>
          </a:p>
          <a:p>
            <a:r>
              <a:rPr lang="en-US" sz="1200" b="0" i="0" u="none" strike="noStrike" kern="1200" baseline="0" dirty="0" smtClean="0">
                <a:solidFill>
                  <a:schemeClr val="tx1"/>
                </a:solidFill>
                <a:latin typeface="+mn-lt"/>
                <a:ea typeface="+mn-ea"/>
                <a:cs typeface="+mn-cs"/>
              </a:rPr>
              <a:t>vidname2 = [];'</a:t>
            </a:r>
            <a:r>
              <a:rPr lang="en-US" sz="1200" b="0" i="0" u="none" strike="noStrike" kern="1200" baseline="0" dirty="0" err="1" smtClean="0">
                <a:solidFill>
                  <a:schemeClr val="tx1"/>
                </a:solidFill>
                <a:latin typeface="+mn-lt"/>
                <a:ea typeface="+mn-ea"/>
                <a:cs typeface="+mn-cs"/>
              </a:rPr>
              <a:t>twochainz_new</a:t>
            </a:r>
            <a:r>
              <a:rPr lang="en-US" sz="1200" b="0" i="0" u="none" strike="noStrike" kern="1200" baseline="0" dirty="0" smtClean="0">
                <a:solidFill>
                  <a:schemeClr val="tx1"/>
                </a:solidFill>
                <a:latin typeface="+mn-lt"/>
                <a:ea typeface="+mn-ea"/>
                <a:cs typeface="+mn-cs"/>
              </a:rPr>
              <a:t>';</a:t>
            </a:r>
          </a:p>
          <a:p>
            <a:r>
              <a:rPr lang="en-US" sz="1200" b="0" i="0" u="none" strike="noStrike" kern="1200" baseline="0" dirty="0" err="1" smtClean="0">
                <a:solidFill>
                  <a:schemeClr val="tx1"/>
                </a:solidFill>
                <a:latin typeface="+mn-lt"/>
                <a:ea typeface="+mn-ea"/>
                <a:cs typeface="+mn-cs"/>
              </a:rPr>
              <a:t>psuccess</a:t>
            </a:r>
            <a:r>
              <a:rPr lang="en-US" sz="1200" b="0" i="0" u="none" strike="noStrike" kern="1200" baseline="0" dirty="0" smtClean="0">
                <a:solidFill>
                  <a:schemeClr val="tx1"/>
                </a:solidFill>
                <a:latin typeface="+mn-lt"/>
                <a:ea typeface="+mn-ea"/>
                <a:cs typeface="+mn-cs"/>
              </a:rPr>
              <a:t> =1;</a:t>
            </a:r>
          </a:p>
          <a:p>
            <a:r>
              <a:rPr lang="en-US" sz="1200" b="0" i="0" u="none" strike="noStrike" kern="1200" baseline="0" dirty="0" smtClean="0">
                <a:solidFill>
                  <a:schemeClr val="tx1"/>
                </a:solidFill>
                <a:latin typeface="+mn-lt"/>
                <a:ea typeface="+mn-ea"/>
                <a:cs typeface="+mn-cs"/>
              </a:rPr>
              <a:t>[w0, ~, ~, p4] = </a:t>
            </a:r>
            <a:r>
              <a:rPr lang="en-US" sz="1200" b="0" i="0" u="none" strike="noStrike" kern="1200" baseline="0" dirty="0" err="1" smtClean="0">
                <a:solidFill>
                  <a:schemeClr val="tx1"/>
                </a:solidFill>
                <a:latin typeface="+mn-lt"/>
                <a:ea typeface="+mn-ea"/>
                <a:cs typeface="+mn-cs"/>
              </a:rPr>
              <a:t>simSplit</a:t>
            </a:r>
            <a:r>
              <a:rPr lang="en-US" sz="1200" b="0" i="0" u="none" strike="noStrike" kern="1200" baseline="0" dirty="0" smtClean="0">
                <a:solidFill>
                  <a:schemeClr val="tx1"/>
                </a:solidFill>
                <a:latin typeface="+mn-lt"/>
                <a:ea typeface="+mn-ea"/>
                <a:cs typeface="+mn-cs"/>
              </a:rPr>
              <a:t>('w',[],'</a:t>
            </a:r>
            <a:r>
              <a:rPr lang="en-US" sz="1200" b="0" i="0" u="none" strike="noStrike" kern="1200" baseline="0" dirty="0" err="1" smtClean="0">
                <a:solidFill>
                  <a:schemeClr val="tx1"/>
                </a:solidFill>
                <a:latin typeface="+mn-lt"/>
                <a:ea typeface="+mn-ea"/>
                <a:cs typeface="+mn-cs"/>
              </a:rPr>
              <a:t>recordvid</a:t>
            </a:r>
            <a:r>
              <a:rPr lang="en-US" sz="1200" b="0" i="0" u="none" strike="noStrike" kern="1200" baseline="0" dirty="0" smtClean="0">
                <a:solidFill>
                  <a:schemeClr val="tx1"/>
                </a:solidFill>
                <a:latin typeface="+mn-lt"/>
                <a:ea typeface="+mn-ea"/>
                <a:cs typeface="+mn-cs"/>
              </a:rPr>
              <a:t>',</a:t>
            </a:r>
            <a:r>
              <a:rPr lang="en-US" sz="1200" b="0" i="0" u="none" strike="noStrike" kern="1200" baseline="0" dirty="0" err="1" smtClean="0">
                <a:solidFill>
                  <a:schemeClr val="tx1"/>
                </a:solidFill>
                <a:latin typeface="+mn-lt"/>
                <a:ea typeface="+mn-ea"/>
                <a:cs typeface="+mn-cs"/>
              </a:rPr>
              <a:t>vidname</a:t>
            </a:r>
            <a:r>
              <a:rPr lang="en-US" sz="1200" b="0" i="0" u="none" strike="noStrike" kern="1200" baseline="0" dirty="0" smtClean="0">
                <a:solidFill>
                  <a:schemeClr val="tx1"/>
                </a:solidFill>
                <a:latin typeface="+mn-lt"/>
                <a:ea typeface="+mn-ea"/>
                <a:cs typeface="+mn-cs"/>
              </a:rPr>
              <a:t>,...</a:t>
            </a:r>
          </a:p>
          <a:p>
            <a:r>
              <a:rPr lang="en-US" sz="1200" b="0" i="0" u="none" strike="noStrike" kern="1200" baseline="0" dirty="0" smtClean="0">
                <a:solidFill>
                  <a:schemeClr val="tx1"/>
                </a:solidFill>
                <a:latin typeface="+mn-lt"/>
                <a:ea typeface="+mn-ea"/>
                <a:cs typeface="+mn-cs"/>
              </a:rPr>
              <a:t>    'n',n,'m',m,'k',k,'beta',beta,'</a:t>
            </a:r>
            <a:r>
              <a:rPr lang="en-US" sz="1200" b="0" i="0" u="none" strike="noStrike" kern="1200" baseline="0" dirty="0" err="1" smtClean="0">
                <a:solidFill>
                  <a:schemeClr val="tx1"/>
                </a:solidFill>
                <a:latin typeface="+mn-lt"/>
                <a:ea typeface="+mn-ea"/>
                <a:cs typeface="+mn-cs"/>
              </a:rPr>
              <a:t>trainint</a:t>
            </a:r>
            <a:r>
              <a:rPr lang="en-US" sz="1200" b="0" i="0" u="none" strike="noStrike" kern="1200" baseline="0" dirty="0" smtClean="0">
                <a:solidFill>
                  <a:schemeClr val="tx1"/>
                </a:solidFill>
                <a:latin typeface="+mn-lt"/>
                <a:ea typeface="+mn-ea"/>
                <a:cs typeface="+mn-cs"/>
              </a:rPr>
              <a:t>',</a:t>
            </a:r>
            <a:r>
              <a:rPr lang="en-US" sz="1200" b="0" i="0" u="none" strike="noStrike" kern="1200" baseline="0" dirty="0" err="1" smtClean="0">
                <a:solidFill>
                  <a:schemeClr val="tx1"/>
                </a:solidFill>
                <a:latin typeface="+mn-lt"/>
                <a:ea typeface="+mn-ea"/>
                <a:cs typeface="+mn-cs"/>
              </a:rPr>
              <a:t>trainint</a:t>
            </a:r>
            <a:r>
              <a:rPr lang="en-US" sz="1200" b="0" i="0" u="none" strike="noStrike" kern="1200" baseline="0" dirty="0" smtClean="0">
                <a:solidFill>
                  <a:schemeClr val="tx1"/>
                </a:solidFill>
                <a:latin typeface="+mn-lt"/>
                <a:ea typeface="+mn-ea"/>
                <a:cs typeface="+mn-cs"/>
              </a:rPr>
              <a:t>,...</a:t>
            </a:r>
          </a:p>
          <a:p>
            <a:r>
              <a:rPr lang="en-US" sz="1200" b="0" i="0" u="none" strike="noStrike" kern="1200" baseline="0" dirty="0" smtClean="0">
                <a:solidFill>
                  <a:schemeClr val="tx1"/>
                </a:solidFill>
                <a:latin typeface="+mn-lt"/>
                <a:ea typeface="+mn-ea"/>
                <a:cs typeface="+mn-cs"/>
              </a:rPr>
              <a:t>    'eta',eta,'pin',pin,'nsteps',nsteps,'gamma',0,'epsilon',epsilon,...</a:t>
            </a:r>
          </a:p>
          <a:p>
            <a:r>
              <a:rPr lang="en-US" sz="1200" b="0" i="0" u="none" strike="noStrike" kern="1200" baseline="0" dirty="0" smtClean="0">
                <a:solidFill>
                  <a:schemeClr val="tx1"/>
                </a:solidFill>
                <a:latin typeface="+mn-lt"/>
                <a:ea typeface="+mn-ea"/>
                <a:cs typeface="+mn-cs"/>
              </a:rPr>
              <a:t>    'niters',1000,'gamma',0.1,'psuccess',psuccess,'seed',p4.seed);</a:t>
            </a:r>
          </a:p>
          <a:p>
            <a:r>
              <a:rPr lang="en-US" sz="1200" b="0" i="0" u="none" strike="noStrike" kern="1200" baseline="0" dirty="0" smtClean="0">
                <a:solidFill>
                  <a:schemeClr val="tx1"/>
                </a:solidFill>
                <a:latin typeface="+mn-lt"/>
                <a:ea typeface="+mn-ea"/>
                <a:cs typeface="+mn-cs"/>
              </a:rPr>
              <a:t> </a:t>
            </a:r>
          </a:p>
          <a:p>
            <a:r>
              <a:rPr lang="en-US" sz="1200" b="0" i="0" u="none" strike="noStrike" kern="1200" baseline="0" dirty="0" smtClean="0">
                <a:solidFill>
                  <a:schemeClr val="tx1"/>
                </a:solidFill>
                <a:latin typeface="+mn-lt"/>
                <a:ea typeface="+mn-ea"/>
                <a:cs typeface="+mn-cs"/>
              </a:rPr>
              <a:t>%% SPLIT</a:t>
            </a:r>
          </a:p>
          <a:p>
            <a:r>
              <a:rPr lang="en-US" sz="1200" b="0" i="0" u="none" strike="noStrike" kern="1200" baseline="0" dirty="0" smtClean="0">
                <a:solidFill>
                  <a:schemeClr val="tx1"/>
                </a:solidFill>
                <a:latin typeface="+mn-lt"/>
                <a:ea typeface="+mn-ea"/>
                <a:cs typeface="+mn-cs"/>
              </a:rPr>
              <a:t>% 1. Allow fewer, stronger synapses</a:t>
            </a:r>
          </a:p>
          <a:p>
            <a:r>
              <a:rPr lang="en-US" sz="1200" b="0" i="0" u="none" strike="noStrike" kern="1200" baseline="0" dirty="0" smtClean="0">
                <a:solidFill>
                  <a:schemeClr val="tx1"/>
                </a:solidFill>
                <a:latin typeface="+mn-lt"/>
                <a:ea typeface="+mn-ea"/>
                <a:cs typeface="+mn-cs"/>
              </a:rPr>
              <a:t>% 2. Split up training inputs into two groups</a:t>
            </a:r>
          </a:p>
          <a:p>
            <a:r>
              <a:rPr lang="en-US" sz="1200" b="0" i="0" u="none" strike="noStrike" kern="1200" baseline="0" dirty="0" smtClean="0">
                <a:solidFill>
                  <a:schemeClr val="tx1"/>
                </a:solidFill>
                <a:latin typeface="+mn-lt"/>
                <a:ea typeface="+mn-ea"/>
                <a:cs typeface="+mn-cs"/>
              </a:rPr>
              <a:t>% 3. Increase lateral inhibition</a:t>
            </a:r>
          </a:p>
          <a:p>
            <a:r>
              <a:rPr lang="en-US" sz="1200" b="0" i="0" u="none" strike="noStrike" kern="1200" baseline="0" dirty="0" smtClean="0">
                <a:solidFill>
                  <a:schemeClr val="tx1"/>
                </a:solidFill>
                <a:latin typeface="+mn-lt"/>
                <a:ea typeface="+mn-ea"/>
                <a:cs typeface="+mn-cs"/>
              </a:rPr>
              <a:t>[w1, ~, ~, p4b]= </a:t>
            </a:r>
            <a:r>
              <a:rPr lang="en-US" sz="1200" b="0" i="0" u="none" strike="noStrike" kern="1200" baseline="0" dirty="0" err="1" smtClean="0">
                <a:solidFill>
                  <a:schemeClr val="tx1"/>
                </a:solidFill>
                <a:latin typeface="+mn-lt"/>
                <a:ea typeface="+mn-ea"/>
                <a:cs typeface="+mn-cs"/>
              </a:rPr>
              <a:t>simSplit</a:t>
            </a:r>
            <a:r>
              <a:rPr lang="en-US" sz="1200" b="0" i="0" u="none" strike="noStrike" kern="1200" baseline="0" dirty="0" smtClean="0">
                <a:solidFill>
                  <a:schemeClr val="tx1"/>
                </a:solidFill>
                <a:latin typeface="+mn-lt"/>
                <a:ea typeface="+mn-ea"/>
                <a:cs typeface="+mn-cs"/>
              </a:rPr>
              <a:t>('recordvid',vidname2,'w',w1,'wmax',2,'split',1,...</a:t>
            </a:r>
          </a:p>
          <a:p>
            <a:r>
              <a:rPr lang="en-US" sz="1200" b="0" i="0" u="none" strike="noStrike" kern="1200" baseline="0" dirty="0" smtClean="0">
                <a:solidFill>
                  <a:schemeClr val="tx1"/>
                </a:solidFill>
                <a:latin typeface="+mn-lt"/>
                <a:ea typeface="+mn-ea"/>
                <a:cs typeface="+mn-cs"/>
              </a:rPr>
              <a:t>    '</a:t>
            </a:r>
            <a:r>
              <a:rPr lang="en-US" sz="1200" b="0" i="0" u="none" strike="noStrike" kern="1200" baseline="0" dirty="0" err="1" smtClean="0">
                <a:solidFill>
                  <a:schemeClr val="tx1"/>
                </a:solidFill>
                <a:latin typeface="+mn-lt"/>
                <a:ea typeface="+mn-ea"/>
                <a:cs typeface="+mn-cs"/>
              </a:rPr>
              <a:t>n',n,'m',m</a:t>
            </a:r>
            <a:r>
              <a:rPr lang="en-US" sz="1200" b="0" i="0" u="none" strike="noStrike" kern="1200" baseline="0" dirty="0" smtClean="0">
                <a:solidFill>
                  <a:schemeClr val="tx1"/>
                </a:solidFill>
                <a:latin typeface="+mn-lt"/>
                <a:ea typeface="+mn-ea"/>
                <a:cs typeface="+mn-cs"/>
              </a:rPr>
              <a:t>/2,'k',k,'beta',beta,'trainint',trainint,'seed',p4b.seed,...</a:t>
            </a:r>
          </a:p>
          <a:p>
            <a:r>
              <a:rPr lang="en-US" sz="1200" b="0" i="0" u="none" strike="noStrike" kern="1200" baseline="0" dirty="0" smtClean="0">
                <a:solidFill>
                  <a:schemeClr val="tx1"/>
                </a:solidFill>
                <a:latin typeface="+mn-lt"/>
                <a:ea typeface="+mn-ea"/>
                <a:cs typeface="+mn-cs"/>
              </a:rPr>
              <a:t>    '</a:t>
            </a:r>
            <a:r>
              <a:rPr lang="en-US" sz="1200" b="0" i="0" u="none" strike="noStrike" kern="1200" baseline="0" dirty="0" err="1" smtClean="0">
                <a:solidFill>
                  <a:schemeClr val="tx1"/>
                </a:solidFill>
                <a:latin typeface="+mn-lt"/>
                <a:ea typeface="+mn-ea"/>
                <a:cs typeface="+mn-cs"/>
              </a:rPr>
              <a:t>eta',eta</a:t>
            </a:r>
            <a:r>
              <a:rPr lang="en-US" sz="1200" b="0" i="0" u="none" strike="noStrike" kern="1200" baseline="0" dirty="0" smtClean="0">
                <a:solidFill>
                  <a:schemeClr val="tx1"/>
                </a:solidFill>
                <a:latin typeface="+mn-lt"/>
                <a:ea typeface="+mn-ea"/>
                <a:cs typeface="+mn-cs"/>
              </a:rPr>
              <a:t>*3,'pin',pin,'nsteps',nsteps,'gamma',.9,'epsilon',epsilon,...</a:t>
            </a:r>
          </a:p>
          <a:p>
            <a:r>
              <a:rPr lang="en-US" sz="1200" b="0" i="0" u="none" strike="noStrike" kern="1200" baseline="0" dirty="0" smtClean="0">
                <a:solidFill>
                  <a:schemeClr val="tx1"/>
                </a:solidFill>
                <a:latin typeface="+mn-lt"/>
                <a:ea typeface="+mn-ea"/>
                <a:cs typeface="+mn-cs"/>
              </a:rPr>
              <a:t>    'niters',500,'psuccess',psuccess); %129</a:t>
            </a:r>
          </a:p>
          <a:p>
            <a:endParaRPr lang="en-US" b="0" i="0" u="none" strike="noStrike" baseline="0" dirty="0" smtClean="0"/>
          </a:p>
          <a:p>
            <a:r>
              <a:rPr lang="en-US" b="0" i="0" u="none" strike="noStrike" baseline="0" dirty="0" smtClean="0"/>
              <a:t>p4.seed</a:t>
            </a:r>
          </a:p>
          <a:p>
            <a:r>
              <a:rPr lang="en-US" b="0" i="0" u="none" strike="noStrike" baseline="0" dirty="0" err="1" smtClean="0"/>
              <a:t>ans</a:t>
            </a:r>
            <a:r>
              <a:rPr lang="en-US" b="0" i="0" u="none" strike="noStrike" baseline="0" dirty="0" smtClean="0"/>
              <a:t> =</a:t>
            </a:r>
          </a:p>
          <a:p>
            <a:r>
              <a:rPr lang="en-US" b="0" i="0" u="none" strike="noStrike" baseline="0" dirty="0" smtClean="0"/>
              <a:t>   245</a:t>
            </a:r>
          </a:p>
          <a:p>
            <a:r>
              <a:rPr lang="en-US" b="0" i="0" u="none" strike="noStrike" baseline="0" dirty="0" smtClean="0"/>
              <a:t>p4b.seed</a:t>
            </a:r>
          </a:p>
          <a:p>
            <a:r>
              <a:rPr lang="en-US" b="0" i="0" u="none" strike="noStrike" baseline="0" dirty="0" err="1" smtClean="0"/>
              <a:t>ans</a:t>
            </a:r>
            <a:r>
              <a:rPr lang="en-US" b="0" i="0" u="none" strike="noStrike" baseline="0" dirty="0" smtClean="0"/>
              <a:t> =</a:t>
            </a:r>
          </a:p>
          <a:p>
            <a:r>
              <a:rPr lang="en-US" b="0" i="0" u="none" strike="noStrike" baseline="0" dirty="0" smtClean="0"/>
              <a:t>   779</a:t>
            </a:r>
          </a:p>
          <a:p>
            <a:endParaRPr lang="en-US" dirty="0"/>
          </a:p>
        </p:txBody>
      </p:sp>
      <p:sp>
        <p:nvSpPr>
          <p:cNvPr id="4" name="Slide Number Placeholder 3"/>
          <p:cNvSpPr>
            <a:spLocks noGrp="1"/>
          </p:cNvSpPr>
          <p:nvPr>
            <p:ph type="sldNum" sz="quarter" idx="10"/>
          </p:nvPr>
        </p:nvSpPr>
        <p:spPr/>
        <p:txBody>
          <a:bodyPr/>
          <a:lstStyle/>
          <a:p>
            <a:fld id="{AB47A091-1025-4C33-93B2-B19D2608A5C4}" type="slidenum">
              <a:rPr lang="en-US" smtClean="0"/>
              <a:t>2</a:t>
            </a:fld>
            <a:endParaRPr lang="en-US"/>
          </a:p>
        </p:txBody>
      </p:sp>
    </p:spTree>
    <p:extLst>
      <p:ext uri="{BB962C8B-B14F-4D97-AF65-F5344CB8AC3E}">
        <p14:creationId xmlns:p14="http://schemas.microsoft.com/office/powerpoint/2010/main" val="186224357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0" i="0" u="none" strike="noStrike" baseline="0" dirty="0" smtClean="0"/>
          </a:p>
        </p:txBody>
      </p:sp>
      <p:sp>
        <p:nvSpPr>
          <p:cNvPr id="4" name="Slide Number Placeholder 3"/>
          <p:cNvSpPr>
            <a:spLocks noGrp="1"/>
          </p:cNvSpPr>
          <p:nvPr>
            <p:ph type="sldNum" sz="quarter" idx="10"/>
          </p:nvPr>
        </p:nvSpPr>
        <p:spPr/>
        <p:txBody>
          <a:bodyPr/>
          <a:lstStyle/>
          <a:p>
            <a:fld id="{AB47A091-1025-4C33-93B2-B19D2608A5C4}" type="slidenum">
              <a:rPr lang="en-US" smtClean="0"/>
              <a:t>3</a:t>
            </a:fld>
            <a:endParaRPr lang="en-US"/>
          </a:p>
        </p:txBody>
      </p:sp>
    </p:spTree>
    <p:extLst>
      <p:ext uri="{BB962C8B-B14F-4D97-AF65-F5344CB8AC3E}">
        <p14:creationId xmlns:p14="http://schemas.microsoft.com/office/powerpoint/2010/main" val="137907299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smtClean="0">
                <a:solidFill>
                  <a:schemeClr val="tx1"/>
                </a:solidFill>
                <a:latin typeface="+mn-lt"/>
                <a:ea typeface="+mn-ea"/>
                <a:cs typeface="+mn-cs"/>
              </a:rPr>
              <a:t>%% ONE CHAIN</a:t>
            </a:r>
          </a:p>
          <a:p>
            <a:r>
              <a:rPr lang="en-US" sz="1200" b="0" i="0" u="none" strike="noStrike" kern="1200" baseline="0" dirty="0" smtClean="0">
                <a:solidFill>
                  <a:schemeClr val="tx1"/>
                </a:solidFill>
                <a:latin typeface="+mn-lt"/>
                <a:ea typeface="+mn-ea"/>
                <a:cs typeface="+mn-cs"/>
              </a:rPr>
              <a:t>k = 8;          % External input drives k neurons simultaneously</a:t>
            </a:r>
          </a:p>
          <a:p>
            <a:r>
              <a:rPr lang="en-US" sz="1200" b="0" i="0" u="none" strike="noStrike" kern="1200" baseline="0" dirty="0" smtClean="0">
                <a:solidFill>
                  <a:schemeClr val="tx1"/>
                </a:solidFill>
                <a:latin typeface="+mn-lt"/>
                <a:ea typeface="+mn-ea"/>
                <a:cs typeface="+mn-cs"/>
              </a:rPr>
              <a:t>m = k;          % Each neuron can have m*</a:t>
            </a:r>
            <a:r>
              <a:rPr lang="en-US" sz="1200" b="0" i="0" u="none" strike="noStrike" kern="1200" baseline="0" dirty="0" err="1" smtClean="0">
                <a:solidFill>
                  <a:schemeClr val="tx1"/>
                </a:solidFill>
                <a:latin typeface="+mn-lt"/>
                <a:ea typeface="+mn-ea"/>
                <a:cs typeface="+mn-cs"/>
              </a:rPr>
              <a:t>wmax</a:t>
            </a:r>
            <a:r>
              <a:rPr lang="en-US" sz="1200" b="0" i="0" u="none" strike="noStrike" kern="1200" baseline="0" dirty="0" smtClean="0">
                <a:solidFill>
                  <a:schemeClr val="tx1"/>
                </a:solidFill>
                <a:latin typeface="+mn-lt"/>
                <a:ea typeface="+mn-ea"/>
                <a:cs typeface="+mn-cs"/>
              </a:rPr>
              <a:t> incoming(outgoing) synaptic weight before </a:t>
            </a:r>
            <a:r>
              <a:rPr lang="en-US" sz="1200" b="0" i="0" u="none" strike="noStrike" kern="1200" baseline="0" dirty="0" err="1" smtClean="0">
                <a:solidFill>
                  <a:schemeClr val="tx1"/>
                </a:solidFill>
                <a:latin typeface="+mn-lt"/>
                <a:ea typeface="+mn-ea"/>
                <a:cs typeface="+mn-cs"/>
              </a:rPr>
              <a:t>heterosynaptic</a:t>
            </a:r>
            <a:r>
              <a:rPr lang="en-US" sz="1200" b="0" i="0" u="none" strike="noStrike" kern="1200" baseline="0" dirty="0" smtClean="0">
                <a:solidFill>
                  <a:schemeClr val="tx1"/>
                </a:solidFill>
                <a:latin typeface="+mn-lt"/>
                <a:ea typeface="+mn-ea"/>
                <a:cs typeface="+mn-cs"/>
              </a:rPr>
              <a:t> LTD kicks in</a:t>
            </a:r>
          </a:p>
          <a:p>
            <a:r>
              <a:rPr lang="en-US" sz="1200" b="0" i="0" u="none" strike="noStrike" kern="1200" baseline="0" dirty="0" smtClean="0">
                <a:solidFill>
                  <a:schemeClr val="tx1"/>
                </a:solidFill>
                <a:latin typeface="+mn-lt"/>
                <a:ea typeface="+mn-ea"/>
                <a:cs typeface="+mn-cs"/>
              </a:rPr>
              <a:t>n = 200;        % Number of neurons</a:t>
            </a:r>
          </a:p>
          <a:p>
            <a:r>
              <a:rPr lang="en-US" sz="1200" b="0" i="0" u="none" strike="noStrike" kern="1200" baseline="0" dirty="0" err="1" smtClean="0">
                <a:solidFill>
                  <a:schemeClr val="tx1"/>
                </a:solidFill>
                <a:latin typeface="+mn-lt"/>
                <a:ea typeface="+mn-ea"/>
                <a:cs typeface="+mn-cs"/>
              </a:rPr>
              <a:t>nsteps</a:t>
            </a:r>
            <a:r>
              <a:rPr lang="en-US" sz="1200" b="0" i="0" u="none" strike="noStrike" kern="1200" baseline="0" dirty="0" smtClean="0">
                <a:solidFill>
                  <a:schemeClr val="tx1"/>
                </a:solidFill>
                <a:latin typeface="+mn-lt"/>
                <a:ea typeface="+mn-ea"/>
                <a:cs typeface="+mn-cs"/>
              </a:rPr>
              <a:t> = 100;   % Number of time steps per iteration</a:t>
            </a:r>
          </a:p>
          <a:p>
            <a:r>
              <a:rPr lang="en-US" sz="1200" b="0" i="0" u="none" strike="noStrike" kern="1200" baseline="0" dirty="0" err="1" smtClean="0">
                <a:solidFill>
                  <a:schemeClr val="tx1"/>
                </a:solidFill>
                <a:latin typeface="+mn-lt"/>
                <a:ea typeface="+mn-ea"/>
                <a:cs typeface="+mn-cs"/>
              </a:rPr>
              <a:t>trainint</a:t>
            </a:r>
            <a:r>
              <a:rPr lang="en-US" sz="1200" b="0" i="0" u="none" strike="noStrike" kern="1200" baseline="0" dirty="0" smtClean="0">
                <a:solidFill>
                  <a:schemeClr val="tx1"/>
                </a:solidFill>
                <a:latin typeface="+mn-lt"/>
                <a:ea typeface="+mn-ea"/>
                <a:cs typeface="+mn-cs"/>
              </a:rPr>
              <a:t> = 20;  % Interval between training input</a:t>
            </a:r>
          </a:p>
          <a:p>
            <a:r>
              <a:rPr lang="en-US" sz="1200" b="0" i="0" u="none" strike="noStrike" kern="1200" baseline="0" dirty="0" smtClean="0">
                <a:solidFill>
                  <a:schemeClr val="tx1"/>
                </a:solidFill>
                <a:latin typeface="+mn-lt"/>
                <a:ea typeface="+mn-ea"/>
                <a:cs typeface="+mn-cs"/>
              </a:rPr>
              <a:t>beta = .1;      % Strength of feed-forward inhibition. .02 for </a:t>
            </a:r>
            <a:r>
              <a:rPr lang="en-US" sz="1200" b="0" i="0" u="none" strike="noStrike" kern="1200" baseline="0" dirty="0" err="1" smtClean="0">
                <a:solidFill>
                  <a:schemeClr val="tx1"/>
                </a:solidFill>
                <a:latin typeface="+mn-lt"/>
                <a:ea typeface="+mn-ea"/>
                <a:cs typeface="+mn-cs"/>
              </a:rPr>
              <a:t>trainint</a:t>
            </a:r>
            <a:r>
              <a:rPr lang="en-US" sz="1200" b="0" i="0" u="none" strike="noStrike" kern="1200" baseline="0" dirty="0" smtClean="0">
                <a:solidFill>
                  <a:schemeClr val="tx1"/>
                </a:solidFill>
                <a:latin typeface="+mn-lt"/>
                <a:ea typeface="+mn-ea"/>
                <a:cs typeface="+mn-cs"/>
              </a:rPr>
              <a:t> 10</a:t>
            </a:r>
          </a:p>
          <a:p>
            <a:r>
              <a:rPr lang="en-US" sz="1200" b="0" i="0" u="none" strike="noStrike" kern="1200" baseline="0" dirty="0" smtClean="0">
                <a:solidFill>
                  <a:schemeClr val="tx1"/>
                </a:solidFill>
                <a:latin typeface="+mn-lt"/>
                <a:ea typeface="+mn-ea"/>
                <a:cs typeface="+mn-cs"/>
              </a:rPr>
              <a:t>eta = .02;      % Overall learning rate</a:t>
            </a:r>
          </a:p>
          <a:p>
            <a:r>
              <a:rPr lang="en-US" sz="1200" b="0" i="0" u="none" strike="noStrike" kern="1200" baseline="0" dirty="0" smtClean="0">
                <a:solidFill>
                  <a:schemeClr val="tx1"/>
                </a:solidFill>
                <a:latin typeface="+mn-lt"/>
                <a:ea typeface="+mn-ea"/>
                <a:cs typeface="+mn-cs"/>
              </a:rPr>
              <a:t>epsilon = .01;  % Relative strength of </a:t>
            </a:r>
            <a:r>
              <a:rPr lang="en-US" sz="1200" b="0" i="0" u="none" strike="noStrike" kern="1200" baseline="0" dirty="0" err="1" smtClean="0">
                <a:solidFill>
                  <a:schemeClr val="tx1"/>
                </a:solidFill>
                <a:latin typeface="+mn-lt"/>
                <a:ea typeface="+mn-ea"/>
                <a:cs typeface="+mn-cs"/>
              </a:rPr>
              <a:t>heterosynaptic</a:t>
            </a:r>
            <a:r>
              <a:rPr lang="en-US" sz="1200" b="0" i="0" u="none" strike="noStrike" kern="1200" baseline="0" dirty="0" smtClean="0">
                <a:solidFill>
                  <a:schemeClr val="tx1"/>
                </a:solidFill>
                <a:latin typeface="+mn-lt"/>
                <a:ea typeface="+mn-ea"/>
                <a:cs typeface="+mn-cs"/>
              </a:rPr>
              <a:t> LTD</a:t>
            </a:r>
          </a:p>
          <a:p>
            <a:r>
              <a:rPr lang="en-US" sz="1200" b="0" i="0" u="none" strike="noStrike" kern="1200" baseline="0" dirty="0" smtClean="0">
                <a:solidFill>
                  <a:schemeClr val="tx1"/>
                </a:solidFill>
                <a:latin typeface="+mn-lt"/>
                <a:ea typeface="+mn-ea"/>
                <a:cs typeface="+mn-cs"/>
              </a:rPr>
              <a:t>pin = .01;      % Probability of random activation of any one neuron</a:t>
            </a:r>
          </a:p>
          <a:p>
            <a:r>
              <a:rPr lang="en-US" sz="1200" b="0" i="0" u="none" strike="noStrike" kern="1200" baseline="0" dirty="0" err="1" smtClean="0">
                <a:solidFill>
                  <a:schemeClr val="tx1"/>
                </a:solidFill>
                <a:latin typeface="+mn-lt"/>
                <a:ea typeface="+mn-ea"/>
                <a:cs typeface="+mn-cs"/>
              </a:rPr>
              <a:t>vidname</a:t>
            </a:r>
            <a:r>
              <a:rPr lang="en-US" sz="1200" b="0" i="0" u="none" strike="noStrike" kern="1200" baseline="0" dirty="0" smtClean="0">
                <a:solidFill>
                  <a:schemeClr val="tx1"/>
                </a:solidFill>
                <a:latin typeface="+mn-lt"/>
                <a:ea typeface="+mn-ea"/>
                <a:cs typeface="+mn-cs"/>
              </a:rPr>
              <a:t> = [];'</a:t>
            </a:r>
            <a:r>
              <a:rPr lang="en-US" sz="1200" b="0" i="0" u="none" strike="noStrike" kern="1200" baseline="0" dirty="0" err="1" smtClean="0">
                <a:solidFill>
                  <a:schemeClr val="tx1"/>
                </a:solidFill>
                <a:latin typeface="+mn-lt"/>
                <a:ea typeface="+mn-ea"/>
                <a:cs typeface="+mn-cs"/>
              </a:rPr>
              <a:t>onechain_new</a:t>
            </a:r>
            <a:r>
              <a:rPr lang="en-US" sz="1200" b="0" i="0" u="none" strike="noStrike" kern="1200" baseline="0" dirty="0" smtClean="0">
                <a:solidFill>
                  <a:schemeClr val="tx1"/>
                </a:solidFill>
                <a:latin typeface="+mn-lt"/>
                <a:ea typeface="+mn-ea"/>
                <a:cs typeface="+mn-cs"/>
              </a:rPr>
              <a:t>';   % Save video name (leave empty [] if unneeded)</a:t>
            </a:r>
          </a:p>
          <a:p>
            <a:r>
              <a:rPr lang="en-US" sz="1200" b="0" i="0" u="none" strike="noStrike" kern="1200" baseline="0" dirty="0" smtClean="0">
                <a:solidFill>
                  <a:schemeClr val="tx1"/>
                </a:solidFill>
                <a:latin typeface="+mn-lt"/>
                <a:ea typeface="+mn-ea"/>
                <a:cs typeface="+mn-cs"/>
              </a:rPr>
              <a:t>vidname2 = [];'</a:t>
            </a:r>
            <a:r>
              <a:rPr lang="en-US" sz="1200" b="0" i="0" u="none" strike="noStrike" kern="1200" baseline="0" dirty="0" err="1" smtClean="0">
                <a:solidFill>
                  <a:schemeClr val="tx1"/>
                </a:solidFill>
                <a:latin typeface="+mn-lt"/>
                <a:ea typeface="+mn-ea"/>
                <a:cs typeface="+mn-cs"/>
              </a:rPr>
              <a:t>twochainz_new</a:t>
            </a:r>
            <a:r>
              <a:rPr lang="en-US" sz="1200" b="0" i="0" u="none" strike="noStrike" kern="1200" baseline="0" dirty="0" smtClean="0">
                <a:solidFill>
                  <a:schemeClr val="tx1"/>
                </a:solidFill>
                <a:latin typeface="+mn-lt"/>
                <a:ea typeface="+mn-ea"/>
                <a:cs typeface="+mn-cs"/>
              </a:rPr>
              <a:t>';</a:t>
            </a:r>
          </a:p>
          <a:p>
            <a:r>
              <a:rPr lang="en-US" sz="1200" b="0" i="0" u="none" strike="noStrike" kern="1200" baseline="0" dirty="0" err="1" smtClean="0">
                <a:solidFill>
                  <a:schemeClr val="tx1"/>
                </a:solidFill>
                <a:latin typeface="+mn-lt"/>
                <a:ea typeface="+mn-ea"/>
                <a:cs typeface="+mn-cs"/>
              </a:rPr>
              <a:t>psuccess</a:t>
            </a:r>
            <a:r>
              <a:rPr lang="en-US" sz="1200" b="0" i="0" u="none" strike="noStrike" kern="1200" baseline="0" dirty="0" smtClean="0">
                <a:solidFill>
                  <a:schemeClr val="tx1"/>
                </a:solidFill>
                <a:latin typeface="+mn-lt"/>
                <a:ea typeface="+mn-ea"/>
                <a:cs typeface="+mn-cs"/>
              </a:rPr>
              <a:t> =1;</a:t>
            </a:r>
          </a:p>
          <a:p>
            <a:r>
              <a:rPr lang="en-US" sz="1200" b="0" i="0" u="none" strike="noStrike" kern="1200" baseline="0" dirty="0" smtClean="0">
                <a:solidFill>
                  <a:schemeClr val="tx1"/>
                </a:solidFill>
                <a:latin typeface="+mn-lt"/>
                <a:ea typeface="+mn-ea"/>
                <a:cs typeface="+mn-cs"/>
              </a:rPr>
              <a:t>[w0, ~, ~, p4] = </a:t>
            </a:r>
            <a:r>
              <a:rPr lang="en-US" sz="1200" b="0" i="0" u="none" strike="noStrike" kern="1200" baseline="0" dirty="0" err="1" smtClean="0">
                <a:solidFill>
                  <a:schemeClr val="tx1"/>
                </a:solidFill>
                <a:latin typeface="+mn-lt"/>
                <a:ea typeface="+mn-ea"/>
                <a:cs typeface="+mn-cs"/>
              </a:rPr>
              <a:t>simSplit</a:t>
            </a:r>
            <a:r>
              <a:rPr lang="en-US" sz="1200" b="0" i="0" u="none" strike="noStrike" kern="1200" baseline="0" dirty="0" smtClean="0">
                <a:solidFill>
                  <a:schemeClr val="tx1"/>
                </a:solidFill>
                <a:latin typeface="+mn-lt"/>
                <a:ea typeface="+mn-ea"/>
                <a:cs typeface="+mn-cs"/>
              </a:rPr>
              <a:t>('w',w,'</a:t>
            </a:r>
            <a:r>
              <a:rPr lang="en-US" sz="1200" b="0" i="0" u="none" strike="noStrike" kern="1200" baseline="0" dirty="0" err="1" smtClean="0">
                <a:solidFill>
                  <a:schemeClr val="tx1"/>
                </a:solidFill>
                <a:latin typeface="+mn-lt"/>
                <a:ea typeface="+mn-ea"/>
                <a:cs typeface="+mn-cs"/>
              </a:rPr>
              <a:t>recordvid</a:t>
            </a:r>
            <a:r>
              <a:rPr lang="en-US" sz="1200" b="0" i="0" u="none" strike="noStrike" kern="1200" baseline="0" dirty="0" smtClean="0">
                <a:solidFill>
                  <a:schemeClr val="tx1"/>
                </a:solidFill>
                <a:latin typeface="+mn-lt"/>
                <a:ea typeface="+mn-ea"/>
                <a:cs typeface="+mn-cs"/>
              </a:rPr>
              <a:t>',</a:t>
            </a:r>
            <a:r>
              <a:rPr lang="en-US" sz="1200" b="0" i="0" u="none" strike="noStrike" kern="1200" baseline="0" dirty="0" err="1" smtClean="0">
                <a:solidFill>
                  <a:schemeClr val="tx1"/>
                </a:solidFill>
                <a:latin typeface="+mn-lt"/>
                <a:ea typeface="+mn-ea"/>
                <a:cs typeface="+mn-cs"/>
              </a:rPr>
              <a:t>vidname</a:t>
            </a:r>
            <a:r>
              <a:rPr lang="en-US" sz="1200" b="0" i="0" u="none" strike="noStrike" kern="1200" baseline="0" dirty="0" smtClean="0">
                <a:solidFill>
                  <a:schemeClr val="tx1"/>
                </a:solidFill>
                <a:latin typeface="+mn-lt"/>
                <a:ea typeface="+mn-ea"/>
                <a:cs typeface="+mn-cs"/>
              </a:rPr>
              <a:t>,...</a:t>
            </a:r>
          </a:p>
          <a:p>
            <a:r>
              <a:rPr lang="en-US" sz="1200" b="0" i="0" u="none" strike="noStrike" kern="1200" baseline="0" dirty="0" smtClean="0">
                <a:solidFill>
                  <a:schemeClr val="tx1"/>
                </a:solidFill>
                <a:latin typeface="+mn-lt"/>
                <a:ea typeface="+mn-ea"/>
                <a:cs typeface="+mn-cs"/>
              </a:rPr>
              <a:t>    'n',n,'m',m,'k',k,'beta',beta,'</a:t>
            </a:r>
            <a:r>
              <a:rPr lang="en-US" sz="1200" b="0" i="0" u="none" strike="noStrike" kern="1200" baseline="0" dirty="0" err="1" smtClean="0">
                <a:solidFill>
                  <a:schemeClr val="tx1"/>
                </a:solidFill>
                <a:latin typeface="+mn-lt"/>
                <a:ea typeface="+mn-ea"/>
                <a:cs typeface="+mn-cs"/>
              </a:rPr>
              <a:t>trainint</a:t>
            </a:r>
            <a:r>
              <a:rPr lang="en-US" sz="1200" b="0" i="0" u="none" strike="noStrike" kern="1200" baseline="0" dirty="0" smtClean="0">
                <a:solidFill>
                  <a:schemeClr val="tx1"/>
                </a:solidFill>
                <a:latin typeface="+mn-lt"/>
                <a:ea typeface="+mn-ea"/>
                <a:cs typeface="+mn-cs"/>
              </a:rPr>
              <a:t>',</a:t>
            </a:r>
            <a:r>
              <a:rPr lang="en-US" sz="1200" b="0" i="0" u="none" strike="noStrike" kern="1200" baseline="0" dirty="0" err="1" smtClean="0">
                <a:solidFill>
                  <a:schemeClr val="tx1"/>
                </a:solidFill>
                <a:latin typeface="+mn-lt"/>
                <a:ea typeface="+mn-ea"/>
                <a:cs typeface="+mn-cs"/>
              </a:rPr>
              <a:t>trainint</a:t>
            </a:r>
            <a:r>
              <a:rPr lang="en-US" sz="1200" b="0" i="0" u="none" strike="noStrike" kern="1200" baseline="0" dirty="0" smtClean="0">
                <a:solidFill>
                  <a:schemeClr val="tx1"/>
                </a:solidFill>
                <a:latin typeface="+mn-lt"/>
                <a:ea typeface="+mn-ea"/>
                <a:cs typeface="+mn-cs"/>
              </a:rPr>
              <a:t>,...</a:t>
            </a:r>
          </a:p>
          <a:p>
            <a:r>
              <a:rPr lang="en-US" sz="1200" b="0" i="0" u="none" strike="noStrike" kern="1200" baseline="0" dirty="0" smtClean="0">
                <a:solidFill>
                  <a:schemeClr val="tx1"/>
                </a:solidFill>
                <a:latin typeface="+mn-lt"/>
                <a:ea typeface="+mn-ea"/>
                <a:cs typeface="+mn-cs"/>
              </a:rPr>
              <a:t>    'eta',eta,'pin',pin,'nsteps',nsteps,'gamma',0,'epsilon',epsilon,...</a:t>
            </a:r>
          </a:p>
          <a:p>
            <a:r>
              <a:rPr lang="en-US" sz="1200" b="0" i="0" u="none" strike="noStrike" kern="1200" baseline="0" dirty="0" smtClean="0">
                <a:solidFill>
                  <a:schemeClr val="tx1"/>
                </a:solidFill>
                <a:latin typeface="+mn-lt"/>
                <a:ea typeface="+mn-ea"/>
                <a:cs typeface="+mn-cs"/>
              </a:rPr>
              <a:t>    'niters',1000,'gamma',0.1,'psuccess',psuccess,'seed',p4.seed);</a:t>
            </a:r>
          </a:p>
          <a:p>
            <a:r>
              <a:rPr lang="en-US" sz="1200" b="0" i="0" u="none" strike="noStrike" kern="1200" baseline="0" dirty="0" smtClean="0">
                <a:solidFill>
                  <a:schemeClr val="tx1"/>
                </a:solidFill>
                <a:latin typeface="+mn-lt"/>
                <a:ea typeface="+mn-ea"/>
                <a:cs typeface="+mn-cs"/>
              </a:rPr>
              <a:t> </a:t>
            </a:r>
          </a:p>
          <a:p>
            <a:r>
              <a:rPr lang="en-US" sz="1200" b="0" i="0" u="none" strike="noStrike" kern="1200" baseline="0" dirty="0" smtClean="0">
                <a:solidFill>
                  <a:schemeClr val="tx1"/>
                </a:solidFill>
                <a:latin typeface="+mn-lt"/>
                <a:ea typeface="+mn-ea"/>
                <a:cs typeface="+mn-cs"/>
              </a:rPr>
              <a:t>%% SPLIT</a:t>
            </a:r>
          </a:p>
          <a:p>
            <a:r>
              <a:rPr lang="en-US" sz="1200" b="0" i="0" u="none" strike="noStrike" kern="1200" baseline="0" dirty="0" smtClean="0">
                <a:solidFill>
                  <a:schemeClr val="tx1"/>
                </a:solidFill>
                <a:latin typeface="+mn-lt"/>
                <a:ea typeface="+mn-ea"/>
                <a:cs typeface="+mn-cs"/>
              </a:rPr>
              <a:t>% 1. Allow fewer, stronger synapses</a:t>
            </a:r>
          </a:p>
          <a:p>
            <a:r>
              <a:rPr lang="en-US" sz="1200" b="0" i="0" u="none" strike="noStrike" kern="1200" baseline="0" dirty="0" smtClean="0">
                <a:solidFill>
                  <a:schemeClr val="tx1"/>
                </a:solidFill>
                <a:latin typeface="+mn-lt"/>
                <a:ea typeface="+mn-ea"/>
                <a:cs typeface="+mn-cs"/>
              </a:rPr>
              <a:t>% 2. Split up training inputs into two groups</a:t>
            </a:r>
          </a:p>
          <a:p>
            <a:r>
              <a:rPr lang="en-US" sz="1200" b="0" i="0" u="none" strike="noStrike" kern="1200" baseline="0" dirty="0" smtClean="0">
                <a:solidFill>
                  <a:schemeClr val="tx1"/>
                </a:solidFill>
                <a:latin typeface="+mn-lt"/>
                <a:ea typeface="+mn-ea"/>
                <a:cs typeface="+mn-cs"/>
              </a:rPr>
              <a:t>% 3. Increase lateral inhibition</a:t>
            </a:r>
          </a:p>
          <a:p>
            <a:r>
              <a:rPr lang="en-US" sz="1200" b="0" i="0" u="none" strike="noStrike" kern="1200" baseline="0" dirty="0" smtClean="0">
                <a:solidFill>
                  <a:schemeClr val="tx1"/>
                </a:solidFill>
                <a:latin typeface="+mn-lt"/>
                <a:ea typeface="+mn-ea"/>
                <a:cs typeface="+mn-cs"/>
              </a:rPr>
              <a:t>[w1, ~, ~, p4b]= </a:t>
            </a:r>
            <a:r>
              <a:rPr lang="en-US" sz="1200" b="0" i="0" u="none" strike="noStrike" kern="1200" baseline="0" dirty="0" err="1" smtClean="0">
                <a:solidFill>
                  <a:schemeClr val="tx1"/>
                </a:solidFill>
                <a:latin typeface="+mn-lt"/>
                <a:ea typeface="+mn-ea"/>
                <a:cs typeface="+mn-cs"/>
              </a:rPr>
              <a:t>simSplit</a:t>
            </a:r>
            <a:r>
              <a:rPr lang="en-US" sz="1200" b="0" i="0" u="none" strike="noStrike" kern="1200" baseline="0" dirty="0" smtClean="0">
                <a:solidFill>
                  <a:schemeClr val="tx1"/>
                </a:solidFill>
                <a:latin typeface="+mn-lt"/>
                <a:ea typeface="+mn-ea"/>
                <a:cs typeface="+mn-cs"/>
              </a:rPr>
              <a:t>('recordvid',vidname2,'w',w1,'wmax',2,'split',1,...</a:t>
            </a:r>
          </a:p>
          <a:p>
            <a:r>
              <a:rPr lang="en-US" sz="1200" b="0" i="0" u="none" strike="noStrike" kern="1200" baseline="0" dirty="0" smtClean="0">
                <a:solidFill>
                  <a:schemeClr val="tx1"/>
                </a:solidFill>
                <a:latin typeface="+mn-lt"/>
                <a:ea typeface="+mn-ea"/>
                <a:cs typeface="+mn-cs"/>
              </a:rPr>
              <a:t>    '</a:t>
            </a:r>
            <a:r>
              <a:rPr lang="en-US" sz="1200" b="0" i="0" u="none" strike="noStrike" kern="1200" baseline="0" dirty="0" err="1" smtClean="0">
                <a:solidFill>
                  <a:schemeClr val="tx1"/>
                </a:solidFill>
                <a:latin typeface="+mn-lt"/>
                <a:ea typeface="+mn-ea"/>
                <a:cs typeface="+mn-cs"/>
              </a:rPr>
              <a:t>n',n,'m',m</a:t>
            </a:r>
            <a:r>
              <a:rPr lang="en-US" sz="1200" b="0" i="0" u="none" strike="noStrike" kern="1200" baseline="0" dirty="0" smtClean="0">
                <a:solidFill>
                  <a:schemeClr val="tx1"/>
                </a:solidFill>
                <a:latin typeface="+mn-lt"/>
                <a:ea typeface="+mn-ea"/>
                <a:cs typeface="+mn-cs"/>
              </a:rPr>
              <a:t>/2,'k',k,'beta',beta,'trainint',trainint,'seed',p4b.seed,...</a:t>
            </a:r>
          </a:p>
          <a:p>
            <a:r>
              <a:rPr lang="en-US" sz="1200" b="0" i="0" u="none" strike="noStrike" kern="1200" baseline="0" dirty="0" smtClean="0">
                <a:solidFill>
                  <a:schemeClr val="tx1"/>
                </a:solidFill>
                <a:latin typeface="+mn-lt"/>
                <a:ea typeface="+mn-ea"/>
                <a:cs typeface="+mn-cs"/>
              </a:rPr>
              <a:t>    '</a:t>
            </a:r>
            <a:r>
              <a:rPr lang="en-US" sz="1200" b="0" i="0" u="none" strike="noStrike" kern="1200" baseline="0" dirty="0" err="1" smtClean="0">
                <a:solidFill>
                  <a:schemeClr val="tx1"/>
                </a:solidFill>
                <a:latin typeface="+mn-lt"/>
                <a:ea typeface="+mn-ea"/>
                <a:cs typeface="+mn-cs"/>
              </a:rPr>
              <a:t>eta',eta</a:t>
            </a:r>
            <a:r>
              <a:rPr lang="en-US" sz="1200" b="0" i="0" u="none" strike="noStrike" kern="1200" baseline="0" dirty="0" smtClean="0">
                <a:solidFill>
                  <a:schemeClr val="tx1"/>
                </a:solidFill>
                <a:latin typeface="+mn-lt"/>
                <a:ea typeface="+mn-ea"/>
                <a:cs typeface="+mn-cs"/>
              </a:rPr>
              <a:t>*3,'pin',pin,'nsteps',nsteps,'gamma',.9,'epsilon',epsilon,...</a:t>
            </a:r>
          </a:p>
          <a:p>
            <a:r>
              <a:rPr lang="en-US" sz="1200" b="0" i="0" u="none" strike="noStrike" kern="1200" baseline="0" dirty="0" smtClean="0">
                <a:solidFill>
                  <a:schemeClr val="tx1"/>
                </a:solidFill>
                <a:latin typeface="+mn-lt"/>
                <a:ea typeface="+mn-ea"/>
                <a:cs typeface="+mn-cs"/>
              </a:rPr>
              <a:t>    'niters',500,'psuccess',psuccess); %129</a:t>
            </a:r>
          </a:p>
          <a:p>
            <a:endParaRPr lang="en-US" b="0" i="0" u="none" strike="noStrike" baseline="0" dirty="0" smtClean="0"/>
          </a:p>
        </p:txBody>
      </p:sp>
      <p:sp>
        <p:nvSpPr>
          <p:cNvPr id="4" name="Slide Number Placeholder 3"/>
          <p:cNvSpPr>
            <a:spLocks noGrp="1"/>
          </p:cNvSpPr>
          <p:nvPr>
            <p:ph type="sldNum" sz="quarter" idx="10"/>
          </p:nvPr>
        </p:nvSpPr>
        <p:spPr/>
        <p:txBody>
          <a:bodyPr/>
          <a:lstStyle/>
          <a:p>
            <a:fld id="{AB47A091-1025-4C33-93B2-B19D2608A5C4}" type="slidenum">
              <a:rPr lang="en-US" smtClean="0"/>
              <a:t>4</a:t>
            </a:fld>
            <a:endParaRPr lang="en-US"/>
          </a:p>
        </p:txBody>
      </p:sp>
    </p:spTree>
    <p:extLst>
      <p:ext uri="{BB962C8B-B14F-4D97-AF65-F5344CB8AC3E}">
        <p14:creationId xmlns:p14="http://schemas.microsoft.com/office/powerpoint/2010/main" val="30100364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AB47A091-1025-4C33-93B2-B19D2608A5C4}" type="slidenum">
              <a:rPr lang="en-US" smtClean="0"/>
              <a:t>5</a:t>
            </a:fld>
            <a:endParaRPr lang="en-US"/>
          </a:p>
        </p:txBody>
      </p:sp>
    </p:spTree>
    <p:extLst>
      <p:ext uri="{BB962C8B-B14F-4D97-AF65-F5344CB8AC3E}">
        <p14:creationId xmlns:p14="http://schemas.microsoft.com/office/powerpoint/2010/main" val="337830316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14350" y="1496484"/>
            <a:ext cx="5829300" cy="3183467"/>
          </a:xfrm>
        </p:spPr>
        <p:txBody>
          <a:bodyPr anchor="b"/>
          <a:lstStyle>
            <a:lvl1pPr algn="ctr">
              <a:defRPr sz="4500"/>
            </a:lvl1pPr>
          </a:lstStyle>
          <a:p>
            <a:r>
              <a:rPr lang="en-US" smtClean="0"/>
              <a:t>Click to edit Master title style</a:t>
            </a:r>
            <a:endParaRPr lang="en-US" dirty="0"/>
          </a:p>
        </p:txBody>
      </p:sp>
      <p:sp>
        <p:nvSpPr>
          <p:cNvPr id="3" name="Subtitle 2"/>
          <p:cNvSpPr>
            <a:spLocks noGrp="1"/>
          </p:cNvSpPr>
          <p:nvPr>
            <p:ph type="subTitle" idx="1"/>
          </p:nvPr>
        </p:nvSpPr>
        <p:spPr>
          <a:xfrm>
            <a:off x="857250" y="4802717"/>
            <a:ext cx="5143500" cy="2207683"/>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6D3B8F5F-B93C-4F22-A857-204BD70249D1}" type="datetimeFigureOut">
              <a:rPr lang="en-US" smtClean="0"/>
              <a:t>11/25/2014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D134704-5C48-483B-9D8B-44C9B4C40C13}" type="slidenum">
              <a:rPr lang="en-US" smtClean="0"/>
              <a:t>‹#›</a:t>
            </a:fld>
            <a:endParaRPr lang="en-US"/>
          </a:p>
        </p:txBody>
      </p:sp>
    </p:spTree>
    <p:extLst>
      <p:ext uri="{BB962C8B-B14F-4D97-AF65-F5344CB8AC3E}">
        <p14:creationId xmlns:p14="http://schemas.microsoft.com/office/powerpoint/2010/main" val="23955121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6D3B8F5F-B93C-4F22-A857-204BD70249D1}" type="datetimeFigureOut">
              <a:rPr lang="en-US" smtClean="0"/>
              <a:t>11/25/2014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D134704-5C48-483B-9D8B-44C9B4C40C13}" type="slidenum">
              <a:rPr lang="en-US" smtClean="0"/>
              <a:t>‹#›</a:t>
            </a:fld>
            <a:endParaRPr lang="en-US"/>
          </a:p>
        </p:txBody>
      </p:sp>
    </p:spTree>
    <p:extLst>
      <p:ext uri="{BB962C8B-B14F-4D97-AF65-F5344CB8AC3E}">
        <p14:creationId xmlns:p14="http://schemas.microsoft.com/office/powerpoint/2010/main" val="40880474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67916" y="2279653"/>
            <a:ext cx="5915025" cy="3803649"/>
          </a:xfrm>
        </p:spPr>
        <p:txBody>
          <a:bodyPr anchor="b"/>
          <a:lstStyle>
            <a:lvl1pPr>
              <a:defRPr sz="4500"/>
            </a:lvl1pPr>
          </a:lstStyle>
          <a:p>
            <a:r>
              <a:rPr lang="en-US" smtClean="0"/>
              <a:t>Click to edit Master title style</a:t>
            </a:r>
            <a:endParaRPr lang="en-US" dirty="0"/>
          </a:p>
        </p:txBody>
      </p:sp>
      <p:sp>
        <p:nvSpPr>
          <p:cNvPr id="3" name="Text Placeholder 2"/>
          <p:cNvSpPr>
            <a:spLocks noGrp="1"/>
          </p:cNvSpPr>
          <p:nvPr>
            <p:ph type="body" idx="1"/>
          </p:nvPr>
        </p:nvSpPr>
        <p:spPr>
          <a:xfrm>
            <a:off x="467916" y="6119286"/>
            <a:ext cx="5915025" cy="2000249"/>
          </a:xfrm>
        </p:spPr>
        <p:txBody>
          <a:bodyPr/>
          <a:lstStyle>
            <a:lvl1pPr marL="0" indent="0">
              <a:buNone/>
              <a:defRPr sz="1800">
                <a:solidFill>
                  <a:schemeClr val="tx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6D3B8F5F-B93C-4F22-A857-204BD70249D1}" type="datetimeFigureOut">
              <a:rPr lang="en-US" smtClean="0"/>
              <a:t>11/25/2014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D134704-5C48-483B-9D8B-44C9B4C40C13}" type="slidenum">
              <a:rPr lang="en-US" smtClean="0"/>
              <a:t>‹#›</a:t>
            </a:fld>
            <a:endParaRPr lang="en-US"/>
          </a:p>
        </p:txBody>
      </p:sp>
    </p:spTree>
    <p:extLst>
      <p:ext uri="{BB962C8B-B14F-4D97-AF65-F5344CB8AC3E}">
        <p14:creationId xmlns:p14="http://schemas.microsoft.com/office/powerpoint/2010/main" val="40598233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71488" y="2434167"/>
            <a:ext cx="2914650" cy="5801784"/>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3471863" y="2434167"/>
            <a:ext cx="2914650" cy="5801784"/>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6D3B8F5F-B93C-4F22-A857-204BD70249D1}" type="datetimeFigureOut">
              <a:rPr lang="en-US" smtClean="0"/>
              <a:t>11/25/2014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D134704-5C48-483B-9D8B-44C9B4C40C13}" type="slidenum">
              <a:rPr lang="en-US" smtClean="0"/>
              <a:t>‹#›</a:t>
            </a:fld>
            <a:endParaRPr lang="en-US"/>
          </a:p>
        </p:txBody>
      </p:sp>
    </p:spTree>
    <p:extLst>
      <p:ext uri="{BB962C8B-B14F-4D97-AF65-F5344CB8AC3E}">
        <p14:creationId xmlns:p14="http://schemas.microsoft.com/office/powerpoint/2010/main" val="17444405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72381" y="486836"/>
            <a:ext cx="5915025" cy="1767417"/>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472381" y="2241551"/>
            <a:ext cx="2901255" cy="1098549"/>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Click to edit Master text styles</a:t>
            </a:r>
          </a:p>
        </p:txBody>
      </p:sp>
      <p:sp>
        <p:nvSpPr>
          <p:cNvPr id="4" name="Content Placeholder 3"/>
          <p:cNvSpPr>
            <a:spLocks noGrp="1"/>
          </p:cNvSpPr>
          <p:nvPr>
            <p:ph sz="half" idx="2"/>
          </p:nvPr>
        </p:nvSpPr>
        <p:spPr>
          <a:xfrm>
            <a:off x="472381" y="3340100"/>
            <a:ext cx="2901255" cy="4912784"/>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3471863" y="2241551"/>
            <a:ext cx="2915543" cy="1098549"/>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Click to edit Master text styles</a:t>
            </a:r>
          </a:p>
        </p:txBody>
      </p:sp>
      <p:sp>
        <p:nvSpPr>
          <p:cNvPr id="6" name="Content Placeholder 5"/>
          <p:cNvSpPr>
            <a:spLocks noGrp="1"/>
          </p:cNvSpPr>
          <p:nvPr>
            <p:ph sz="quarter" idx="4"/>
          </p:nvPr>
        </p:nvSpPr>
        <p:spPr>
          <a:xfrm>
            <a:off x="3471863" y="3340100"/>
            <a:ext cx="2915543" cy="4912784"/>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6D3B8F5F-B93C-4F22-A857-204BD70249D1}" type="datetimeFigureOut">
              <a:rPr lang="en-US" smtClean="0"/>
              <a:t>11/25/2014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D134704-5C48-483B-9D8B-44C9B4C40C13}" type="slidenum">
              <a:rPr lang="en-US" smtClean="0"/>
              <a:t>‹#›</a:t>
            </a:fld>
            <a:endParaRPr lang="en-US"/>
          </a:p>
        </p:txBody>
      </p:sp>
    </p:spTree>
    <p:extLst>
      <p:ext uri="{BB962C8B-B14F-4D97-AF65-F5344CB8AC3E}">
        <p14:creationId xmlns:p14="http://schemas.microsoft.com/office/powerpoint/2010/main" val="8026045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6D3B8F5F-B93C-4F22-A857-204BD70249D1}" type="datetimeFigureOut">
              <a:rPr lang="en-US" smtClean="0"/>
              <a:t>11/25/2014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D134704-5C48-483B-9D8B-44C9B4C40C13}" type="slidenum">
              <a:rPr lang="en-US" smtClean="0"/>
              <a:t>‹#›</a:t>
            </a:fld>
            <a:endParaRPr lang="en-US"/>
          </a:p>
        </p:txBody>
      </p:sp>
    </p:spTree>
    <p:extLst>
      <p:ext uri="{BB962C8B-B14F-4D97-AF65-F5344CB8AC3E}">
        <p14:creationId xmlns:p14="http://schemas.microsoft.com/office/powerpoint/2010/main" val="14416428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D3B8F5F-B93C-4F22-A857-204BD70249D1}" type="datetimeFigureOut">
              <a:rPr lang="en-US" smtClean="0"/>
              <a:t>11/25/2014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D134704-5C48-483B-9D8B-44C9B4C40C13}" type="slidenum">
              <a:rPr lang="en-US" smtClean="0"/>
              <a:t>‹#›</a:t>
            </a:fld>
            <a:endParaRPr lang="en-US"/>
          </a:p>
        </p:txBody>
      </p:sp>
    </p:spTree>
    <p:extLst>
      <p:ext uri="{BB962C8B-B14F-4D97-AF65-F5344CB8AC3E}">
        <p14:creationId xmlns:p14="http://schemas.microsoft.com/office/powerpoint/2010/main" val="38136926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09600"/>
            <a:ext cx="2211884" cy="2133600"/>
          </a:xfrm>
        </p:spPr>
        <p:txBody>
          <a:bodyPr anchor="b"/>
          <a:lstStyle>
            <a:lvl1pPr>
              <a:defRPr sz="2400"/>
            </a:lvl1pPr>
          </a:lstStyle>
          <a:p>
            <a:r>
              <a:rPr lang="en-US" smtClean="0"/>
              <a:t>Click to edit Master title style</a:t>
            </a:r>
            <a:endParaRPr lang="en-US" dirty="0"/>
          </a:p>
        </p:txBody>
      </p:sp>
      <p:sp>
        <p:nvSpPr>
          <p:cNvPr id="3" name="Content Placeholder 2"/>
          <p:cNvSpPr>
            <a:spLocks noGrp="1"/>
          </p:cNvSpPr>
          <p:nvPr>
            <p:ph idx="1"/>
          </p:nvPr>
        </p:nvSpPr>
        <p:spPr>
          <a:xfrm>
            <a:off x="2915543" y="1316569"/>
            <a:ext cx="3471863" cy="6498167"/>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72381" y="2743200"/>
            <a:ext cx="2211884" cy="508211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6D3B8F5F-B93C-4F22-A857-204BD70249D1}" type="datetimeFigureOut">
              <a:rPr lang="en-US" smtClean="0"/>
              <a:t>11/25/2014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D134704-5C48-483B-9D8B-44C9B4C40C13}" type="slidenum">
              <a:rPr lang="en-US" smtClean="0"/>
              <a:t>‹#›</a:t>
            </a:fld>
            <a:endParaRPr lang="en-US"/>
          </a:p>
        </p:txBody>
      </p:sp>
    </p:spTree>
    <p:extLst>
      <p:ext uri="{BB962C8B-B14F-4D97-AF65-F5344CB8AC3E}">
        <p14:creationId xmlns:p14="http://schemas.microsoft.com/office/powerpoint/2010/main" val="32486258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09600"/>
            <a:ext cx="2211884" cy="2133600"/>
          </a:xfrm>
        </p:spPr>
        <p:txBody>
          <a:bodyPr anchor="b"/>
          <a:lstStyle>
            <a:lvl1pPr>
              <a:defRPr sz="24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2915543" y="1316569"/>
            <a:ext cx="3471863" cy="6498167"/>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smtClean="0"/>
              <a:t>Click icon to add picture</a:t>
            </a:r>
            <a:endParaRPr lang="en-US" dirty="0"/>
          </a:p>
        </p:txBody>
      </p:sp>
      <p:sp>
        <p:nvSpPr>
          <p:cNvPr id="4" name="Text Placeholder 3"/>
          <p:cNvSpPr>
            <a:spLocks noGrp="1"/>
          </p:cNvSpPr>
          <p:nvPr>
            <p:ph type="body" sz="half" idx="2"/>
          </p:nvPr>
        </p:nvSpPr>
        <p:spPr>
          <a:xfrm>
            <a:off x="472381" y="2743200"/>
            <a:ext cx="2211884" cy="508211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6D3B8F5F-B93C-4F22-A857-204BD70249D1}" type="datetimeFigureOut">
              <a:rPr lang="en-US" smtClean="0"/>
              <a:t>11/25/2014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D134704-5C48-483B-9D8B-44C9B4C40C13}" type="slidenum">
              <a:rPr lang="en-US" smtClean="0"/>
              <a:t>‹#›</a:t>
            </a:fld>
            <a:endParaRPr lang="en-US"/>
          </a:p>
        </p:txBody>
      </p:sp>
    </p:spTree>
    <p:extLst>
      <p:ext uri="{BB962C8B-B14F-4D97-AF65-F5344CB8AC3E}">
        <p14:creationId xmlns:p14="http://schemas.microsoft.com/office/powerpoint/2010/main" val="14815333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6D3B8F5F-B93C-4F22-A857-204BD70249D1}" type="datetimeFigureOut">
              <a:rPr lang="en-US" smtClean="0"/>
              <a:t>11/25/2014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D134704-5C48-483B-9D8B-44C9B4C40C13}" type="slidenum">
              <a:rPr lang="en-US" smtClean="0"/>
              <a:t>‹#›</a:t>
            </a:fld>
            <a:endParaRPr lang="en-US"/>
          </a:p>
        </p:txBody>
      </p:sp>
    </p:spTree>
    <p:extLst>
      <p:ext uri="{BB962C8B-B14F-4D97-AF65-F5344CB8AC3E}">
        <p14:creationId xmlns:p14="http://schemas.microsoft.com/office/powerpoint/2010/main" val="11744000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907757" y="486834"/>
            <a:ext cx="1478756" cy="7749117"/>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71488" y="486834"/>
            <a:ext cx="4350544" cy="7749117"/>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6D3B8F5F-B93C-4F22-A857-204BD70249D1}" type="datetimeFigureOut">
              <a:rPr lang="en-US" smtClean="0"/>
              <a:t>11/25/2014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D134704-5C48-483B-9D8B-44C9B4C40C13}" type="slidenum">
              <a:rPr lang="en-US" smtClean="0"/>
              <a:t>‹#›</a:t>
            </a:fld>
            <a:endParaRPr lang="en-US"/>
          </a:p>
        </p:txBody>
      </p:sp>
    </p:spTree>
    <p:extLst>
      <p:ext uri="{BB962C8B-B14F-4D97-AF65-F5344CB8AC3E}">
        <p14:creationId xmlns:p14="http://schemas.microsoft.com/office/powerpoint/2010/main" val="15610097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71488" y="486836"/>
            <a:ext cx="5915025" cy="1767417"/>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471488" y="2434167"/>
            <a:ext cx="5915025" cy="5801784"/>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471488" y="8475136"/>
            <a:ext cx="1543050" cy="486833"/>
          </a:xfrm>
          <a:prstGeom prst="rect">
            <a:avLst/>
          </a:prstGeom>
        </p:spPr>
        <p:txBody>
          <a:bodyPr vert="horz" lIns="91440" tIns="45720" rIns="91440" bIns="45720" rtlCol="0" anchor="ctr"/>
          <a:lstStyle>
            <a:lvl1pPr algn="l">
              <a:defRPr sz="900">
                <a:solidFill>
                  <a:schemeClr val="tx1">
                    <a:tint val="75000"/>
                  </a:schemeClr>
                </a:solidFill>
              </a:defRPr>
            </a:lvl1pPr>
          </a:lstStyle>
          <a:p>
            <a:fld id="{6D3B8F5F-B93C-4F22-A857-204BD70249D1}" type="datetimeFigureOut">
              <a:rPr lang="en-US" smtClean="0"/>
              <a:t>11/25/2014</a:t>
            </a:fld>
            <a:endParaRPr lang="en-US"/>
          </a:p>
        </p:txBody>
      </p:sp>
      <p:sp>
        <p:nvSpPr>
          <p:cNvPr id="5" name="Footer Placeholder 4"/>
          <p:cNvSpPr>
            <a:spLocks noGrp="1"/>
          </p:cNvSpPr>
          <p:nvPr>
            <p:ph type="ftr" sz="quarter" idx="3"/>
          </p:nvPr>
        </p:nvSpPr>
        <p:spPr>
          <a:xfrm>
            <a:off x="2271713" y="8475136"/>
            <a:ext cx="2314575" cy="486833"/>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4843463" y="8475136"/>
            <a:ext cx="1543050" cy="486833"/>
          </a:xfrm>
          <a:prstGeom prst="rect">
            <a:avLst/>
          </a:prstGeom>
        </p:spPr>
        <p:txBody>
          <a:bodyPr vert="horz" lIns="91440" tIns="45720" rIns="91440" bIns="45720" rtlCol="0" anchor="ctr"/>
          <a:lstStyle>
            <a:lvl1pPr algn="r">
              <a:defRPr sz="900">
                <a:solidFill>
                  <a:schemeClr val="tx1">
                    <a:tint val="75000"/>
                  </a:schemeClr>
                </a:solidFill>
              </a:defRPr>
            </a:lvl1pPr>
          </a:lstStyle>
          <a:p>
            <a:fld id="{1D134704-5C48-483B-9D8B-44C9B4C40C13}" type="slidenum">
              <a:rPr lang="en-US" smtClean="0"/>
              <a:t>‹#›</a:t>
            </a:fld>
            <a:endParaRPr lang="en-US"/>
          </a:p>
        </p:txBody>
      </p:sp>
    </p:spTree>
    <p:extLst>
      <p:ext uri="{BB962C8B-B14F-4D97-AF65-F5344CB8AC3E}">
        <p14:creationId xmlns:p14="http://schemas.microsoft.com/office/powerpoint/2010/main" val="2232647786"/>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emf"/><Relationship Id="rId4" Type="http://schemas.openxmlformats.org/officeDocument/2006/relationships/image" Target="../media/image2.emf"/></Relationships>
</file>

<file path=ppt/slides/_rels/slide3.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6.emf"/><Relationship Id="rId4" Type="http://schemas.openxmlformats.org/officeDocument/2006/relationships/image" Target="../media/image5.emf"/></Relationships>
</file>

<file path=ppt/slides/_rels/slide4.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9.emf"/><Relationship Id="rId4" Type="http://schemas.openxmlformats.org/officeDocument/2006/relationships/image" Target="../media/image8.emf"/></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image" Target="../media/image10.emf"/><Relationship Id="rId1" Type="http://schemas.openxmlformats.org/officeDocument/2006/relationships/slideLayout" Target="../slideLayouts/slideLayout2.xml"/><Relationship Id="rId5" Type="http://schemas.openxmlformats.org/officeDocument/2006/relationships/image" Target="../media/image13.emf"/><Relationship Id="rId4" Type="http://schemas.openxmlformats.org/officeDocument/2006/relationships/image" Target="../media/image12.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71488" y="486836"/>
            <a:ext cx="5915025" cy="723897"/>
          </a:xfrm>
        </p:spPr>
        <p:txBody>
          <a:bodyPr>
            <a:normAutofit/>
          </a:bodyPr>
          <a:lstStyle/>
          <a:p>
            <a:r>
              <a:rPr lang="en-US" sz="3200" dirty="0" smtClean="0"/>
              <a:t>List of figures</a:t>
            </a:r>
            <a:endParaRPr lang="en-US" sz="3200" dirty="0"/>
          </a:p>
        </p:txBody>
      </p:sp>
      <p:sp>
        <p:nvSpPr>
          <p:cNvPr id="3" name="Content Placeholder 2"/>
          <p:cNvSpPr>
            <a:spLocks noGrp="1"/>
          </p:cNvSpPr>
          <p:nvPr>
            <p:ph idx="1"/>
          </p:nvPr>
        </p:nvSpPr>
        <p:spPr>
          <a:xfrm>
            <a:off x="381000" y="1545167"/>
            <a:ext cx="5915025" cy="5801784"/>
          </a:xfrm>
        </p:spPr>
        <p:txBody>
          <a:bodyPr>
            <a:normAutofit/>
          </a:bodyPr>
          <a:lstStyle/>
          <a:p>
            <a:pPr marL="457200" indent="-457200">
              <a:buFont typeface="+mj-lt"/>
              <a:buAutoNum type="arabicPeriod"/>
            </a:pPr>
            <a:r>
              <a:rPr lang="en-US" sz="1600" dirty="0" smtClean="0"/>
              <a:t>Main schematic of protosyllable and differentiation</a:t>
            </a:r>
          </a:p>
          <a:p>
            <a:pPr marL="457200" indent="-457200">
              <a:buFont typeface="+mj-lt"/>
              <a:buAutoNum type="arabicPeriod"/>
            </a:pPr>
            <a:r>
              <a:rPr lang="en-US" sz="1600" dirty="0" smtClean="0"/>
              <a:t>Generalized for wider chains</a:t>
            </a:r>
          </a:p>
          <a:p>
            <a:pPr marL="457200" indent="-457200">
              <a:buFont typeface="+mj-lt"/>
              <a:buAutoNum type="arabicPeriod"/>
            </a:pPr>
            <a:r>
              <a:rPr lang="en-US" sz="1600" dirty="0" smtClean="0"/>
              <a:t>Generalized for longer chains</a:t>
            </a:r>
          </a:p>
          <a:p>
            <a:pPr marL="457200" indent="-457200">
              <a:buFont typeface="+mj-lt"/>
              <a:buAutoNum type="arabicPeriod"/>
            </a:pPr>
            <a:r>
              <a:rPr lang="en-US" sz="1600" dirty="0" smtClean="0"/>
              <a:t>Quantifications</a:t>
            </a:r>
          </a:p>
          <a:p>
            <a:pPr marL="800100" lvl="1" indent="-457200">
              <a:buFont typeface="+mj-lt"/>
              <a:buAutoNum type="arabicPeriod"/>
            </a:pPr>
            <a:r>
              <a:rPr lang="en-US" sz="1600" dirty="0" smtClean="0"/>
              <a:t>Distribution </a:t>
            </a:r>
            <a:r>
              <a:rPr lang="en-US" sz="1600" dirty="0"/>
              <a:t>of timings within syllable</a:t>
            </a:r>
          </a:p>
          <a:p>
            <a:pPr marL="800100" lvl="1" indent="-457200">
              <a:buFont typeface="+mj-lt"/>
              <a:buAutoNum type="arabicPeriod"/>
            </a:pPr>
            <a:r>
              <a:rPr lang="en-US" sz="1600" dirty="0"/>
              <a:t>Position within chain in daughter </a:t>
            </a:r>
            <a:r>
              <a:rPr lang="en-US" sz="1600" dirty="0" smtClean="0"/>
              <a:t>syllables</a:t>
            </a:r>
          </a:p>
          <a:p>
            <a:pPr marL="800100" lvl="1" indent="-457200">
              <a:buFont typeface="+mj-lt"/>
              <a:buAutoNum type="arabicPeriod"/>
            </a:pPr>
            <a:r>
              <a:rPr lang="en-US" sz="1600" dirty="0" smtClean="0"/>
              <a:t>% </a:t>
            </a:r>
            <a:r>
              <a:rPr lang="en-US" sz="1600" dirty="0"/>
              <a:t>differentiated </a:t>
            </a:r>
            <a:r>
              <a:rPr lang="en-US" sz="1600" dirty="0" smtClean="0"/>
              <a:t>over time</a:t>
            </a:r>
            <a:endParaRPr lang="en-US" sz="1600" dirty="0"/>
          </a:p>
          <a:p>
            <a:pPr marL="800100" lvl="1" indent="-457200">
              <a:buFont typeface="+mj-lt"/>
              <a:buAutoNum type="arabicPeriod"/>
            </a:pPr>
            <a:r>
              <a:rPr lang="en-US" sz="1600" dirty="0" smtClean="0"/>
              <a:t>Average period of neural activity over </a:t>
            </a:r>
            <a:r>
              <a:rPr lang="en-US" sz="1600" dirty="0" smtClean="0"/>
              <a:t>time</a:t>
            </a:r>
          </a:p>
          <a:p>
            <a:pPr marL="457200" indent="-457200">
              <a:buFont typeface="+mj-lt"/>
              <a:buAutoNum type="arabicPeriod"/>
            </a:pPr>
            <a:r>
              <a:rPr lang="en-US" sz="1600" dirty="0" smtClean="0"/>
              <a:t>Generalized for probabilistic firing (P(spike) ranges from 0 to 1 based on input strength)</a:t>
            </a:r>
            <a:endParaRPr lang="en-US" sz="1600" dirty="0" smtClean="0"/>
          </a:p>
          <a:p>
            <a:pPr marL="342900" lvl="1" indent="0">
              <a:buNone/>
            </a:pPr>
            <a:endParaRPr lang="en-US" sz="1600" dirty="0" smtClean="0"/>
          </a:p>
          <a:p>
            <a:pPr marL="0" indent="0">
              <a:buNone/>
            </a:pPr>
            <a:r>
              <a:rPr lang="en-US" sz="1600" dirty="0" smtClean="0"/>
              <a:t>More possibilities</a:t>
            </a:r>
            <a:endParaRPr lang="en-US" sz="1600" dirty="0"/>
          </a:p>
          <a:p>
            <a:pPr marL="457200" indent="-457200">
              <a:buFont typeface="+mj-lt"/>
              <a:buAutoNum type="arabicPeriod"/>
            </a:pPr>
            <a:r>
              <a:rPr lang="en-US" sz="1600" dirty="0" smtClean="0"/>
              <a:t>Sensitivity analysis</a:t>
            </a:r>
          </a:p>
          <a:p>
            <a:pPr marL="457200" indent="-457200">
              <a:buFont typeface="+mj-lt"/>
              <a:buAutoNum type="arabicPeriod"/>
            </a:pPr>
            <a:r>
              <a:rPr lang="en-US" sz="1600" dirty="0" smtClean="0"/>
              <a:t>Illustrate simulated “song” by assigning each neuron a distinct output</a:t>
            </a:r>
          </a:p>
          <a:p>
            <a:pPr marL="457200" indent="-457200">
              <a:buFont typeface="+mj-lt"/>
              <a:buAutoNum type="arabicPeriod"/>
            </a:pPr>
            <a:r>
              <a:rPr lang="en-US" sz="1600" dirty="0" smtClean="0"/>
              <a:t>Second-tier splitting into four groups</a:t>
            </a:r>
          </a:p>
          <a:p>
            <a:pPr marL="457200" indent="-457200">
              <a:buFont typeface="+mj-lt"/>
              <a:buAutoNum type="arabicPeriod"/>
            </a:pPr>
            <a:r>
              <a:rPr lang="en-US" sz="1600" dirty="0" smtClean="0"/>
              <a:t>Simultaneous splitting of protosyllable into three groups</a:t>
            </a:r>
          </a:p>
          <a:p>
            <a:pPr marL="457200" indent="-457200">
              <a:buFont typeface="+mj-lt"/>
              <a:buAutoNum type="arabicPeriod"/>
            </a:pPr>
            <a:endParaRPr lang="en-US" sz="1600" dirty="0"/>
          </a:p>
        </p:txBody>
      </p:sp>
    </p:spTree>
    <p:extLst>
      <p:ext uri="{BB962C8B-B14F-4D97-AF65-F5344CB8AC3E}">
        <p14:creationId xmlns:p14="http://schemas.microsoft.com/office/powerpoint/2010/main" val="410470816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7896" name="Picture 147895"/>
          <p:cNvPicPr>
            <a:picLocks noChangeAspect="1"/>
          </p:cNvPicPr>
          <p:nvPr/>
        </p:nvPicPr>
        <p:blipFill>
          <a:blip r:embed="rId3"/>
          <a:stretch>
            <a:fillRect/>
          </a:stretch>
        </p:blipFill>
        <p:spPr>
          <a:xfrm>
            <a:off x="711867" y="539669"/>
            <a:ext cx="7937596" cy="1656600"/>
          </a:xfrm>
          <a:prstGeom prst="rect">
            <a:avLst/>
          </a:prstGeom>
        </p:spPr>
      </p:pic>
      <p:sp>
        <p:nvSpPr>
          <p:cNvPr id="4" name="TextBox 3"/>
          <p:cNvSpPr txBox="1"/>
          <p:nvPr/>
        </p:nvSpPr>
        <p:spPr>
          <a:xfrm>
            <a:off x="203992" y="979947"/>
            <a:ext cx="994183" cy="261610"/>
          </a:xfrm>
          <a:prstGeom prst="rect">
            <a:avLst/>
          </a:prstGeom>
          <a:noFill/>
        </p:spPr>
        <p:txBody>
          <a:bodyPr wrap="none" rtlCol="0">
            <a:spAutoFit/>
          </a:bodyPr>
          <a:lstStyle/>
          <a:p>
            <a:pPr algn="ctr"/>
            <a:r>
              <a:rPr lang="en-US" sz="1100" dirty="0" smtClean="0">
                <a:latin typeface="Arial" panose="020B0604020202020204" pitchFamily="34" charset="0"/>
                <a:cs typeface="Arial" panose="020B0604020202020204" pitchFamily="34" charset="0"/>
              </a:rPr>
              <a:t>Protosyllable</a:t>
            </a:r>
            <a:endParaRPr lang="en-US" sz="1100" dirty="0">
              <a:latin typeface="Arial" panose="020B0604020202020204" pitchFamily="34" charset="0"/>
              <a:cs typeface="Arial" panose="020B0604020202020204" pitchFamily="34" charset="0"/>
            </a:endParaRPr>
          </a:p>
        </p:txBody>
      </p:sp>
      <p:sp>
        <p:nvSpPr>
          <p:cNvPr id="5" name="TextBox 4"/>
          <p:cNvSpPr txBox="1"/>
          <p:nvPr/>
        </p:nvSpPr>
        <p:spPr>
          <a:xfrm>
            <a:off x="152332" y="2595357"/>
            <a:ext cx="1101030" cy="430887"/>
          </a:xfrm>
          <a:prstGeom prst="rect">
            <a:avLst/>
          </a:prstGeom>
          <a:noFill/>
        </p:spPr>
        <p:txBody>
          <a:bodyPr wrap="square" rtlCol="0">
            <a:spAutoFit/>
          </a:bodyPr>
          <a:lstStyle/>
          <a:p>
            <a:pPr algn="ctr"/>
            <a:r>
              <a:rPr lang="en-US" sz="1100" dirty="0" smtClean="0">
                <a:latin typeface="Arial" panose="020B0604020202020204" pitchFamily="34" charset="0"/>
                <a:cs typeface="Arial" panose="020B0604020202020204" pitchFamily="34" charset="0"/>
              </a:rPr>
              <a:t>Partially </a:t>
            </a:r>
            <a:r>
              <a:rPr lang="en-US" sz="1100" dirty="0">
                <a:latin typeface="Arial" panose="020B0604020202020204" pitchFamily="34" charset="0"/>
                <a:cs typeface="Arial" panose="020B0604020202020204" pitchFamily="34" charset="0"/>
              </a:rPr>
              <a:t>d</a:t>
            </a:r>
            <a:r>
              <a:rPr lang="en-US" sz="1100" dirty="0" smtClean="0">
                <a:latin typeface="Arial" panose="020B0604020202020204" pitchFamily="34" charset="0"/>
                <a:cs typeface="Arial" panose="020B0604020202020204" pitchFamily="34" charset="0"/>
              </a:rPr>
              <a:t>ifferentiated</a:t>
            </a:r>
            <a:endParaRPr lang="en-US" sz="1100" dirty="0">
              <a:latin typeface="Arial" panose="020B0604020202020204" pitchFamily="34" charset="0"/>
              <a:cs typeface="Arial" panose="020B0604020202020204" pitchFamily="34" charset="0"/>
            </a:endParaRPr>
          </a:p>
        </p:txBody>
      </p:sp>
      <p:sp>
        <p:nvSpPr>
          <p:cNvPr id="6" name="TextBox 5"/>
          <p:cNvSpPr txBox="1"/>
          <p:nvPr/>
        </p:nvSpPr>
        <p:spPr>
          <a:xfrm>
            <a:off x="76279" y="4380045"/>
            <a:ext cx="1253136" cy="430887"/>
          </a:xfrm>
          <a:prstGeom prst="rect">
            <a:avLst/>
          </a:prstGeom>
          <a:noFill/>
        </p:spPr>
        <p:txBody>
          <a:bodyPr wrap="square" rtlCol="0">
            <a:spAutoFit/>
          </a:bodyPr>
          <a:lstStyle/>
          <a:p>
            <a:pPr algn="ctr"/>
            <a:r>
              <a:rPr lang="en-US" sz="1100" dirty="0" smtClean="0">
                <a:latin typeface="Arial" panose="020B0604020202020204" pitchFamily="34" charset="0"/>
                <a:cs typeface="Arial" panose="020B0604020202020204" pitchFamily="34" charset="0"/>
              </a:rPr>
              <a:t>Fully differentiated</a:t>
            </a:r>
            <a:endParaRPr lang="en-US" sz="1100" dirty="0">
              <a:latin typeface="Arial" panose="020B0604020202020204" pitchFamily="34" charset="0"/>
              <a:cs typeface="Arial" panose="020B0604020202020204" pitchFamily="34" charset="0"/>
            </a:endParaRPr>
          </a:p>
        </p:txBody>
      </p:sp>
      <p:sp>
        <p:nvSpPr>
          <p:cNvPr id="10119" name="TextBox 10118"/>
          <p:cNvSpPr txBox="1"/>
          <p:nvPr/>
        </p:nvSpPr>
        <p:spPr>
          <a:xfrm>
            <a:off x="1538429" y="135766"/>
            <a:ext cx="1244251" cy="261610"/>
          </a:xfrm>
          <a:prstGeom prst="rect">
            <a:avLst/>
          </a:prstGeom>
          <a:noFill/>
          <a:ln>
            <a:solidFill>
              <a:schemeClr val="tx1"/>
            </a:solidFill>
          </a:ln>
        </p:spPr>
        <p:txBody>
          <a:bodyPr wrap="none" rtlCol="0">
            <a:spAutoFit/>
          </a:bodyPr>
          <a:lstStyle/>
          <a:p>
            <a:r>
              <a:rPr lang="en-US" sz="1100" dirty="0" smtClean="0">
                <a:latin typeface="Arial" panose="020B0604020202020204" pitchFamily="34" charset="0"/>
                <a:cs typeface="Arial" panose="020B0604020202020204" pitchFamily="34" charset="0"/>
              </a:rPr>
              <a:t>Synaptic weights</a:t>
            </a:r>
            <a:endParaRPr lang="en-US" sz="1100" dirty="0">
              <a:latin typeface="Arial" panose="020B0604020202020204" pitchFamily="34" charset="0"/>
              <a:cs typeface="Arial" panose="020B0604020202020204" pitchFamily="34" charset="0"/>
            </a:endParaRPr>
          </a:p>
        </p:txBody>
      </p:sp>
      <p:sp>
        <p:nvSpPr>
          <p:cNvPr id="10120" name="TextBox 10119"/>
          <p:cNvSpPr txBox="1"/>
          <p:nvPr/>
        </p:nvSpPr>
        <p:spPr>
          <a:xfrm>
            <a:off x="3503631" y="135766"/>
            <a:ext cx="954107" cy="261610"/>
          </a:xfrm>
          <a:prstGeom prst="rect">
            <a:avLst/>
          </a:prstGeom>
          <a:noFill/>
          <a:ln>
            <a:solidFill>
              <a:schemeClr val="tx1"/>
            </a:solidFill>
          </a:ln>
        </p:spPr>
        <p:txBody>
          <a:bodyPr wrap="none" rtlCol="0">
            <a:spAutoFit/>
          </a:bodyPr>
          <a:lstStyle/>
          <a:p>
            <a:r>
              <a:rPr lang="en-US" sz="1100" dirty="0" smtClean="0">
                <a:latin typeface="Arial" panose="020B0604020202020204" pitchFamily="34" charset="0"/>
                <a:cs typeface="Arial" panose="020B0604020202020204" pitchFamily="34" charset="0"/>
              </a:rPr>
              <a:t>HVC activity</a:t>
            </a:r>
            <a:endParaRPr lang="en-US" sz="1100" dirty="0">
              <a:latin typeface="Arial" panose="020B0604020202020204" pitchFamily="34" charset="0"/>
              <a:cs typeface="Arial" panose="020B0604020202020204" pitchFamily="34" charset="0"/>
            </a:endParaRPr>
          </a:p>
        </p:txBody>
      </p:sp>
      <p:sp>
        <p:nvSpPr>
          <p:cNvPr id="10121" name="TextBox 10120"/>
          <p:cNvSpPr txBox="1"/>
          <p:nvPr/>
        </p:nvSpPr>
        <p:spPr>
          <a:xfrm>
            <a:off x="5390851" y="135766"/>
            <a:ext cx="954107" cy="261610"/>
          </a:xfrm>
          <a:prstGeom prst="rect">
            <a:avLst/>
          </a:prstGeom>
          <a:noFill/>
          <a:ln>
            <a:solidFill>
              <a:schemeClr val="tx1"/>
            </a:solidFill>
          </a:ln>
        </p:spPr>
        <p:txBody>
          <a:bodyPr wrap="none" rtlCol="0">
            <a:spAutoFit/>
          </a:bodyPr>
          <a:lstStyle/>
          <a:p>
            <a:r>
              <a:rPr lang="en-US" sz="1100" dirty="0" smtClean="0">
                <a:latin typeface="Arial" panose="020B0604020202020204" pitchFamily="34" charset="0"/>
                <a:cs typeface="Arial" panose="020B0604020202020204" pitchFamily="34" charset="0"/>
              </a:rPr>
              <a:t>Connectivity</a:t>
            </a:r>
            <a:endParaRPr lang="en-US" sz="1100" dirty="0">
              <a:latin typeface="Arial" panose="020B0604020202020204" pitchFamily="34" charset="0"/>
              <a:cs typeface="Arial" panose="020B0604020202020204" pitchFamily="34" charset="0"/>
            </a:endParaRPr>
          </a:p>
        </p:txBody>
      </p:sp>
      <p:sp>
        <p:nvSpPr>
          <p:cNvPr id="17164" name="TextBox 17163"/>
          <p:cNvSpPr txBox="1"/>
          <p:nvPr/>
        </p:nvSpPr>
        <p:spPr>
          <a:xfrm>
            <a:off x="4962117" y="1597983"/>
            <a:ext cx="691116" cy="430887"/>
          </a:xfrm>
          <a:prstGeom prst="rect">
            <a:avLst/>
          </a:prstGeom>
          <a:noFill/>
        </p:spPr>
        <p:txBody>
          <a:bodyPr wrap="square" rtlCol="0">
            <a:spAutoFit/>
          </a:bodyPr>
          <a:lstStyle/>
          <a:p>
            <a:r>
              <a:rPr lang="en-US" sz="1100" dirty="0" smtClean="0">
                <a:latin typeface="Arial" panose="020B0604020202020204" pitchFamily="34" charset="0"/>
                <a:cs typeface="Arial" panose="020B0604020202020204" pitchFamily="34" charset="0"/>
              </a:rPr>
              <a:t>Training neurons</a:t>
            </a:r>
            <a:endParaRPr lang="en-US" sz="1100" dirty="0">
              <a:latin typeface="Arial" panose="020B0604020202020204" pitchFamily="34" charset="0"/>
              <a:cs typeface="Arial" panose="020B0604020202020204" pitchFamily="34" charset="0"/>
            </a:endParaRPr>
          </a:p>
        </p:txBody>
      </p:sp>
      <p:sp>
        <p:nvSpPr>
          <p:cNvPr id="10128" name="TextBox 10127"/>
          <p:cNvSpPr txBox="1"/>
          <p:nvPr/>
        </p:nvSpPr>
        <p:spPr>
          <a:xfrm>
            <a:off x="5849552" y="1502286"/>
            <a:ext cx="691116" cy="261610"/>
          </a:xfrm>
          <a:prstGeom prst="rect">
            <a:avLst/>
          </a:prstGeom>
          <a:noFill/>
        </p:spPr>
        <p:txBody>
          <a:bodyPr wrap="square" rtlCol="0">
            <a:spAutoFit/>
          </a:bodyPr>
          <a:lstStyle/>
          <a:p>
            <a:pPr algn="ctr"/>
            <a:r>
              <a:rPr lang="en-US" sz="1100" dirty="0" smtClean="0">
                <a:latin typeface="Arial" panose="020B0604020202020204" pitchFamily="34" charset="0"/>
                <a:cs typeface="Arial" panose="020B0604020202020204" pitchFamily="34" charset="0"/>
              </a:rPr>
              <a:t>Group</a:t>
            </a:r>
            <a:endParaRPr lang="en-US" sz="1100" dirty="0">
              <a:latin typeface="Arial" panose="020B0604020202020204" pitchFamily="34" charset="0"/>
              <a:cs typeface="Arial" panose="020B0604020202020204" pitchFamily="34" charset="0"/>
            </a:endParaRPr>
          </a:p>
        </p:txBody>
      </p:sp>
      <p:sp>
        <p:nvSpPr>
          <p:cNvPr id="17163" name="Rectangle 17162"/>
          <p:cNvSpPr/>
          <p:nvPr/>
        </p:nvSpPr>
        <p:spPr>
          <a:xfrm>
            <a:off x="5068444" y="626028"/>
            <a:ext cx="191386" cy="98882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129" name="Rectangle 10128"/>
          <p:cNvSpPr/>
          <p:nvPr/>
        </p:nvSpPr>
        <p:spPr>
          <a:xfrm>
            <a:off x="6027460" y="750170"/>
            <a:ext cx="191386" cy="77724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7897" name="Picture 147896"/>
          <p:cNvPicPr>
            <a:picLocks noChangeAspect="1"/>
          </p:cNvPicPr>
          <p:nvPr/>
        </p:nvPicPr>
        <p:blipFill>
          <a:blip r:embed="rId4"/>
          <a:stretch>
            <a:fillRect/>
          </a:stretch>
        </p:blipFill>
        <p:spPr>
          <a:xfrm>
            <a:off x="711867" y="2227270"/>
            <a:ext cx="7937596" cy="1656600"/>
          </a:xfrm>
          <a:prstGeom prst="rect">
            <a:avLst/>
          </a:prstGeom>
        </p:spPr>
      </p:pic>
      <p:pic>
        <p:nvPicPr>
          <p:cNvPr id="147899" name="Picture 147898"/>
          <p:cNvPicPr>
            <a:picLocks noChangeAspect="1"/>
          </p:cNvPicPr>
          <p:nvPr/>
        </p:nvPicPr>
        <p:blipFill>
          <a:blip r:embed="rId5"/>
          <a:stretch>
            <a:fillRect/>
          </a:stretch>
        </p:blipFill>
        <p:spPr>
          <a:xfrm>
            <a:off x="711867" y="3997087"/>
            <a:ext cx="7937596" cy="1656600"/>
          </a:xfrm>
          <a:prstGeom prst="rect">
            <a:avLst/>
          </a:prstGeom>
        </p:spPr>
      </p:pic>
      <p:sp>
        <p:nvSpPr>
          <p:cNvPr id="16" name="TextBox 15"/>
          <p:cNvSpPr txBox="1"/>
          <p:nvPr/>
        </p:nvSpPr>
        <p:spPr>
          <a:xfrm>
            <a:off x="148347" y="258700"/>
            <a:ext cx="312906" cy="369332"/>
          </a:xfrm>
          <a:prstGeom prst="rect">
            <a:avLst/>
          </a:prstGeom>
          <a:noFill/>
        </p:spPr>
        <p:txBody>
          <a:bodyPr wrap="none" rtlCol="0">
            <a:spAutoFit/>
          </a:bodyPr>
          <a:lstStyle/>
          <a:p>
            <a:r>
              <a:rPr lang="en-US" b="1" dirty="0" smtClean="0">
                <a:latin typeface="Arial" panose="020B0604020202020204" pitchFamily="34" charset="0"/>
                <a:cs typeface="Arial" panose="020B0604020202020204" pitchFamily="34" charset="0"/>
              </a:rPr>
              <a:t>a</a:t>
            </a:r>
            <a:endParaRPr lang="en-US" b="1" dirty="0">
              <a:latin typeface="Arial" panose="020B0604020202020204" pitchFamily="34" charset="0"/>
              <a:cs typeface="Arial" panose="020B0604020202020204" pitchFamily="34" charset="0"/>
            </a:endParaRPr>
          </a:p>
        </p:txBody>
      </p:sp>
      <p:sp>
        <p:nvSpPr>
          <p:cNvPr id="17" name="TextBox 16"/>
          <p:cNvSpPr txBox="1"/>
          <p:nvPr/>
        </p:nvSpPr>
        <p:spPr>
          <a:xfrm>
            <a:off x="148347" y="1981738"/>
            <a:ext cx="325730" cy="369332"/>
          </a:xfrm>
          <a:prstGeom prst="rect">
            <a:avLst/>
          </a:prstGeom>
          <a:noFill/>
        </p:spPr>
        <p:txBody>
          <a:bodyPr wrap="none" rtlCol="0">
            <a:spAutoFit/>
          </a:bodyPr>
          <a:lstStyle/>
          <a:p>
            <a:r>
              <a:rPr lang="en-US" b="1" dirty="0" smtClean="0">
                <a:latin typeface="Arial" panose="020B0604020202020204" pitchFamily="34" charset="0"/>
                <a:cs typeface="Arial" panose="020B0604020202020204" pitchFamily="34" charset="0"/>
              </a:rPr>
              <a:t>b</a:t>
            </a:r>
            <a:endParaRPr lang="en-US" b="1" dirty="0">
              <a:latin typeface="Arial" panose="020B0604020202020204" pitchFamily="34" charset="0"/>
              <a:cs typeface="Arial" panose="020B0604020202020204" pitchFamily="34" charset="0"/>
            </a:endParaRPr>
          </a:p>
        </p:txBody>
      </p:sp>
      <p:sp>
        <p:nvSpPr>
          <p:cNvPr id="18" name="TextBox 17"/>
          <p:cNvSpPr txBox="1"/>
          <p:nvPr/>
        </p:nvSpPr>
        <p:spPr>
          <a:xfrm>
            <a:off x="150947" y="3704870"/>
            <a:ext cx="312906" cy="369332"/>
          </a:xfrm>
          <a:prstGeom prst="rect">
            <a:avLst/>
          </a:prstGeom>
          <a:noFill/>
        </p:spPr>
        <p:txBody>
          <a:bodyPr wrap="none" rtlCol="0">
            <a:spAutoFit/>
          </a:bodyPr>
          <a:lstStyle/>
          <a:p>
            <a:r>
              <a:rPr lang="en-US" b="1" dirty="0" smtClean="0">
                <a:latin typeface="Arial" panose="020B0604020202020204" pitchFamily="34" charset="0"/>
                <a:cs typeface="Arial" panose="020B0604020202020204" pitchFamily="34" charset="0"/>
              </a:rPr>
              <a:t>c</a:t>
            </a:r>
            <a:endParaRPr lang="en-US" b="1" dirty="0">
              <a:latin typeface="Arial" panose="020B0604020202020204" pitchFamily="34" charset="0"/>
              <a:cs typeface="Arial" panose="020B0604020202020204" pitchFamily="34" charset="0"/>
            </a:endParaRPr>
          </a:p>
        </p:txBody>
      </p:sp>
      <p:sp>
        <p:nvSpPr>
          <p:cNvPr id="20" name="Rectangle 19"/>
          <p:cNvSpPr/>
          <p:nvPr/>
        </p:nvSpPr>
        <p:spPr>
          <a:xfrm>
            <a:off x="382363" y="5543044"/>
            <a:ext cx="6250243" cy="3539430"/>
          </a:xfrm>
          <a:prstGeom prst="rect">
            <a:avLst/>
          </a:prstGeom>
        </p:spPr>
        <p:txBody>
          <a:bodyPr wrap="square">
            <a:spAutoFit/>
          </a:bodyPr>
          <a:lstStyle/>
          <a:p>
            <a:pPr>
              <a:spcAft>
                <a:spcPts val="600"/>
              </a:spcAft>
              <a:defRPr/>
            </a:pPr>
            <a:r>
              <a:rPr lang="en-US" sz="1100" dirty="0">
                <a:latin typeface="Arial" panose="020B0604020202020204" pitchFamily="34" charset="0"/>
                <a:cs typeface="Arial" panose="020B0604020202020204" pitchFamily="34" charset="0"/>
              </a:rPr>
              <a:t>Figure 6: Computational model of the splitting of a neural </a:t>
            </a:r>
            <a:r>
              <a:rPr lang="en-US" sz="1100" dirty="0" smtClean="0">
                <a:latin typeface="Arial" panose="020B0604020202020204" pitchFamily="34" charset="0"/>
                <a:cs typeface="Arial" panose="020B0604020202020204" pitchFamily="34" charset="0"/>
              </a:rPr>
              <a:t>sequence</a:t>
            </a:r>
          </a:p>
          <a:p>
            <a:pPr marL="342900" indent="-342900">
              <a:spcAft>
                <a:spcPts val="600"/>
              </a:spcAft>
              <a:buFont typeface="+mj-lt"/>
              <a:buAutoNum type="alphaLcPeriod"/>
              <a:defRPr/>
            </a:pPr>
            <a:r>
              <a:rPr lang="en-US" sz="1100" dirty="0" smtClean="0"/>
              <a:t>During the protosyllable stage, a single “wide” chain of sequentially connected neurons forms from initially random connections. Left: Matrix of synaptic weights between 100 recurrently connected neurons. The point at position </a:t>
            </a:r>
            <a:r>
              <a:rPr lang="en-US" sz="1100" dirty="0" err="1" smtClean="0"/>
              <a:t>w</a:t>
            </a:r>
            <a:r>
              <a:rPr lang="en-US" sz="1100" baseline="-25000" dirty="0" err="1" smtClean="0"/>
              <a:t>i,j</a:t>
            </a:r>
            <a:r>
              <a:rPr lang="en-US" sz="1100" dirty="0" smtClean="0"/>
              <a:t> indicates the strength of the connection between presynaptic neuron j and postsynaptic neuron </a:t>
            </a:r>
            <a:r>
              <a:rPr lang="en-US" sz="1100" dirty="0" err="1" smtClean="0"/>
              <a:t>i</a:t>
            </a:r>
            <a:r>
              <a:rPr lang="en-US" sz="1100" dirty="0" smtClean="0"/>
              <a:t>. Black indicates a strength of zero; colors increase from red to yellow, and white indicates maximum strength. Middle: Sequential neural activity at the end of protosyllable formation. Red neurons (k=8) are training neurons, controlled by a single external input at regular intervals. Neurons are ordered based on the sequence of activity during protosyllable formation. The random activations of single neurons that drive STDP are shown in gray. Right: Graphical representation of protosequence. </a:t>
            </a:r>
            <a:r>
              <a:rPr lang="en-US" sz="1100" dirty="0"/>
              <a:t>The network is organized in a feed forward chain with many cross connections. </a:t>
            </a:r>
            <a:r>
              <a:rPr lang="en-US" sz="1100" dirty="0" smtClean="0"/>
              <a:t>Each node represents a neuron, and the darkness of each line represents the strength of the connection (long range connections are fixed gray). The horizontal position of each node represents its activation time within the protosyllable. Training neurons are red, and simultaneously active sets of neurons make up a “group”.</a:t>
            </a:r>
          </a:p>
          <a:p>
            <a:pPr marL="342900" indent="-342900">
              <a:spcAft>
                <a:spcPts val="600"/>
              </a:spcAft>
              <a:buFont typeface="+mj-lt"/>
              <a:buAutoNum type="alphaLcPeriod"/>
              <a:defRPr/>
            </a:pPr>
            <a:r>
              <a:rPr lang="en-US" sz="1100" dirty="0" smtClean="0"/>
              <a:t>During differentiation, neurons compete for resources to form fewer, stronger synaptic connections. When the network is partially differentiated, some neurons are specific to one daughter syllable, while neurons later in the chain continue to participate in both. </a:t>
            </a:r>
          </a:p>
          <a:p>
            <a:pPr marL="342900" indent="-342900">
              <a:spcAft>
                <a:spcPts val="600"/>
              </a:spcAft>
              <a:buFont typeface="+mj-lt"/>
              <a:buAutoNum type="alphaLcPeriod"/>
              <a:defRPr/>
            </a:pPr>
            <a:r>
              <a:rPr lang="en-US" sz="1100" dirty="0" smtClean="0"/>
              <a:t>When differentiation is complete, two distinct syllables have formed, creating a complete chain with twice the period of the original. Note that the original order of activation </a:t>
            </a:r>
            <a:r>
              <a:rPr lang="en-US" sz="1100" dirty="0"/>
              <a:t>i</a:t>
            </a:r>
            <a:r>
              <a:rPr lang="en-US" sz="1100" dirty="0" smtClean="0"/>
              <a:t>s preserved.</a:t>
            </a:r>
          </a:p>
        </p:txBody>
      </p:sp>
    </p:spTree>
    <p:extLst>
      <p:ext uri="{BB962C8B-B14F-4D97-AF65-F5344CB8AC3E}">
        <p14:creationId xmlns:p14="http://schemas.microsoft.com/office/powerpoint/2010/main" val="275236765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5408" y="11227"/>
            <a:ext cx="5915025" cy="723703"/>
          </a:xfrm>
        </p:spPr>
        <p:txBody>
          <a:bodyPr>
            <a:normAutofit/>
          </a:bodyPr>
          <a:lstStyle/>
          <a:p>
            <a:r>
              <a:rPr lang="en-US" sz="1400" dirty="0" smtClean="0">
                <a:latin typeface="Arial" panose="020B0604020202020204" pitchFamily="34" charset="0"/>
                <a:cs typeface="Arial" panose="020B0604020202020204" pitchFamily="34" charset="0"/>
              </a:rPr>
              <a:t>Generalized to wider chains:</a:t>
            </a:r>
            <a:br>
              <a:rPr lang="en-US" sz="1400" dirty="0" smtClean="0">
                <a:latin typeface="Arial" panose="020B0604020202020204" pitchFamily="34" charset="0"/>
                <a:cs typeface="Arial" panose="020B0604020202020204" pitchFamily="34" charset="0"/>
              </a:rPr>
            </a:br>
            <a:r>
              <a:rPr lang="en-US" sz="1400" dirty="0" smtClean="0">
                <a:latin typeface="Arial" panose="020B0604020202020204" pitchFamily="34" charset="0"/>
                <a:cs typeface="Arial" panose="020B0604020202020204" pitchFamily="34" charset="0"/>
              </a:rPr>
              <a:t>Number of training neurons determines chain width</a:t>
            </a:r>
            <a:endParaRPr lang="en-US" sz="1400" dirty="0">
              <a:latin typeface="Arial" panose="020B0604020202020204" pitchFamily="34" charset="0"/>
              <a:cs typeface="Arial" panose="020B0604020202020204" pitchFamily="34" charset="0"/>
            </a:endParaRPr>
          </a:p>
        </p:txBody>
      </p:sp>
      <p:sp>
        <p:nvSpPr>
          <p:cNvPr id="5" name="Rectangle 4"/>
          <p:cNvSpPr/>
          <p:nvPr/>
        </p:nvSpPr>
        <p:spPr>
          <a:xfrm>
            <a:off x="218413" y="634676"/>
            <a:ext cx="1648488" cy="307777"/>
          </a:xfrm>
          <a:prstGeom prst="rect">
            <a:avLst/>
          </a:prstGeom>
          <a:ln>
            <a:solidFill>
              <a:schemeClr val="tx1"/>
            </a:solidFill>
          </a:ln>
        </p:spPr>
        <p:txBody>
          <a:bodyPr wrap="square">
            <a:spAutoFit/>
          </a:bodyPr>
          <a:lstStyle/>
          <a:p>
            <a:r>
              <a:rPr lang="en-US" sz="1400" dirty="0" smtClean="0">
                <a:latin typeface="Arial" panose="020B0604020202020204" pitchFamily="34" charset="0"/>
                <a:cs typeface="Arial" panose="020B0604020202020204" pitchFamily="34" charset="0"/>
              </a:rPr>
              <a:t>16 training inputs</a:t>
            </a:r>
            <a:endParaRPr lang="en-US" sz="1400" dirty="0">
              <a:latin typeface="Arial" panose="020B0604020202020204" pitchFamily="34" charset="0"/>
              <a:cs typeface="Arial" panose="020B0604020202020204" pitchFamily="34" charset="0"/>
            </a:endParaRPr>
          </a:p>
        </p:txBody>
      </p:sp>
      <p:pic>
        <p:nvPicPr>
          <p:cNvPr id="82258" name="Picture 82257"/>
          <p:cNvPicPr>
            <a:picLocks noChangeAspect="1"/>
          </p:cNvPicPr>
          <p:nvPr/>
        </p:nvPicPr>
        <p:blipFill>
          <a:blip r:embed="rId3"/>
          <a:stretch>
            <a:fillRect/>
          </a:stretch>
        </p:blipFill>
        <p:spPr>
          <a:xfrm>
            <a:off x="598488" y="973399"/>
            <a:ext cx="7937596" cy="1656600"/>
          </a:xfrm>
          <a:prstGeom prst="rect">
            <a:avLst/>
          </a:prstGeom>
        </p:spPr>
      </p:pic>
      <p:pic>
        <p:nvPicPr>
          <p:cNvPr id="82259" name="Picture 82258"/>
          <p:cNvPicPr>
            <a:picLocks noChangeAspect="1"/>
          </p:cNvPicPr>
          <p:nvPr/>
        </p:nvPicPr>
        <p:blipFill>
          <a:blip r:embed="rId4"/>
          <a:stretch>
            <a:fillRect/>
          </a:stretch>
        </p:blipFill>
        <p:spPr>
          <a:xfrm>
            <a:off x="598488" y="2684308"/>
            <a:ext cx="7937596" cy="1656600"/>
          </a:xfrm>
          <a:prstGeom prst="rect">
            <a:avLst/>
          </a:prstGeom>
        </p:spPr>
      </p:pic>
      <p:pic>
        <p:nvPicPr>
          <p:cNvPr id="82260" name="Picture 82259"/>
          <p:cNvPicPr>
            <a:picLocks noChangeAspect="1"/>
          </p:cNvPicPr>
          <p:nvPr/>
        </p:nvPicPr>
        <p:blipFill>
          <a:blip r:embed="rId5"/>
          <a:stretch>
            <a:fillRect/>
          </a:stretch>
        </p:blipFill>
        <p:spPr>
          <a:xfrm>
            <a:off x="598488" y="4406604"/>
            <a:ext cx="7937596" cy="1656600"/>
          </a:xfrm>
          <a:prstGeom prst="rect">
            <a:avLst/>
          </a:prstGeom>
        </p:spPr>
      </p:pic>
      <p:sp>
        <p:nvSpPr>
          <p:cNvPr id="8984" name="TextBox 8983"/>
          <p:cNvSpPr txBox="1"/>
          <p:nvPr/>
        </p:nvSpPr>
        <p:spPr>
          <a:xfrm>
            <a:off x="127002" y="1397422"/>
            <a:ext cx="994183" cy="261610"/>
          </a:xfrm>
          <a:prstGeom prst="rect">
            <a:avLst/>
          </a:prstGeom>
          <a:noFill/>
        </p:spPr>
        <p:txBody>
          <a:bodyPr wrap="none" rtlCol="0">
            <a:spAutoFit/>
          </a:bodyPr>
          <a:lstStyle/>
          <a:p>
            <a:pPr algn="ctr"/>
            <a:r>
              <a:rPr lang="en-US" sz="1100" dirty="0" smtClean="0">
                <a:latin typeface="Arial" panose="020B0604020202020204" pitchFamily="34" charset="0"/>
                <a:cs typeface="Arial" panose="020B0604020202020204" pitchFamily="34" charset="0"/>
              </a:rPr>
              <a:t>Protosyllable</a:t>
            </a:r>
            <a:endParaRPr lang="en-US" sz="1100" dirty="0">
              <a:latin typeface="Arial" panose="020B0604020202020204" pitchFamily="34" charset="0"/>
              <a:cs typeface="Arial" panose="020B0604020202020204" pitchFamily="34" charset="0"/>
            </a:endParaRPr>
          </a:p>
        </p:txBody>
      </p:sp>
      <p:sp>
        <p:nvSpPr>
          <p:cNvPr id="8985" name="TextBox 8984"/>
          <p:cNvSpPr txBox="1"/>
          <p:nvPr/>
        </p:nvSpPr>
        <p:spPr>
          <a:xfrm>
            <a:off x="75342" y="3029078"/>
            <a:ext cx="1101030" cy="430887"/>
          </a:xfrm>
          <a:prstGeom prst="rect">
            <a:avLst/>
          </a:prstGeom>
          <a:noFill/>
        </p:spPr>
        <p:txBody>
          <a:bodyPr wrap="square" rtlCol="0">
            <a:spAutoFit/>
          </a:bodyPr>
          <a:lstStyle/>
          <a:p>
            <a:pPr algn="ctr"/>
            <a:r>
              <a:rPr lang="en-US" sz="1100" dirty="0" smtClean="0">
                <a:latin typeface="Arial" panose="020B0604020202020204" pitchFamily="34" charset="0"/>
                <a:cs typeface="Arial" panose="020B0604020202020204" pitchFamily="34" charset="0"/>
              </a:rPr>
              <a:t>Partially </a:t>
            </a:r>
            <a:r>
              <a:rPr lang="en-US" sz="1100" dirty="0">
                <a:latin typeface="Arial" panose="020B0604020202020204" pitchFamily="34" charset="0"/>
                <a:cs typeface="Arial" panose="020B0604020202020204" pitchFamily="34" charset="0"/>
              </a:rPr>
              <a:t>d</a:t>
            </a:r>
            <a:r>
              <a:rPr lang="en-US" sz="1100" dirty="0" smtClean="0">
                <a:latin typeface="Arial" panose="020B0604020202020204" pitchFamily="34" charset="0"/>
                <a:cs typeface="Arial" panose="020B0604020202020204" pitchFamily="34" charset="0"/>
              </a:rPr>
              <a:t>ifferentiated</a:t>
            </a:r>
            <a:endParaRPr lang="en-US" sz="1100" dirty="0">
              <a:latin typeface="Arial" panose="020B0604020202020204" pitchFamily="34" charset="0"/>
              <a:cs typeface="Arial" panose="020B0604020202020204" pitchFamily="34" charset="0"/>
            </a:endParaRPr>
          </a:p>
        </p:txBody>
      </p:sp>
      <p:sp>
        <p:nvSpPr>
          <p:cNvPr id="8986" name="TextBox 8985"/>
          <p:cNvSpPr txBox="1"/>
          <p:nvPr/>
        </p:nvSpPr>
        <p:spPr>
          <a:xfrm>
            <a:off x="-711" y="4797520"/>
            <a:ext cx="1253136" cy="430887"/>
          </a:xfrm>
          <a:prstGeom prst="rect">
            <a:avLst/>
          </a:prstGeom>
          <a:noFill/>
        </p:spPr>
        <p:txBody>
          <a:bodyPr wrap="square" rtlCol="0">
            <a:spAutoFit/>
          </a:bodyPr>
          <a:lstStyle/>
          <a:p>
            <a:pPr algn="ctr"/>
            <a:r>
              <a:rPr lang="en-US" sz="1100" dirty="0" smtClean="0">
                <a:latin typeface="Arial" panose="020B0604020202020204" pitchFamily="34" charset="0"/>
                <a:cs typeface="Arial" panose="020B0604020202020204" pitchFamily="34" charset="0"/>
              </a:rPr>
              <a:t>Fully differentiated</a:t>
            </a:r>
            <a:endParaRPr lang="en-US" sz="11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91329325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5488" y="15555"/>
            <a:ext cx="5915025" cy="741463"/>
          </a:xfrm>
        </p:spPr>
        <p:txBody>
          <a:bodyPr>
            <a:normAutofit/>
          </a:bodyPr>
          <a:lstStyle/>
          <a:p>
            <a:r>
              <a:rPr lang="en-US" sz="1400" dirty="0" smtClean="0">
                <a:latin typeface="Arial" panose="020B0604020202020204" pitchFamily="34" charset="0"/>
                <a:cs typeface="Arial" panose="020B0604020202020204" pitchFamily="34" charset="0"/>
              </a:rPr>
              <a:t>Generalized to larger numbers of neurons: chain length  is determined by training interval</a:t>
            </a:r>
            <a:endParaRPr lang="en-US" sz="1400" dirty="0">
              <a:latin typeface="Arial" panose="020B0604020202020204" pitchFamily="34" charset="0"/>
              <a:cs typeface="Arial" panose="020B0604020202020204" pitchFamily="34" charset="0"/>
            </a:endParaRPr>
          </a:p>
        </p:txBody>
      </p:sp>
      <p:sp>
        <p:nvSpPr>
          <p:cNvPr id="6" name="TextBox 5"/>
          <p:cNvSpPr txBox="1"/>
          <p:nvPr/>
        </p:nvSpPr>
        <p:spPr>
          <a:xfrm>
            <a:off x="244549" y="706218"/>
            <a:ext cx="1658531" cy="276999"/>
          </a:xfrm>
          <a:prstGeom prst="rect">
            <a:avLst/>
          </a:prstGeom>
          <a:noFill/>
          <a:ln>
            <a:solidFill>
              <a:schemeClr val="tx1"/>
            </a:solidFill>
          </a:ln>
        </p:spPr>
        <p:txBody>
          <a:bodyPr wrap="none" rtlCol="0">
            <a:spAutoFit/>
          </a:bodyPr>
          <a:lstStyle/>
          <a:p>
            <a:r>
              <a:rPr lang="en-US" sz="1200" dirty="0" smtClean="0">
                <a:latin typeface="Arial" panose="020B0604020202020204" pitchFamily="34" charset="0"/>
                <a:cs typeface="Arial" panose="020B0604020202020204" pitchFamily="34" charset="0"/>
              </a:rPr>
              <a:t>Training interval =  20</a:t>
            </a:r>
            <a:endParaRPr lang="en-US" sz="1200" dirty="0">
              <a:latin typeface="Arial" panose="020B0604020202020204" pitchFamily="34" charset="0"/>
              <a:cs typeface="Arial" panose="020B0604020202020204" pitchFamily="34" charset="0"/>
            </a:endParaRPr>
          </a:p>
        </p:txBody>
      </p:sp>
      <p:pic>
        <p:nvPicPr>
          <p:cNvPr id="124402" name="Picture 124401"/>
          <p:cNvPicPr>
            <a:picLocks noChangeAspect="1"/>
          </p:cNvPicPr>
          <p:nvPr/>
        </p:nvPicPr>
        <p:blipFill>
          <a:blip r:embed="rId3"/>
          <a:stretch>
            <a:fillRect/>
          </a:stretch>
        </p:blipFill>
        <p:spPr>
          <a:xfrm>
            <a:off x="624093" y="985280"/>
            <a:ext cx="7937596" cy="1656600"/>
          </a:xfrm>
          <a:prstGeom prst="rect">
            <a:avLst/>
          </a:prstGeom>
        </p:spPr>
      </p:pic>
      <p:pic>
        <p:nvPicPr>
          <p:cNvPr id="124405" name="Picture 124404"/>
          <p:cNvPicPr>
            <a:picLocks noChangeAspect="1"/>
          </p:cNvPicPr>
          <p:nvPr/>
        </p:nvPicPr>
        <p:blipFill>
          <a:blip r:embed="rId4"/>
          <a:stretch>
            <a:fillRect/>
          </a:stretch>
        </p:blipFill>
        <p:spPr>
          <a:xfrm>
            <a:off x="624093" y="2668354"/>
            <a:ext cx="7937596" cy="1656600"/>
          </a:xfrm>
          <a:prstGeom prst="rect">
            <a:avLst/>
          </a:prstGeom>
        </p:spPr>
      </p:pic>
      <p:pic>
        <p:nvPicPr>
          <p:cNvPr id="124406" name="Picture 124405"/>
          <p:cNvPicPr>
            <a:picLocks noChangeAspect="1"/>
          </p:cNvPicPr>
          <p:nvPr/>
        </p:nvPicPr>
        <p:blipFill>
          <a:blip r:embed="rId5"/>
          <a:stretch>
            <a:fillRect/>
          </a:stretch>
        </p:blipFill>
        <p:spPr>
          <a:xfrm>
            <a:off x="624093" y="4391676"/>
            <a:ext cx="7937596" cy="1656600"/>
          </a:xfrm>
          <a:prstGeom prst="rect">
            <a:avLst/>
          </a:prstGeom>
        </p:spPr>
      </p:pic>
      <p:sp>
        <p:nvSpPr>
          <p:cNvPr id="7865" name="TextBox 7864"/>
          <p:cNvSpPr txBox="1"/>
          <p:nvPr/>
        </p:nvSpPr>
        <p:spPr>
          <a:xfrm>
            <a:off x="127002" y="1397422"/>
            <a:ext cx="994183" cy="261610"/>
          </a:xfrm>
          <a:prstGeom prst="rect">
            <a:avLst/>
          </a:prstGeom>
          <a:noFill/>
        </p:spPr>
        <p:txBody>
          <a:bodyPr wrap="none" rtlCol="0">
            <a:spAutoFit/>
          </a:bodyPr>
          <a:lstStyle/>
          <a:p>
            <a:pPr algn="ctr"/>
            <a:r>
              <a:rPr lang="en-US" sz="1100" dirty="0" smtClean="0">
                <a:latin typeface="Arial" panose="020B0604020202020204" pitchFamily="34" charset="0"/>
                <a:cs typeface="Arial" panose="020B0604020202020204" pitchFamily="34" charset="0"/>
              </a:rPr>
              <a:t>Protosyllable</a:t>
            </a:r>
            <a:endParaRPr lang="en-US" sz="1100" dirty="0">
              <a:latin typeface="Arial" panose="020B0604020202020204" pitchFamily="34" charset="0"/>
              <a:cs typeface="Arial" panose="020B0604020202020204" pitchFamily="34" charset="0"/>
            </a:endParaRPr>
          </a:p>
        </p:txBody>
      </p:sp>
      <p:sp>
        <p:nvSpPr>
          <p:cNvPr id="7866" name="TextBox 7865"/>
          <p:cNvSpPr txBox="1"/>
          <p:nvPr/>
        </p:nvSpPr>
        <p:spPr>
          <a:xfrm>
            <a:off x="75342" y="3029078"/>
            <a:ext cx="1101030" cy="430887"/>
          </a:xfrm>
          <a:prstGeom prst="rect">
            <a:avLst/>
          </a:prstGeom>
          <a:noFill/>
        </p:spPr>
        <p:txBody>
          <a:bodyPr wrap="square" rtlCol="0">
            <a:spAutoFit/>
          </a:bodyPr>
          <a:lstStyle/>
          <a:p>
            <a:pPr algn="ctr"/>
            <a:r>
              <a:rPr lang="en-US" sz="1100" dirty="0" smtClean="0">
                <a:latin typeface="Arial" panose="020B0604020202020204" pitchFamily="34" charset="0"/>
                <a:cs typeface="Arial" panose="020B0604020202020204" pitchFamily="34" charset="0"/>
              </a:rPr>
              <a:t>Partially </a:t>
            </a:r>
            <a:r>
              <a:rPr lang="en-US" sz="1100" dirty="0">
                <a:latin typeface="Arial" panose="020B0604020202020204" pitchFamily="34" charset="0"/>
                <a:cs typeface="Arial" panose="020B0604020202020204" pitchFamily="34" charset="0"/>
              </a:rPr>
              <a:t>d</a:t>
            </a:r>
            <a:r>
              <a:rPr lang="en-US" sz="1100" dirty="0" smtClean="0">
                <a:latin typeface="Arial" panose="020B0604020202020204" pitchFamily="34" charset="0"/>
                <a:cs typeface="Arial" panose="020B0604020202020204" pitchFamily="34" charset="0"/>
              </a:rPr>
              <a:t>ifferentiated</a:t>
            </a:r>
            <a:endParaRPr lang="en-US" sz="1100" dirty="0">
              <a:latin typeface="Arial" panose="020B0604020202020204" pitchFamily="34" charset="0"/>
              <a:cs typeface="Arial" panose="020B0604020202020204" pitchFamily="34" charset="0"/>
            </a:endParaRPr>
          </a:p>
        </p:txBody>
      </p:sp>
      <p:sp>
        <p:nvSpPr>
          <p:cNvPr id="7867" name="TextBox 7866"/>
          <p:cNvSpPr txBox="1"/>
          <p:nvPr/>
        </p:nvSpPr>
        <p:spPr>
          <a:xfrm>
            <a:off x="-711" y="4797520"/>
            <a:ext cx="1253136" cy="430887"/>
          </a:xfrm>
          <a:prstGeom prst="rect">
            <a:avLst/>
          </a:prstGeom>
          <a:noFill/>
        </p:spPr>
        <p:txBody>
          <a:bodyPr wrap="square" rtlCol="0">
            <a:spAutoFit/>
          </a:bodyPr>
          <a:lstStyle/>
          <a:p>
            <a:pPr algn="ctr"/>
            <a:r>
              <a:rPr lang="en-US" sz="1100" dirty="0" smtClean="0">
                <a:latin typeface="Arial" panose="020B0604020202020204" pitchFamily="34" charset="0"/>
                <a:cs typeface="Arial" panose="020B0604020202020204" pitchFamily="34" charset="0"/>
              </a:rPr>
              <a:t>Fully differentiated</a:t>
            </a:r>
            <a:endParaRPr lang="en-US" sz="11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25488752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p:cNvGrpSpPr/>
          <p:nvPr/>
        </p:nvGrpSpPr>
        <p:grpSpPr>
          <a:xfrm>
            <a:off x="3307028" y="533403"/>
            <a:ext cx="1424748" cy="1479127"/>
            <a:chOff x="2246361" y="3746501"/>
            <a:chExt cx="1360216" cy="1412131"/>
          </a:xfrm>
        </p:grpSpPr>
        <p:sp>
          <p:nvSpPr>
            <p:cNvPr id="5" name="Rectangle 229"/>
            <p:cNvSpPr>
              <a:spLocks noChangeArrowheads="1"/>
            </p:cNvSpPr>
            <p:nvPr/>
          </p:nvSpPr>
          <p:spPr bwMode="auto">
            <a:xfrm>
              <a:off x="2593976" y="3813176"/>
              <a:ext cx="928688" cy="96678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000">
                <a:latin typeface="Arial" panose="020B0604020202020204" pitchFamily="34" charset="0"/>
                <a:cs typeface="Arial" panose="020B0604020202020204" pitchFamily="34" charset="0"/>
              </a:endParaRPr>
            </a:p>
          </p:txBody>
        </p:sp>
        <p:sp>
          <p:nvSpPr>
            <p:cNvPr id="6" name="Rectangle 230"/>
            <p:cNvSpPr>
              <a:spLocks noChangeArrowheads="1"/>
            </p:cNvSpPr>
            <p:nvPr/>
          </p:nvSpPr>
          <p:spPr bwMode="auto">
            <a:xfrm>
              <a:off x="2593976" y="3813176"/>
              <a:ext cx="928688" cy="966788"/>
            </a:xfrm>
            <a:prstGeom prst="rect">
              <a:avLst/>
            </a:prstGeom>
            <a:noFill/>
            <a:ln w="0">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sz="1000">
                <a:latin typeface="Arial" panose="020B0604020202020204" pitchFamily="34" charset="0"/>
                <a:cs typeface="Arial" panose="020B0604020202020204" pitchFamily="34" charset="0"/>
              </a:endParaRPr>
            </a:p>
          </p:txBody>
        </p:sp>
        <p:sp>
          <p:nvSpPr>
            <p:cNvPr id="7" name="Line 231"/>
            <p:cNvSpPr>
              <a:spLocks noChangeShapeType="1"/>
            </p:cNvSpPr>
            <p:nvPr/>
          </p:nvSpPr>
          <p:spPr bwMode="auto">
            <a:xfrm>
              <a:off x="2593976" y="4779963"/>
              <a:ext cx="928688" cy="0"/>
            </a:xfrm>
            <a:prstGeom prst="line">
              <a:avLst/>
            </a:prstGeom>
            <a:noFill/>
            <a:ln w="0">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sz="1000">
                <a:latin typeface="Arial" panose="020B0604020202020204" pitchFamily="34" charset="0"/>
                <a:cs typeface="Arial" panose="020B0604020202020204" pitchFamily="34" charset="0"/>
              </a:endParaRPr>
            </a:p>
          </p:txBody>
        </p:sp>
        <p:sp>
          <p:nvSpPr>
            <p:cNvPr id="8" name="Line 232"/>
            <p:cNvSpPr>
              <a:spLocks noChangeShapeType="1"/>
            </p:cNvSpPr>
            <p:nvPr/>
          </p:nvSpPr>
          <p:spPr bwMode="auto">
            <a:xfrm flipV="1">
              <a:off x="2593976" y="3813176"/>
              <a:ext cx="0" cy="966788"/>
            </a:xfrm>
            <a:prstGeom prst="line">
              <a:avLst/>
            </a:prstGeom>
            <a:noFill/>
            <a:ln w="0">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sz="1000">
                <a:latin typeface="Arial" panose="020B0604020202020204" pitchFamily="34" charset="0"/>
                <a:cs typeface="Arial" panose="020B0604020202020204" pitchFamily="34" charset="0"/>
              </a:endParaRPr>
            </a:p>
          </p:txBody>
        </p:sp>
        <p:sp>
          <p:nvSpPr>
            <p:cNvPr id="9" name="Line 233"/>
            <p:cNvSpPr>
              <a:spLocks noChangeShapeType="1"/>
            </p:cNvSpPr>
            <p:nvPr/>
          </p:nvSpPr>
          <p:spPr bwMode="auto">
            <a:xfrm>
              <a:off x="2593976" y="4779963"/>
              <a:ext cx="0" cy="6350"/>
            </a:xfrm>
            <a:prstGeom prst="line">
              <a:avLst/>
            </a:prstGeom>
            <a:noFill/>
            <a:ln w="0">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sz="1000">
                <a:latin typeface="Arial" panose="020B0604020202020204" pitchFamily="34" charset="0"/>
                <a:cs typeface="Arial" panose="020B0604020202020204" pitchFamily="34" charset="0"/>
              </a:endParaRPr>
            </a:p>
          </p:txBody>
        </p:sp>
        <p:sp>
          <p:nvSpPr>
            <p:cNvPr id="10" name="Rectangle 234"/>
            <p:cNvSpPr>
              <a:spLocks noChangeArrowheads="1"/>
            </p:cNvSpPr>
            <p:nvPr/>
          </p:nvSpPr>
          <p:spPr bwMode="auto">
            <a:xfrm>
              <a:off x="2568576" y="4813301"/>
              <a:ext cx="70532" cy="15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smtClean="0">
                  <a:ln>
                    <a:noFill/>
                  </a:ln>
                  <a:solidFill>
                    <a:srgbClr val="000000"/>
                  </a:solidFill>
                  <a:effectLst/>
                  <a:cs typeface="Arial" panose="020B0604020202020204" pitchFamily="34" charset="0"/>
                </a:rPr>
                <a:t>0</a:t>
              </a:r>
              <a:endParaRPr kumimoji="0" lang="en-US" altLang="en-US" sz="1000" b="0" i="0" u="none" strike="noStrike" cap="none" normalizeH="0" baseline="0" smtClean="0">
                <a:ln>
                  <a:noFill/>
                </a:ln>
                <a:solidFill>
                  <a:schemeClr val="tx1"/>
                </a:solidFill>
                <a:effectLst/>
                <a:cs typeface="Arial" panose="020B0604020202020204" pitchFamily="34" charset="0"/>
              </a:endParaRPr>
            </a:p>
          </p:txBody>
        </p:sp>
        <p:sp>
          <p:nvSpPr>
            <p:cNvPr id="11" name="Line 235"/>
            <p:cNvSpPr>
              <a:spLocks noChangeShapeType="1"/>
            </p:cNvSpPr>
            <p:nvPr/>
          </p:nvSpPr>
          <p:spPr bwMode="auto">
            <a:xfrm>
              <a:off x="3059113" y="4779963"/>
              <a:ext cx="0" cy="6350"/>
            </a:xfrm>
            <a:prstGeom prst="line">
              <a:avLst/>
            </a:prstGeom>
            <a:noFill/>
            <a:ln w="0">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sz="1000">
                <a:latin typeface="Arial" panose="020B0604020202020204" pitchFamily="34" charset="0"/>
                <a:cs typeface="Arial" panose="020B0604020202020204" pitchFamily="34" charset="0"/>
              </a:endParaRPr>
            </a:p>
          </p:txBody>
        </p:sp>
        <p:sp>
          <p:nvSpPr>
            <p:cNvPr id="12" name="Rectangle 236"/>
            <p:cNvSpPr>
              <a:spLocks noChangeArrowheads="1"/>
            </p:cNvSpPr>
            <p:nvPr/>
          </p:nvSpPr>
          <p:spPr bwMode="auto">
            <a:xfrm>
              <a:off x="3033713" y="4813301"/>
              <a:ext cx="70532" cy="15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smtClean="0">
                  <a:ln>
                    <a:noFill/>
                  </a:ln>
                  <a:solidFill>
                    <a:srgbClr val="000000"/>
                  </a:solidFill>
                  <a:effectLst/>
                  <a:cs typeface="Arial" panose="020B0604020202020204" pitchFamily="34" charset="0"/>
                </a:rPr>
                <a:t>5</a:t>
              </a:r>
              <a:endParaRPr kumimoji="0" lang="en-US" altLang="en-US" sz="1000" b="0" i="0" u="none" strike="noStrike" cap="none" normalizeH="0" baseline="0" smtClean="0">
                <a:ln>
                  <a:noFill/>
                </a:ln>
                <a:solidFill>
                  <a:schemeClr val="tx1"/>
                </a:solidFill>
                <a:effectLst/>
                <a:cs typeface="Arial" panose="020B0604020202020204" pitchFamily="34" charset="0"/>
              </a:endParaRPr>
            </a:p>
          </p:txBody>
        </p:sp>
        <p:sp>
          <p:nvSpPr>
            <p:cNvPr id="13" name="Line 237"/>
            <p:cNvSpPr>
              <a:spLocks noChangeShapeType="1"/>
            </p:cNvSpPr>
            <p:nvPr/>
          </p:nvSpPr>
          <p:spPr bwMode="auto">
            <a:xfrm>
              <a:off x="3522663" y="4779963"/>
              <a:ext cx="0" cy="6350"/>
            </a:xfrm>
            <a:prstGeom prst="line">
              <a:avLst/>
            </a:prstGeom>
            <a:noFill/>
            <a:ln w="0">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sz="1000">
                <a:latin typeface="Arial" panose="020B0604020202020204" pitchFamily="34" charset="0"/>
                <a:cs typeface="Arial" panose="020B0604020202020204" pitchFamily="34" charset="0"/>
              </a:endParaRPr>
            </a:p>
          </p:txBody>
        </p:sp>
        <p:sp>
          <p:nvSpPr>
            <p:cNvPr id="14" name="Rectangle 238"/>
            <p:cNvSpPr>
              <a:spLocks noChangeArrowheads="1"/>
            </p:cNvSpPr>
            <p:nvPr/>
          </p:nvSpPr>
          <p:spPr bwMode="auto">
            <a:xfrm>
              <a:off x="3465513" y="4813301"/>
              <a:ext cx="141064" cy="15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smtClean="0">
                  <a:ln>
                    <a:noFill/>
                  </a:ln>
                  <a:solidFill>
                    <a:srgbClr val="000000"/>
                  </a:solidFill>
                  <a:effectLst/>
                  <a:cs typeface="Arial" panose="020B0604020202020204" pitchFamily="34" charset="0"/>
                </a:rPr>
                <a:t>10</a:t>
              </a:r>
              <a:endParaRPr kumimoji="0" lang="en-US" altLang="en-US" sz="1000" b="0" i="0" u="none" strike="noStrike" cap="none" normalizeH="0" baseline="0" smtClean="0">
                <a:ln>
                  <a:noFill/>
                </a:ln>
                <a:solidFill>
                  <a:schemeClr val="tx1"/>
                </a:solidFill>
                <a:effectLst/>
                <a:cs typeface="Arial" panose="020B0604020202020204" pitchFamily="34" charset="0"/>
              </a:endParaRPr>
            </a:p>
          </p:txBody>
        </p:sp>
        <p:sp>
          <p:nvSpPr>
            <p:cNvPr id="15" name="Line 239"/>
            <p:cNvSpPr>
              <a:spLocks noChangeShapeType="1"/>
            </p:cNvSpPr>
            <p:nvPr/>
          </p:nvSpPr>
          <p:spPr bwMode="auto">
            <a:xfrm flipH="1">
              <a:off x="2587626" y="4779963"/>
              <a:ext cx="6350" cy="0"/>
            </a:xfrm>
            <a:prstGeom prst="line">
              <a:avLst/>
            </a:prstGeom>
            <a:noFill/>
            <a:ln w="0">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sz="1000">
                <a:latin typeface="Arial" panose="020B0604020202020204" pitchFamily="34" charset="0"/>
                <a:cs typeface="Arial" panose="020B0604020202020204" pitchFamily="34" charset="0"/>
              </a:endParaRPr>
            </a:p>
          </p:txBody>
        </p:sp>
        <p:sp>
          <p:nvSpPr>
            <p:cNvPr id="16" name="Rectangle 240"/>
            <p:cNvSpPr>
              <a:spLocks noChangeArrowheads="1"/>
            </p:cNvSpPr>
            <p:nvPr/>
          </p:nvSpPr>
          <p:spPr bwMode="auto">
            <a:xfrm>
              <a:off x="2503723" y="4713288"/>
              <a:ext cx="67337" cy="1469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r"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smtClean="0">
                  <a:ln>
                    <a:noFill/>
                  </a:ln>
                  <a:solidFill>
                    <a:srgbClr val="000000"/>
                  </a:solidFill>
                  <a:effectLst/>
                  <a:cs typeface="Arial" panose="020B0604020202020204" pitchFamily="34" charset="0"/>
                </a:rPr>
                <a:t>0</a:t>
              </a:r>
              <a:endParaRPr kumimoji="0" lang="en-US" altLang="en-US" sz="1000" b="0" i="0" u="none" strike="noStrike" cap="none" normalizeH="0" baseline="0" smtClean="0">
                <a:ln>
                  <a:noFill/>
                </a:ln>
                <a:solidFill>
                  <a:schemeClr val="tx1"/>
                </a:solidFill>
                <a:effectLst/>
                <a:cs typeface="Arial" panose="020B0604020202020204" pitchFamily="34" charset="0"/>
              </a:endParaRPr>
            </a:p>
          </p:txBody>
        </p:sp>
        <p:sp>
          <p:nvSpPr>
            <p:cNvPr id="17" name="Line 241"/>
            <p:cNvSpPr>
              <a:spLocks noChangeShapeType="1"/>
            </p:cNvSpPr>
            <p:nvPr/>
          </p:nvSpPr>
          <p:spPr bwMode="auto">
            <a:xfrm flipH="1">
              <a:off x="2587626" y="4295776"/>
              <a:ext cx="6350" cy="0"/>
            </a:xfrm>
            <a:prstGeom prst="line">
              <a:avLst/>
            </a:prstGeom>
            <a:noFill/>
            <a:ln w="0">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sz="1000">
                <a:latin typeface="Arial" panose="020B0604020202020204" pitchFamily="34" charset="0"/>
                <a:cs typeface="Arial" panose="020B0604020202020204" pitchFamily="34" charset="0"/>
              </a:endParaRPr>
            </a:p>
          </p:txBody>
        </p:sp>
        <p:sp>
          <p:nvSpPr>
            <p:cNvPr id="18" name="Rectangle 242"/>
            <p:cNvSpPr>
              <a:spLocks noChangeArrowheads="1"/>
            </p:cNvSpPr>
            <p:nvPr/>
          </p:nvSpPr>
          <p:spPr bwMode="auto">
            <a:xfrm>
              <a:off x="2503723" y="4230688"/>
              <a:ext cx="67337" cy="1469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r"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smtClean="0">
                  <a:ln>
                    <a:noFill/>
                  </a:ln>
                  <a:solidFill>
                    <a:srgbClr val="000000"/>
                  </a:solidFill>
                  <a:effectLst/>
                  <a:cs typeface="Arial" panose="020B0604020202020204" pitchFamily="34" charset="0"/>
                </a:rPr>
                <a:t>5</a:t>
              </a:r>
              <a:endParaRPr kumimoji="0" lang="en-US" altLang="en-US" sz="1000" b="0" i="0" u="none" strike="noStrike" cap="none" normalizeH="0" baseline="0" smtClean="0">
                <a:ln>
                  <a:noFill/>
                </a:ln>
                <a:solidFill>
                  <a:schemeClr val="tx1"/>
                </a:solidFill>
                <a:effectLst/>
                <a:cs typeface="Arial" panose="020B0604020202020204" pitchFamily="34" charset="0"/>
              </a:endParaRPr>
            </a:p>
          </p:txBody>
        </p:sp>
        <p:sp>
          <p:nvSpPr>
            <p:cNvPr id="19" name="Line 243"/>
            <p:cNvSpPr>
              <a:spLocks noChangeShapeType="1"/>
            </p:cNvSpPr>
            <p:nvPr/>
          </p:nvSpPr>
          <p:spPr bwMode="auto">
            <a:xfrm flipH="1">
              <a:off x="2587626" y="3813176"/>
              <a:ext cx="6350" cy="0"/>
            </a:xfrm>
            <a:prstGeom prst="line">
              <a:avLst/>
            </a:prstGeom>
            <a:noFill/>
            <a:ln w="0">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sz="1000">
                <a:latin typeface="Arial" panose="020B0604020202020204" pitchFamily="34" charset="0"/>
                <a:cs typeface="Arial" panose="020B0604020202020204" pitchFamily="34" charset="0"/>
              </a:endParaRPr>
            </a:p>
          </p:txBody>
        </p:sp>
        <p:sp>
          <p:nvSpPr>
            <p:cNvPr id="20" name="Rectangle 244"/>
            <p:cNvSpPr>
              <a:spLocks noChangeArrowheads="1"/>
            </p:cNvSpPr>
            <p:nvPr/>
          </p:nvSpPr>
          <p:spPr bwMode="auto">
            <a:xfrm>
              <a:off x="2436386" y="3746501"/>
              <a:ext cx="134675" cy="1469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r"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smtClean="0">
                  <a:ln>
                    <a:noFill/>
                  </a:ln>
                  <a:solidFill>
                    <a:srgbClr val="000000"/>
                  </a:solidFill>
                  <a:effectLst/>
                  <a:cs typeface="Arial" panose="020B0604020202020204" pitchFamily="34" charset="0"/>
                </a:rPr>
                <a:t>10</a:t>
              </a:r>
              <a:endParaRPr kumimoji="0" lang="en-US" altLang="en-US" sz="1000" b="0" i="0" u="none" strike="noStrike" cap="none" normalizeH="0" baseline="0" dirty="0" smtClean="0">
                <a:ln>
                  <a:noFill/>
                </a:ln>
                <a:solidFill>
                  <a:schemeClr val="tx1"/>
                </a:solidFill>
                <a:effectLst/>
                <a:cs typeface="Arial" panose="020B0604020202020204" pitchFamily="34" charset="0"/>
              </a:endParaRPr>
            </a:p>
          </p:txBody>
        </p:sp>
        <p:sp>
          <p:nvSpPr>
            <p:cNvPr id="21" name="Line 245"/>
            <p:cNvSpPr>
              <a:spLocks noChangeShapeType="1"/>
            </p:cNvSpPr>
            <p:nvPr/>
          </p:nvSpPr>
          <p:spPr bwMode="auto">
            <a:xfrm flipV="1">
              <a:off x="2593976" y="3813176"/>
              <a:ext cx="928688" cy="966788"/>
            </a:xfrm>
            <a:prstGeom prst="line">
              <a:avLst/>
            </a:prstGeom>
            <a:noFill/>
            <a:ln w="0">
              <a:solidFill>
                <a:srgbClr val="000000"/>
              </a:solidFill>
              <a:prstDash val="sysDot"/>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sz="1000">
                <a:latin typeface="Arial" panose="020B0604020202020204" pitchFamily="34" charset="0"/>
                <a:cs typeface="Arial" panose="020B0604020202020204" pitchFamily="34" charset="0"/>
              </a:endParaRPr>
            </a:p>
          </p:txBody>
        </p:sp>
        <p:sp>
          <p:nvSpPr>
            <p:cNvPr id="22" name="Oval 246"/>
            <p:cNvSpPr>
              <a:spLocks noChangeArrowheads="1"/>
            </p:cNvSpPr>
            <p:nvPr/>
          </p:nvSpPr>
          <p:spPr bwMode="auto">
            <a:xfrm>
              <a:off x="2932113" y="4356101"/>
              <a:ext cx="63500" cy="66675"/>
            </a:xfrm>
            <a:prstGeom prst="ellipse">
              <a:avLst/>
            </a:prstGeom>
            <a:noFill/>
            <a:ln w="0">
              <a:solidFill>
                <a:srgbClr val="00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sz="1000">
                <a:latin typeface="Arial" panose="020B0604020202020204" pitchFamily="34" charset="0"/>
                <a:cs typeface="Arial" panose="020B0604020202020204" pitchFamily="34" charset="0"/>
              </a:endParaRPr>
            </a:p>
          </p:txBody>
        </p:sp>
        <p:sp>
          <p:nvSpPr>
            <p:cNvPr id="23" name="Oval 247"/>
            <p:cNvSpPr>
              <a:spLocks noChangeArrowheads="1"/>
            </p:cNvSpPr>
            <p:nvPr/>
          </p:nvSpPr>
          <p:spPr bwMode="auto">
            <a:xfrm>
              <a:off x="3027363" y="4262438"/>
              <a:ext cx="63500" cy="66675"/>
            </a:xfrm>
            <a:prstGeom prst="ellipse">
              <a:avLst/>
            </a:prstGeom>
            <a:noFill/>
            <a:ln w="0">
              <a:solidFill>
                <a:srgbClr val="00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sz="1000">
                <a:latin typeface="Arial" panose="020B0604020202020204" pitchFamily="34" charset="0"/>
                <a:cs typeface="Arial" panose="020B0604020202020204" pitchFamily="34" charset="0"/>
              </a:endParaRPr>
            </a:p>
          </p:txBody>
        </p:sp>
        <p:sp>
          <p:nvSpPr>
            <p:cNvPr id="24" name="Oval 248"/>
            <p:cNvSpPr>
              <a:spLocks noChangeArrowheads="1"/>
            </p:cNvSpPr>
            <p:nvPr/>
          </p:nvSpPr>
          <p:spPr bwMode="auto">
            <a:xfrm>
              <a:off x="3122613" y="4164013"/>
              <a:ext cx="63500" cy="66675"/>
            </a:xfrm>
            <a:prstGeom prst="ellipse">
              <a:avLst/>
            </a:prstGeom>
            <a:noFill/>
            <a:ln w="0">
              <a:solidFill>
                <a:srgbClr val="00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sz="1000">
                <a:latin typeface="Arial" panose="020B0604020202020204" pitchFamily="34" charset="0"/>
                <a:cs typeface="Arial" panose="020B0604020202020204" pitchFamily="34" charset="0"/>
              </a:endParaRPr>
            </a:p>
          </p:txBody>
        </p:sp>
        <p:sp>
          <p:nvSpPr>
            <p:cNvPr id="25" name="Oval 249"/>
            <p:cNvSpPr>
              <a:spLocks noChangeArrowheads="1"/>
            </p:cNvSpPr>
            <p:nvPr/>
          </p:nvSpPr>
          <p:spPr bwMode="auto">
            <a:xfrm>
              <a:off x="3211513" y="4064001"/>
              <a:ext cx="63500" cy="66675"/>
            </a:xfrm>
            <a:prstGeom prst="ellipse">
              <a:avLst/>
            </a:prstGeom>
            <a:noFill/>
            <a:ln w="0">
              <a:solidFill>
                <a:srgbClr val="00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sz="1000">
                <a:latin typeface="Arial" panose="020B0604020202020204" pitchFamily="34" charset="0"/>
                <a:cs typeface="Arial" panose="020B0604020202020204" pitchFamily="34" charset="0"/>
              </a:endParaRPr>
            </a:p>
          </p:txBody>
        </p:sp>
        <p:sp>
          <p:nvSpPr>
            <p:cNvPr id="26" name="Oval 250"/>
            <p:cNvSpPr>
              <a:spLocks noChangeArrowheads="1"/>
            </p:cNvSpPr>
            <p:nvPr/>
          </p:nvSpPr>
          <p:spPr bwMode="auto">
            <a:xfrm>
              <a:off x="3306763" y="3971926"/>
              <a:ext cx="63500" cy="66675"/>
            </a:xfrm>
            <a:prstGeom prst="ellipse">
              <a:avLst/>
            </a:prstGeom>
            <a:noFill/>
            <a:ln w="0">
              <a:solidFill>
                <a:srgbClr val="00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sz="1000">
                <a:latin typeface="Arial" panose="020B0604020202020204" pitchFamily="34" charset="0"/>
                <a:cs typeface="Arial" panose="020B0604020202020204" pitchFamily="34" charset="0"/>
              </a:endParaRPr>
            </a:p>
          </p:txBody>
        </p:sp>
        <p:sp>
          <p:nvSpPr>
            <p:cNvPr id="27" name="Oval 251"/>
            <p:cNvSpPr>
              <a:spLocks noChangeArrowheads="1"/>
            </p:cNvSpPr>
            <p:nvPr/>
          </p:nvSpPr>
          <p:spPr bwMode="auto">
            <a:xfrm>
              <a:off x="3395663" y="3871913"/>
              <a:ext cx="63500" cy="66675"/>
            </a:xfrm>
            <a:prstGeom prst="ellipse">
              <a:avLst/>
            </a:prstGeom>
            <a:noFill/>
            <a:ln w="0">
              <a:solidFill>
                <a:srgbClr val="00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sz="1000">
                <a:latin typeface="Arial" panose="020B0604020202020204" pitchFamily="34" charset="0"/>
                <a:cs typeface="Arial" panose="020B0604020202020204" pitchFamily="34" charset="0"/>
              </a:endParaRPr>
            </a:p>
          </p:txBody>
        </p:sp>
        <p:sp>
          <p:nvSpPr>
            <p:cNvPr id="28" name="Oval 252"/>
            <p:cNvSpPr>
              <a:spLocks noChangeArrowheads="1"/>
            </p:cNvSpPr>
            <p:nvPr/>
          </p:nvSpPr>
          <p:spPr bwMode="auto">
            <a:xfrm>
              <a:off x="2932113" y="4356101"/>
              <a:ext cx="63500" cy="66675"/>
            </a:xfrm>
            <a:prstGeom prst="ellipse">
              <a:avLst/>
            </a:prstGeom>
            <a:noFill/>
            <a:ln w="0">
              <a:solidFill>
                <a:srgbClr val="00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sz="1000">
                <a:latin typeface="Arial" panose="020B0604020202020204" pitchFamily="34" charset="0"/>
                <a:cs typeface="Arial" panose="020B0604020202020204" pitchFamily="34" charset="0"/>
              </a:endParaRPr>
            </a:p>
          </p:txBody>
        </p:sp>
        <p:sp>
          <p:nvSpPr>
            <p:cNvPr id="29" name="Oval 253"/>
            <p:cNvSpPr>
              <a:spLocks noChangeArrowheads="1"/>
            </p:cNvSpPr>
            <p:nvPr/>
          </p:nvSpPr>
          <p:spPr bwMode="auto">
            <a:xfrm>
              <a:off x="3027363" y="4262438"/>
              <a:ext cx="63500" cy="66675"/>
            </a:xfrm>
            <a:prstGeom prst="ellipse">
              <a:avLst/>
            </a:prstGeom>
            <a:noFill/>
            <a:ln w="0">
              <a:solidFill>
                <a:srgbClr val="00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sz="1000">
                <a:latin typeface="Arial" panose="020B0604020202020204" pitchFamily="34" charset="0"/>
                <a:cs typeface="Arial" panose="020B0604020202020204" pitchFamily="34" charset="0"/>
              </a:endParaRPr>
            </a:p>
          </p:txBody>
        </p:sp>
        <p:sp>
          <p:nvSpPr>
            <p:cNvPr id="30" name="Oval 254"/>
            <p:cNvSpPr>
              <a:spLocks noChangeArrowheads="1"/>
            </p:cNvSpPr>
            <p:nvPr/>
          </p:nvSpPr>
          <p:spPr bwMode="auto">
            <a:xfrm>
              <a:off x="3122613" y="4164013"/>
              <a:ext cx="63500" cy="66675"/>
            </a:xfrm>
            <a:prstGeom prst="ellipse">
              <a:avLst/>
            </a:prstGeom>
            <a:noFill/>
            <a:ln w="0">
              <a:solidFill>
                <a:srgbClr val="00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sz="1000">
                <a:latin typeface="Arial" panose="020B0604020202020204" pitchFamily="34" charset="0"/>
                <a:cs typeface="Arial" panose="020B0604020202020204" pitchFamily="34" charset="0"/>
              </a:endParaRPr>
            </a:p>
          </p:txBody>
        </p:sp>
        <p:sp>
          <p:nvSpPr>
            <p:cNvPr id="31" name="Oval 255"/>
            <p:cNvSpPr>
              <a:spLocks noChangeArrowheads="1"/>
            </p:cNvSpPr>
            <p:nvPr/>
          </p:nvSpPr>
          <p:spPr bwMode="auto">
            <a:xfrm>
              <a:off x="3211513" y="4064001"/>
              <a:ext cx="63500" cy="66675"/>
            </a:xfrm>
            <a:prstGeom prst="ellipse">
              <a:avLst/>
            </a:prstGeom>
            <a:noFill/>
            <a:ln w="0">
              <a:solidFill>
                <a:srgbClr val="00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sz="1000">
                <a:latin typeface="Arial" panose="020B0604020202020204" pitchFamily="34" charset="0"/>
                <a:cs typeface="Arial" panose="020B0604020202020204" pitchFamily="34" charset="0"/>
              </a:endParaRPr>
            </a:p>
          </p:txBody>
        </p:sp>
        <p:sp>
          <p:nvSpPr>
            <p:cNvPr id="32" name="Oval 256"/>
            <p:cNvSpPr>
              <a:spLocks noChangeArrowheads="1"/>
            </p:cNvSpPr>
            <p:nvPr/>
          </p:nvSpPr>
          <p:spPr bwMode="auto">
            <a:xfrm>
              <a:off x="3306763" y="3971926"/>
              <a:ext cx="63500" cy="66675"/>
            </a:xfrm>
            <a:prstGeom prst="ellipse">
              <a:avLst/>
            </a:prstGeom>
            <a:noFill/>
            <a:ln w="0">
              <a:solidFill>
                <a:srgbClr val="00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sz="1000">
                <a:latin typeface="Arial" panose="020B0604020202020204" pitchFamily="34" charset="0"/>
                <a:cs typeface="Arial" panose="020B0604020202020204" pitchFamily="34" charset="0"/>
              </a:endParaRPr>
            </a:p>
          </p:txBody>
        </p:sp>
        <p:sp>
          <p:nvSpPr>
            <p:cNvPr id="33" name="Oval 257"/>
            <p:cNvSpPr>
              <a:spLocks noChangeArrowheads="1"/>
            </p:cNvSpPr>
            <p:nvPr/>
          </p:nvSpPr>
          <p:spPr bwMode="auto">
            <a:xfrm>
              <a:off x="3395663" y="3871913"/>
              <a:ext cx="63500" cy="66675"/>
            </a:xfrm>
            <a:prstGeom prst="ellipse">
              <a:avLst/>
            </a:prstGeom>
            <a:noFill/>
            <a:ln w="0">
              <a:solidFill>
                <a:srgbClr val="00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sz="1000">
                <a:latin typeface="Arial" panose="020B0604020202020204" pitchFamily="34" charset="0"/>
                <a:cs typeface="Arial" panose="020B0604020202020204" pitchFamily="34" charset="0"/>
              </a:endParaRPr>
            </a:p>
          </p:txBody>
        </p:sp>
        <p:sp>
          <p:nvSpPr>
            <p:cNvPr id="34" name="Oval 258"/>
            <p:cNvSpPr>
              <a:spLocks noChangeArrowheads="1"/>
            </p:cNvSpPr>
            <p:nvPr/>
          </p:nvSpPr>
          <p:spPr bwMode="auto">
            <a:xfrm>
              <a:off x="2932113" y="4356101"/>
              <a:ext cx="63500" cy="66675"/>
            </a:xfrm>
            <a:prstGeom prst="ellipse">
              <a:avLst/>
            </a:prstGeom>
            <a:noFill/>
            <a:ln w="0">
              <a:solidFill>
                <a:srgbClr val="00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sz="1000">
                <a:latin typeface="Arial" panose="020B0604020202020204" pitchFamily="34" charset="0"/>
                <a:cs typeface="Arial" panose="020B0604020202020204" pitchFamily="34" charset="0"/>
              </a:endParaRPr>
            </a:p>
          </p:txBody>
        </p:sp>
        <p:sp>
          <p:nvSpPr>
            <p:cNvPr id="35" name="Oval 259"/>
            <p:cNvSpPr>
              <a:spLocks noChangeArrowheads="1"/>
            </p:cNvSpPr>
            <p:nvPr/>
          </p:nvSpPr>
          <p:spPr bwMode="auto">
            <a:xfrm>
              <a:off x="3027363" y="4262438"/>
              <a:ext cx="63500" cy="66675"/>
            </a:xfrm>
            <a:prstGeom prst="ellipse">
              <a:avLst/>
            </a:prstGeom>
            <a:noFill/>
            <a:ln w="0">
              <a:solidFill>
                <a:srgbClr val="00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sz="1000">
                <a:latin typeface="Arial" panose="020B0604020202020204" pitchFamily="34" charset="0"/>
                <a:cs typeface="Arial" panose="020B0604020202020204" pitchFamily="34" charset="0"/>
              </a:endParaRPr>
            </a:p>
          </p:txBody>
        </p:sp>
        <p:sp>
          <p:nvSpPr>
            <p:cNvPr id="36" name="Oval 260"/>
            <p:cNvSpPr>
              <a:spLocks noChangeArrowheads="1"/>
            </p:cNvSpPr>
            <p:nvPr/>
          </p:nvSpPr>
          <p:spPr bwMode="auto">
            <a:xfrm>
              <a:off x="3122613" y="4164013"/>
              <a:ext cx="63500" cy="66675"/>
            </a:xfrm>
            <a:prstGeom prst="ellipse">
              <a:avLst/>
            </a:prstGeom>
            <a:noFill/>
            <a:ln w="0">
              <a:solidFill>
                <a:srgbClr val="00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sz="1000">
                <a:latin typeface="Arial" panose="020B0604020202020204" pitchFamily="34" charset="0"/>
                <a:cs typeface="Arial" panose="020B0604020202020204" pitchFamily="34" charset="0"/>
              </a:endParaRPr>
            </a:p>
          </p:txBody>
        </p:sp>
        <p:sp>
          <p:nvSpPr>
            <p:cNvPr id="37" name="Oval 261"/>
            <p:cNvSpPr>
              <a:spLocks noChangeArrowheads="1"/>
            </p:cNvSpPr>
            <p:nvPr/>
          </p:nvSpPr>
          <p:spPr bwMode="auto">
            <a:xfrm>
              <a:off x="3211513" y="4064001"/>
              <a:ext cx="63500" cy="66675"/>
            </a:xfrm>
            <a:prstGeom prst="ellipse">
              <a:avLst/>
            </a:prstGeom>
            <a:noFill/>
            <a:ln w="0">
              <a:solidFill>
                <a:srgbClr val="00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sz="1000">
                <a:latin typeface="Arial" panose="020B0604020202020204" pitchFamily="34" charset="0"/>
                <a:cs typeface="Arial" panose="020B0604020202020204" pitchFamily="34" charset="0"/>
              </a:endParaRPr>
            </a:p>
          </p:txBody>
        </p:sp>
        <p:sp>
          <p:nvSpPr>
            <p:cNvPr id="38" name="Oval 262"/>
            <p:cNvSpPr>
              <a:spLocks noChangeArrowheads="1"/>
            </p:cNvSpPr>
            <p:nvPr/>
          </p:nvSpPr>
          <p:spPr bwMode="auto">
            <a:xfrm>
              <a:off x="3306763" y="3971926"/>
              <a:ext cx="63500" cy="66675"/>
            </a:xfrm>
            <a:prstGeom prst="ellipse">
              <a:avLst/>
            </a:prstGeom>
            <a:noFill/>
            <a:ln w="0">
              <a:solidFill>
                <a:srgbClr val="00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sz="1000">
                <a:latin typeface="Arial" panose="020B0604020202020204" pitchFamily="34" charset="0"/>
                <a:cs typeface="Arial" panose="020B0604020202020204" pitchFamily="34" charset="0"/>
              </a:endParaRPr>
            </a:p>
          </p:txBody>
        </p:sp>
        <p:sp>
          <p:nvSpPr>
            <p:cNvPr id="39" name="Oval 263"/>
            <p:cNvSpPr>
              <a:spLocks noChangeArrowheads="1"/>
            </p:cNvSpPr>
            <p:nvPr/>
          </p:nvSpPr>
          <p:spPr bwMode="auto">
            <a:xfrm>
              <a:off x="3395663" y="3871913"/>
              <a:ext cx="63500" cy="66675"/>
            </a:xfrm>
            <a:prstGeom prst="ellipse">
              <a:avLst/>
            </a:prstGeom>
            <a:noFill/>
            <a:ln w="0">
              <a:solidFill>
                <a:srgbClr val="00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sz="1000">
                <a:latin typeface="Arial" panose="020B0604020202020204" pitchFamily="34" charset="0"/>
                <a:cs typeface="Arial" panose="020B0604020202020204" pitchFamily="34" charset="0"/>
              </a:endParaRPr>
            </a:p>
          </p:txBody>
        </p:sp>
        <p:sp>
          <p:nvSpPr>
            <p:cNvPr id="40" name="Oval 264"/>
            <p:cNvSpPr>
              <a:spLocks noChangeArrowheads="1"/>
            </p:cNvSpPr>
            <p:nvPr/>
          </p:nvSpPr>
          <p:spPr bwMode="auto">
            <a:xfrm>
              <a:off x="2932113" y="4356101"/>
              <a:ext cx="63500" cy="66675"/>
            </a:xfrm>
            <a:prstGeom prst="ellipse">
              <a:avLst/>
            </a:prstGeom>
            <a:noFill/>
            <a:ln w="0">
              <a:solidFill>
                <a:srgbClr val="00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sz="1000">
                <a:latin typeface="Arial" panose="020B0604020202020204" pitchFamily="34" charset="0"/>
                <a:cs typeface="Arial" panose="020B0604020202020204" pitchFamily="34" charset="0"/>
              </a:endParaRPr>
            </a:p>
          </p:txBody>
        </p:sp>
        <p:sp>
          <p:nvSpPr>
            <p:cNvPr id="41" name="Oval 265"/>
            <p:cNvSpPr>
              <a:spLocks noChangeArrowheads="1"/>
            </p:cNvSpPr>
            <p:nvPr/>
          </p:nvSpPr>
          <p:spPr bwMode="auto">
            <a:xfrm>
              <a:off x="3027363" y="4262438"/>
              <a:ext cx="63500" cy="66675"/>
            </a:xfrm>
            <a:prstGeom prst="ellipse">
              <a:avLst/>
            </a:prstGeom>
            <a:noFill/>
            <a:ln w="0">
              <a:solidFill>
                <a:srgbClr val="00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sz="1000">
                <a:latin typeface="Arial" panose="020B0604020202020204" pitchFamily="34" charset="0"/>
                <a:cs typeface="Arial" panose="020B0604020202020204" pitchFamily="34" charset="0"/>
              </a:endParaRPr>
            </a:p>
          </p:txBody>
        </p:sp>
        <p:sp>
          <p:nvSpPr>
            <p:cNvPr id="42" name="Oval 266"/>
            <p:cNvSpPr>
              <a:spLocks noChangeArrowheads="1"/>
            </p:cNvSpPr>
            <p:nvPr/>
          </p:nvSpPr>
          <p:spPr bwMode="auto">
            <a:xfrm>
              <a:off x="3122613" y="4164013"/>
              <a:ext cx="63500" cy="66675"/>
            </a:xfrm>
            <a:prstGeom prst="ellipse">
              <a:avLst/>
            </a:prstGeom>
            <a:noFill/>
            <a:ln w="0">
              <a:solidFill>
                <a:srgbClr val="00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sz="1000">
                <a:latin typeface="Arial" panose="020B0604020202020204" pitchFamily="34" charset="0"/>
                <a:cs typeface="Arial" panose="020B0604020202020204" pitchFamily="34" charset="0"/>
              </a:endParaRPr>
            </a:p>
          </p:txBody>
        </p:sp>
        <p:sp>
          <p:nvSpPr>
            <p:cNvPr id="43" name="Oval 267"/>
            <p:cNvSpPr>
              <a:spLocks noChangeArrowheads="1"/>
            </p:cNvSpPr>
            <p:nvPr/>
          </p:nvSpPr>
          <p:spPr bwMode="auto">
            <a:xfrm>
              <a:off x="3211513" y="4064001"/>
              <a:ext cx="63500" cy="66675"/>
            </a:xfrm>
            <a:prstGeom prst="ellipse">
              <a:avLst/>
            </a:prstGeom>
            <a:noFill/>
            <a:ln w="0">
              <a:solidFill>
                <a:srgbClr val="00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sz="1000">
                <a:latin typeface="Arial" panose="020B0604020202020204" pitchFamily="34" charset="0"/>
                <a:cs typeface="Arial" panose="020B0604020202020204" pitchFamily="34" charset="0"/>
              </a:endParaRPr>
            </a:p>
          </p:txBody>
        </p:sp>
        <p:sp>
          <p:nvSpPr>
            <p:cNvPr id="44" name="Oval 268"/>
            <p:cNvSpPr>
              <a:spLocks noChangeArrowheads="1"/>
            </p:cNvSpPr>
            <p:nvPr/>
          </p:nvSpPr>
          <p:spPr bwMode="auto">
            <a:xfrm>
              <a:off x="3306763" y="3971926"/>
              <a:ext cx="63500" cy="66675"/>
            </a:xfrm>
            <a:prstGeom prst="ellipse">
              <a:avLst/>
            </a:prstGeom>
            <a:noFill/>
            <a:ln w="0">
              <a:solidFill>
                <a:srgbClr val="00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sz="1000">
                <a:latin typeface="Arial" panose="020B0604020202020204" pitchFamily="34" charset="0"/>
                <a:cs typeface="Arial" panose="020B0604020202020204" pitchFamily="34" charset="0"/>
              </a:endParaRPr>
            </a:p>
          </p:txBody>
        </p:sp>
        <p:sp>
          <p:nvSpPr>
            <p:cNvPr id="45" name="Oval 269"/>
            <p:cNvSpPr>
              <a:spLocks noChangeArrowheads="1"/>
            </p:cNvSpPr>
            <p:nvPr/>
          </p:nvSpPr>
          <p:spPr bwMode="auto">
            <a:xfrm>
              <a:off x="3395663" y="3871913"/>
              <a:ext cx="63500" cy="66675"/>
            </a:xfrm>
            <a:prstGeom prst="ellipse">
              <a:avLst/>
            </a:prstGeom>
            <a:noFill/>
            <a:ln w="0">
              <a:solidFill>
                <a:srgbClr val="00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sz="1000">
                <a:latin typeface="Arial" panose="020B0604020202020204" pitchFamily="34" charset="0"/>
                <a:cs typeface="Arial" panose="020B0604020202020204" pitchFamily="34" charset="0"/>
              </a:endParaRPr>
            </a:p>
          </p:txBody>
        </p:sp>
        <p:sp>
          <p:nvSpPr>
            <p:cNvPr id="46" name="Oval 270"/>
            <p:cNvSpPr>
              <a:spLocks noChangeArrowheads="1"/>
            </p:cNvSpPr>
            <p:nvPr/>
          </p:nvSpPr>
          <p:spPr bwMode="auto">
            <a:xfrm>
              <a:off x="2932113" y="4356101"/>
              <a:ext cx="63500" cy="66675"/>
            </a:xfrm>
            <a:prstGeom prst="ellipse">
              <a:avLst/>
            </a:prstGeom>
            <a:noFill/>
            <a:ln w="0">
              <a:solidFill>
                <a:srgbClr val="00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sz="1000">
                <a:latin typeface="Arial" panose="020B0604020202020204" pitchFamily="34" charset="0"/>
                <a:cs typeface="Arial" panose="020B0604020202020204" pitchFamily="34" charset="0"/>
              </a:endParaRPr>
            </a:p>
          </p:txBody>
        </p:sp>
        <p:sp>
          <p:nvSpPr>
            <p:cNvPr id="47" name="Oval 271"/>
            <p:cNvSpPr>
              <a:spLocks noChangeArrowheads="1"/>
            </p:cNvSpPr>
            <p:nvPr/>
          </p:nvSpPr>
          <p:spPr bwMode="auto">
            <a:xfrm>
              <a:off x="3027363" y="4262438"/>
              <a:ext cx="63500" cy="66675"/>
            </a:xfrm>
            <a:prstGeom prst="ellipse">
              <a:avLst/>
            </a:prstGeom>
            <a:noFill/>
            <a:ln w="0">
              <a:solidFill>
                <a:srgbClr val="00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sz="1000">
                <a:latin typeface="Arial" panose="020B0604020202020204" pitchFamily="34" charset="0"/>
                <a:cs typeface="Arial" panose="020B0604020202020204" pitchFamily="34" charset="0"/>
              </a:endParaRPr>
            </a:p>
          </p:txBody>
        </p:sp>
        <p:sp>
          <p:nvSpPr>
            <p:cNvPr id="48" name="Oval 272"/>
            <p:cNvSpPr>
              <a:spLocks noChangeArrowheads="1"/>
            </p:cNvSpPr>
            <p:nvPr/>
          </p:nvSpPr>
          <p:spPr bwMode="auto">
            <a:xfrm>
              <a:off x="3122613" y="4164013"/>
              <a:ext cx="63500" cy="66675"/>
            </a:xfrm>
            <a:prstGeom prst="ellipse">
              <a:avLst/>
            </a:prstGeom>
            <a:noFill/>
            <a:ln w="0">
              <a:solidFill>
                <a:srgbClr val="00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sz="1000">
                <a:latin typeface="Arial" panose="020B0604020202020204" pitchFamily="34" charset="0"/>
                <a:cs typeface="Arial" panose="020B0604020202020204" pitchFamily="34" charset="0"/>
              </a:endParaRPr>
            </a:p>
          </p:txBody>
        </p:sp>
        <p:sp>
          <p:nvSpPr>
            <p:cNvPr id="49" name="Oval 273"/>
            <p:cNvSpPr>
              <a:spLocks noChangeArrowheads="1"/>
            </p:cNvSpPr>
            <p:nvPr/>
          </p:nvSpPr>
          <p:spPr bwMode="auto">
            <a:xfrm>
              <a:off x="3211513" y="4064001"/>
              <a:ext cx="63500" cy="66675"/>
            </a:xfrm>
            <a:prstGeom prst="ellipse">
              <a:avLst/>
            </a:prstGeom>
            <a:noFill/>
            <a:ln w="0">
              <a:solidFill>
                <a:srgbClr val="00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sz="1000">
                <a:latin typeface="Arial" panose="020B0604020202020204" pitchFamily="34" charset="0"/>
                <a:cs typeface="Arial" panose="020B0604020202020204" pitchFamily="34" charset="0"/>
              </a:endParaRPr>
            </a:p>
          </p:txBody>
        </p:sp>
        <p:sp>
          <p:nvSpPr>
            <p:cNvPr id="50" name="Oval 274"/>
            <p:cNvSpPr>
              <a:spLocks noChangeArrowheads="1"/>
            </p:cNvSpPr>
            <p:nvPr/>
          </p:nvSpPr>
          <p:spPr bwMode="auto">
            <a:xfrm>
              <a:off x="3306763" y="3971926"/>
              <a:ext cx="63500" cy="66675"/>
            </a:xfrm>
            <a:prstGeom prst="ellipse">
              <a:avLst/>
            </a:prstGeom>
            <a:noFill/>
            <a:ln w="0">
              <a:solidFill>
                <a:srgbClr val="00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sz="1000">
                <a:latin typeface="Arial" panose="020B0604020202020204" pitchFamily="34" charset="0"/>
                <a:cs typeface="Arial" panose="020B0604020202020204" pitchFamily="34" charset="0"/>
              </a:endParaRPr>
            </a:p>
          </p:txBody>
        </p:sp>
        <p:sp>
          <p:nvSpPr>
            <p:cNvPr id="51" name="Oval 275"/>
            <p:cNvSpPr>
              <a:spLocks noChangeArrowheads="1"/>
            </p:cNvSpPr>
            <p:nvPr/>
          </p:nvSpPr>
          <p:spPr bwMode="auto">
            <a:xfrm>
              <a:off x="3395663" y="3871913"/>
              <a:ext cx="63500" cy="66675"/>
            </a:xfrm>
            <a:prstGeom prst="ellipse">
              <a:avLst/>
            </a:prstGeom>
            <a:noFill/>
            <a:ln w="0">
              <a:solidFill>
                <a:srgbClr val="00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sz="1000">
                <a:latin typeface="Arial" panose="020B0604020202020204" pitchFamily="34" charset="0"/>
                <a:cs typeface="Arial" panose="020B0604020202020204" pitchFamily="34" charset="0"/>
              </a:endParaRPr>
            </a:p>
          </p:txBody>
        </p:sp>
        <p:sp>
          <p:nvSpPr>
            <p:cNvPr id="52" name="Oval 276"/>
            <p:cNvSpPr>
              <a:spLocks noChangeArrowheads="1"/>
            </p:cNvSpPr>
            <p:nvPr/>
          </p:nvSpPr>
          <p:spPr bwMode="auto">
            <a:xfrm>
              <a:off x="2932113" y="4356101"/>
              <a:ext cx="63500" cy="66675"/>
            </a:xfrm>
            <a:prstGeom prst="ellipse">
              <a:avLst/>
            </a:prstGeom>
            <a:noFill/>
            <a:ln w="0">
              <a:solidFill>
                <a:srgbClr val="00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sz="1000">
                <a:latin typeface="Arial" panose="020B0604020202020204" pitchFamily="34" charset="0"/>
                <a:cs typeface="Arial" panose="020B0604020202020204" pitchFamily="34" charset="0"/>
              </a:endParaRPr>
            </a:p>
          </p:txBody>
        </p:sp>
        <p:sp>
          <p:nvSpPr>
            <p:cNvPr id="53" name="Oval 277"/>
            <p:cNvSpPr>
              <a:spLocks noChangeArrowheads="1"/>
            </p:cNvSpPr>
            <p:nvPr/>
          </p:nvSpPr>
          <p:spPr bwMode="auto">
            <a:xfrm>
              <a:off x="3027363" y="4262438"/>
              <a:ext cx="63500" cy="66675"/>
            </a:xfrm>
            <a:prstGeom prst="ellipse">
              <a:avLst/>
            </a:prstGeom>
            <a:noFill/>
            <a:ln w="0">
              <a:solidFill>
                <a:srgbClr val="00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sz="1000">
                <a:latin typeface="Arial" panose="020B0604020202020204" pitchFamily="34" charset="0"/>
                <a:cs typeface="Arial" panose="020B0604020202020204" pitchFamily="34" charset="0"/>
              </a:endParaRPr>
            </a:p>
          </p:txBody>
        </p:sp>
        <p:sp>
          <p:nvSpPr>
            <p:cNvPr id="54" name="Oval 278"/>
            <p:cNvSpPr>
              <a:spLocks noChangeArrowheads="1"/>
            </p:cNvSpPr>
            <p:nvPr/>
          </p:nvSpPr>
          <p:spPr bwMode="auto">
            <a:xfrm>
              <a:off x="3122613" y="4164013"/>
              <a:ext cx="63500" cy="66675"/>
            </a:xfrm>
            <a:prstGeom prst="ellipse">
              <a:avLst/>
            </a:prstGeom>
            <a:noFill/>
            <a:ln w="0">
              <a:solidFill>
                <a:srgbClr val="00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sz="1000">
                <a:latin typeface="Arial" panose="020B0604020202020204" pitchFamily="34" charset="0"/>
                <a:cs typeface="Arial" panose="020B0604020202020204" pitchFamily="34" charset="0"/>
              </a:endParaRPr>
            </a:p>
          </p:txBody>
        </p:sp>
        <p:sp>
          <p:nvSpPr>
            <p:cNvPr id="55" name="Oval 279"/>
            <p:cNvSpPr>
              <a:spLocks noChangeArrowheads="1"/>
            </p:cNvSpPr>
            <p:nvPr/>
          </p:nvSpPr>
          <p:spPr bwMode="auto">
            <a:xfrm>
              <a:off x="3211513" y="4064001"/>
              <a:ext cx="63500" cy="66675"/>
            </a:xfrm>
            <a:prstGeom prst="ellipse">
              <a:avLst/>
            </a:prstGeom>
            <a:noFill/>
            <a:ln w="0">
              <a:solidFill>
                <a:srgbClr val="00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sz="1000">
                <a:latin typeface="Arial" panose="020B0604020202020204" pitchFamily="34" charset="0"/>
                <a:cs typeface="Arial" panose="020B0604020202020204" pitchFamily="34" charset="0"/>
              </a:endParaRPr>
            </a:p>
          </p:txBody>
        </p:sp>
        <p:sp>
          <p:nvSpPr>
            <p:cNvPr id="56" name="Oval 280"/>
            <p:cNvSpPr>
              <a:spLocks noChangeArrowheads="1"/>
            </p:cNvSpPr>
            <p:nvPr/>
          </p:nvSpPr>
          <p:spPr bwMode="auto">
            <a:xfrm>
              <a:off x="3306763" y="3971926"/>
              <a:ext cx="63500" cy="66675"/>
            </a:xfrm>
            <a:prstGeom prst="ellipse">
              <a:avLst/>
            </a:prstGeom>
            <a:noFill/>
            <a:ln w="0">
              <a:solidFill>
                <a:srgbClr val="00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sz="1000">
                <a:latin typeface="Arial" panose="020B0604020202020204" pitchFamily="34" charset="0"/>
                <a:cs typeface="Arial" panose="020B0604020202020204" pitchFamily="34" charset="0"/>
              </a:endParaRPr>
            </a:p>
          </p:txBody>
        </p:sp>
        <p:sp>
          <p:nvSpPr>
            <p:cNvPr id="57" name="Oval 281"/>
            <p:cNvSpPr>
              <a:spLocks noChangeArrowheads="1"/>
            </p:cNvSpPr>
            <p:nvPr/>
          </p:nvSpPr>
          <p:spPr bwMode="auto">
            <a:xfrm>
              <a:off x="3395663" y="3871913"/>
              <a:ext cx="63500" cy="66675"/>
            </a:xfrm>
            <a:prstGeom prst="ellipse">
              <a:avLst/>
            </a:prstGeom>
            <a:noFill/>
            <a:ln w="0">
              <a:solidFill>
                <a:srgbClr val="00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sz="1000">
                <a:latin typeface="Arial" panose="020B0604020202020204" pitchFamily="34" charset="0"/>
                <a:cs typeface="Arial" panose="020B0604020202020204" pitchFamily="34" charset="0"/>
              </a:endParaRPr>
            </a:p>
          </p:txBody>
        </p:sp>
        <p:sp>
          <p:nvSpPr>
            <p:cNvPr id="58" name="Oval 282"/>
            <p:cNvSpPr>
              <a:spLocks noChangeArrowheads="1"/>
            </p:cNvSpPr>
            <p:nvPr/>
          </p:nvSpPr>
          <p:spPr bwMode="auto">
            <a:xfrm>
              <a:off x="2932113" y="4356101"/>
              <a:ext cx="63500" cy="66675"/>
            </a:xfrm>
            <a:prstGeom prst="ellipse">
              <a:avLst/>
            </a:prstGeom>
            <a:noFill/>
            <a:ln w="0">
              <a:solidFill>
                <a:srgbClr val="00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sz="1000">
                <a:latin typeface="Arial" panose="020B0604020202020204" pitchFamily="34" charset="0"/>
                <a:cs typeface="Arial" panose="020B0604020202020204" pitchFamily="34" charset="0"/>
              </a:endParaRPr>
            </a:p>
          </p:txBody>
        </p:sp>
        <p:sp>
          <p:nvSpPr>
            <p:cNvPr id="59" name="Oval 283"/>
            <p:cNvSpPr>
              <a:spLocks noChangeArrowheads="1"/>
            </p:cNvSpPr>
            <p:nvPr/>
          </p:nvSpPr>
          <p:spPr bwMode="auto">
            <a:xfrm>
              <a:off x="3027363" y="4262438"/>
              <a:ext cx="63500" cy="66675"/>
            </a:xfrm>
            <a:prstGeom prst="ellipse">
              <a:avLst/>
            </a:prstGeom>
            <a:noFill/>
            <a:ln w="0">
              <a:solidFill>
                <a:srgbClr val="00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sz="1000">
                <a:latin typeface="Arial" panose="020B0604020202020204" pitchFamily="34" charset="0"/>
                <a:cs typeface="Arial" panose="020B0604020202020204" pitchFamily="34" charset="0"/>
              </a:endParaRPr>
            </a:p>
          </p:txBody>
        </p:sp>
        <p:sp>
          <p:nvSpPr>
            <p:cNvPr id="60" name="Oval 284"/>
            <p:cNvSpPr>
              <a:spLocks noChangeArrowheads="1"/>
            </p:cNvSpPr>
            <p:nvPr/>
          </p:nvSpPr>
          <p:spPr bwMode="auto">
            <a:xfrm>
              <a:off x="3122613" y="4164013"/>
              <a:ext cx="63500" cy="66675"/>
            </a:xfrm>
            <a:prstGeom prst="ellipse">
              <a:avLst/>
            </a:prstGeom>
            <a:noFill/>
            <a:ln w="0">
              <a:solidFill>
                <a:srgbClr val="00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sz="1000">
                <a:latin typeface="Arial" panose="020B0604020202020204" pitchFamily="34" charset="0"/>
                <a:cs typeface="Arial" panose="020B0604020202020204" pitchFamily="34" charset="0"/>
              </a:endParaRPr>
            </a:p>
          </p:txBody>
        </p:sp>
        <p:sp>
          <p:nvSpPr>
            <p:cNvPr id="61" name="Oval 285"/>
            <p:cNvSpPr>
              <a:spLocks noChangeArrowheads="1"/>
            </p:cNvSpPr>
            <p:nvPr/>
          </p:nvSpPr>
          <p:spPr bwMode="auto">
            <a:xfrm>
              <a:off x="3211513" y="4064001"/>
              <a:ext cx="63500" cy="66675"/>
            </a:xfrm>
            <a:prstGeom prst="ellipse">
              <a:avLst/>
            </a:prstGeom>
            <a:noFill/>
            <a:ln w="0">
              <a:solidFill>
                <a:srgbClr val="00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sz="1000">
                <a:latin typeface="Arial" panose="020B0604020202020204" pitchFamily="34" charset="0"/>
                <a:cs typeface="Arial" panose="020B0604020202020204" pitchFamily="34" charset="0"/>
              </a:endParaRPr>
            </a:p>
          </p:txBody>
        </p:sp>
        <p:sp>
          <p:nvSpPr>
            <p:cNvPr id="62" name="Oval 286"/>
            <p:cNvSpPr>
              <a:spLocks noChangeArrowheads="1"/>
            </p:cNvSpPr>
            <p:nvPr/>
          </p:nvSpPr>
          <p:spPr bwMode="auto">
            <a:xfrm>
              <a:off x="3306763" y="3971926"/>
              <a:ext cx="63500" cy="66675"/>
            </a:xfrm>
            <a:prstGeom prst="ellipse">
              <a:avLst/>
            </a:prstGeom>
            <a:noFill/>
            <a:ln w="0">
              <a:solidFill>
                <a:srgbClr val="00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sz="1000">
                <a:latin typeface="Arial" panose="020B0604020202020204" pitchFamily="34" charset="0"/>
                <a:cs typeface="Arial" panose="020B0604020202020204" pitchFamily="34" charset="0"/>
              </a:endParaRPr>
            </a:p>
          </p:txBody>
        </p:sp>
        <p:sp>
          <p:nvSpPr>
            <p:cNvPr id="63" name="Oval 287"/>
            <p:cNvSpPr>
              <a:spLocks noChangeArrowheads="1"/>
            </p:cNvSpPr>
            <p:nvPr/>
          </p:nvSpPr>
          <p:spPr bwMode="auto">
            <a:xfrm>
              <a:off x="3395663" y="3871913"/>
              <a:ext cx="63500" cy="66675"/>
            </a:xfrm>
            <a:prstGeom prst="ellipse">
              <a:avLst/>
            </a:prstGeom>
            <a:noFill/>
            <a:ln w="0">
              <a:solidFill>
                <a:srgbClr val="00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sz="1000">
                <a:latin typeface="Arial" panose="020B0604020202020204" pitchFamily="34" charset="0"/>
                <a:cs typeface="Arial" panose="020B0604020202020204" pitchFamily="34" charset="0"/>
              </a:endParaRPr>
            </a:p>
          </p:txBody>
        </p:sp>
        <p:sp>
          <p:nvSpPr>
            <p:cNvPr id="64" name="Oval 288"/>
            <p:cNvSpPr>
              <a:spLocks noChangeArrowheads="1"/>
            </p:cNvSpPr>
            <p:nvPr/>
          </p:nvSpPr>
          <p:spPr bwMode="auto">
            <a:xfrm>
              <a:off x="2932113" y="4356101"/>
              <a:ext cx="63500" cy="66675"/>
            </a:xfrm>
            <a:prstGeom prst="ellipse">
              <a:avLst/>
            </a:prstGeom>
            <a:noFill/>
            <a:ln w="0">
              <a:solidFill>
                <a:srgbClr val="00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sz="1000">
                <a:latin typeface="Arial" panose="020B0604020202020204" pitchFamily="34" charset="0"/>
                <a:cs typeface="Arial" panose="020B0604020202020204" pitchFamily="34" charset="0"/>
              </a:endParaRPr>
            </a:p>
          </p:txBody>
        </p:sp>
        <p:sp>
          <p:nvSpPr>
            <p:cNvPr id="65" name="Oval 289"/>
            <p:cNvSpPr>
              <a:spLocks noChangeArrowheads="1"/>
            </p:cNvSpPr>
            <p:nvPr/>
          </p:nvSpPr>
          <p:spPr bwMode="auto">
            <a:xfrm>
              <a:off x="3027363" y="4262438"/>
              <a:ext cx="63500" cy="66675"/>
            </a:xfrm>
            <a:prstGeom prst="ellipse">
              <a:avLst/>
            </a:prstGeom>
            <a:noFill/>
            <a:ln w="0">
              <a:solidFill>
                <a:srgbClr val="00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sz="1000">
                <a:latin typeface="Arial" panose="020B0604020202020204" pitchFamily="34" charset="0"/>
                <a:cs typeface="Arial" panose="020B0604020202020204" pitchFamily="34" charset="0"/>
              </a:endParaRPr>
            </a:p>
          </p:txBody>
        </p:sp>
        <p:sp>
          <p:nvSpPr>
            <p:cNvPr id="66" name="Oval 290"/>
            <p:cNvSpPr>
              <a:spLocks noChangeArrowheads="1"/>
            </p:cNvSpPr>
            <p:nvPr/>
          </p:nvSpPr>
          <p:spPr bwMode="auto">
            <a:xfrm>
              <a:off x="3122613" y="4164013"/>
              <a:ext cx="63500" cy="66675"/>
            </a:xfrm>
            <a:prstGeom prst="ellipse">
              <a:avLst/>
            </a:prstGeom>
            <a:noFill/>
            <a:ln w="0">
              <a:solidFill>
                <a:srgbClr val="00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sz="1000">
                <a:latin typeface="Arial" panose="020B0604020202020204" pitchFamily="34" charset="0"/>
                <a:cs typeface="Arial" panose="020B0604020202020204" pitchFamily="34" charset="0"/>
              </a:endParaRPr>
            </a:p>
          </p:txBody>
        </p:sp>
        <p:sp>
          <p:nvSpPr>
            <p:cNvPr id="67" name="Oval 291"/>
            <p:cNvSpPr>
              <a:spLocks noChangeArrowheads="1"/>
            </p:cNvSpPr>
            <p:nvPr/>
          </p:nvSpPr>
          <p:spPr bwMode="auto">
            <a:xfrm>
              <a:off x="3211513" y="4064001"/>
              <a:ext cx="63500" cy="66675"/>
            </a:xfrm>
            <a:prstGeom prst="ellipse">
              <a:avLst/>
            </a:prstGeom>
            <a:noFill/>
            <a:ln w="0">
              <a:solidFill>
                <a:srgbClr val="00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sz="1000">
                <a:latin typeface="Arial" panose="020B0604020202020204" pitchFamily="34" charset="0"/>
                <a:cs typeface="Arial" panose="020B0604020202020204" pitchFamily="34" charset="0"/>
              </a:endParaRPr>
            </a:p>
          </p:txBody>
        </p:sp>
        <p:sp>
          <p:nvSpPr>
            <p:cNvPr id="68" name="Oval 292"/>
            <p:cNvSpPr>
              <a:spLocks noChangeArrowheads="1"/>
            </p:cNvSpPr>
            <p:nvPr/>
          </p:nvSpPr>
          <p:spPr bwMode="auto">
            <a:xfrm>
              <a:off x="3306763" y="3971926"/>
              <a:ext cx="63500" cy="66675"/>
            </a:xfrm>
            <a:prstGeom prst="ellipse">
              <a:avLst/>
            </a:prstGeom>
            <a:noFill/>
            <a:ln w="0">
              <a:solidFill>
                <a:srgbClr val="00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sz="1000">
                <a:latin typeface="Arial" panose="020B0604020202020204" pitchFamily="34" charset="0"/>
                <a:cs typeface="Arial" panose="020B0604020202020204" pitchFamily="34" charset="0"/>
              </a:endParaRPr>
            </a:p>
          </p:txBody>
        </p:sp>
        <p:sp>
          <p:nvSpPr>
            <p:cNvPr id="69" name="Oval 293"/>
            <p:cNvSpPr>
              <a:spLocks noChangeArrowheads="1"/>
            </p:cNvSpPr>
            <p:nvPr/>
          </p:nvSpPr>
          <p:spPr bwMode="auto">
            <a:xfrm>
              <a:off x="3395663" y="3871913"/>
              <a:ext cx="63500" cy="66675"/>
            </a:xfrm>
            <a:prstGeom prst="ellipse">
              <a:avLst/>
            </a:prstGeom>
            <a:noFill/>
            <a:ln w="0">
              <a:solidFill>
                <a:srgbClr val="00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sz="1000">
                <a:latin typeface="Arial" panose="020B0604020202020204" pitchFamily="34" charset="0"/>
                <a:cs typeface="Arial" panose="020B0604020202020204" pitchFamily="34" charset="0"/>
              </a:endParaRPr>
            </a:p>
          </p:txBody>
        </p:sp>
        <p:sp>
          <p:nvSpPr>
            <p:cNvPr id="70" name="Oval 294"/>
            <p:cNvSpPr>
              <a:spLocks noChangeArrowheads="1"/>
            </p:cNvSpPr>
            <p:nvPr/>
          </p:nvSpPr>
          <p:spPr bwMode="auto">
            <a:xfrm>
              <a:off x="2932113" y="4356101"/>
              <a:ext cx="63500" cy="66675"/>
            </a:xfrm>
            <a:prstGeom prst="ellipse">
              <a:avLst/>
            </a:prstGeom>
            <a:noFill/>
            <a:ln w="0">
              <a:solidFill>
                <a:srgbClr val="00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sz="1000">
                <a:latin typeface="Arial" panose="020B0604020202020204" pitchFamily="34" charset="0"/>
                <a:cs typeface="Arial" panose="020B0604020202020204" pitchFamily="34" charset="0"/>
              </a:endParaRPr>
            </a:p>
          </p:txBody>
        </p:sp>
        <p:sp>
          <p:nvSpPr>
            <p:cNvPr id="71" name="Oval 295"/>
            <p:cNvSpPr>
              <a:spLocks noChangeArrowheads="1"/>
            </p:cNvSpPr>
            <p:nvPr/>
          </p:nvSpPr>
          <p:spPr bwMode="auto">
            <a:xfrm>
              <a:off x="3027363" y="4262438"/>
              <a:ext cx="63500" cy="66675"/>
            </a:xfrm>
            <a:prstGeom prst="ellipse">
              <a:avLst/>
            </a:prstGeom>
            <a:noFill/>
            <a:ln w="0">
              <a:solidFill>
                <a:srgbClr val="00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sz="1000">
                <a:latin typeface="Arial" panose="020B0604020202020204" pitchFamily="34" charset="0"/>
                <a:cs typeface="Arial" panose="020B0604020202020204" pitchFamily="34" charset="0"/>
              </a:endParaRPr>
            </a:p>
          </p:txBody>
        </p:sp>
        <p:sp>
          <p:nvSpPr>
            <p:cNvPr id="72" name="Oval 296"/>
            <p:cNvSpPr>
              <a:spLocks noChangeArrowheads="1"/>
            </p:cNvSpPr>
            <p:nvPr/>
          </p:nvSpPr>
          <p:spPr bwMode="auto">
            <a:xfrm>
              <a:off x="3122613" y="4164013"/>
              <a:ext cx="63500" cy="66675"/>
            </a:xfrm>
            <a:prstGeom prst="ellipse">
              <a:avLst/>
            </a:prstGeom>
            <a:noFill/>
            <a:ln w="0">
              <a:solidFill>
                <a:srgbClr val="00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sz="1000">
                <a:latin typeface="Arial" panose="020B0604020202020204" pitchFamily="34" charset="0"/>
                <a:cs typeface="Arial" panose="020B0604020202020204" pitchFamily="34" charset="0"/>
              </a:endParaRPr>
            </a:p>
          </p:txBody>
        </p:sp>
        <p:sp>
          <p:nvSpPr>
            <p:cNvPr id="73" name="Oval 297"/>
            <p:cNvSpPr>
              <a:spLocks noChangeArrowheads="1"/>
            </p:cNvSpPr>
            <p:nvPr/>
          </p:nvSpPr>
          <p:spPr bwMode="auto">
            <a:xfrm>
              <a:off x="3211513" y="4064001"/>
              <a:ext cx="63500" cy="66675"/>
            </a:xfrm>
            <a:prstGeom prst="ellipse">
              <a:avLst/>
            </a:prstGeom>
            <a:noFill/>
            <a:ln w="0">
              <a:solidFill>
                <a:srgbClr val="00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sz="1000">
                <a:latin typeface="Arial" panose="020B0604020202020204" pitchFamily="34" charset="0"/>
                <a:cs typeface="Arial" panose="020B0604020202020204" pitchFamily="34" charset="0"/>
              </a:endParaRPr>
            </a:p>
          </p:txBody>
        </p:sp>
        <p:sp>
          <p:nvSpPr>
            <p:cNvPr id="74" name="Oval 298"/>
            <p:cNvSpPr>
              <a:spLocks noChangeArrowheads="1"/>
            </p:cNvSpPr>
            <p:nvPr/>
          </p:nvSpPr>
          <p:spPr bwMode="auto">
            <a:xfrm>
              <a:off x="3306763" y="3971926"/>
              <a:ext cx="63500" cy="66675"/>
            </a:xfrm>
            <a:prstGeom prst="ellipse">
              <a:avLst/>
            </a:prstGeom>
            <a:noFill/>
            <a:ln w="0">
              <a:solidFill>
                <a:srgbClr val="00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sz="1000">
                <a:latin typeface="Arial" panose="020B0604020202020204" pitchFamily="34" charset="0"/>
                <a:cs typeface="Arial" panose="020B0604020202020204" pitchFamily="34" charset="0"/>
              </a:endParaRPr>
            </a:p>
          </p:txBody>
        </p:sp>
        <p:sp>
          <p:nvSpPr>
            <p:cNvPr id="75" name="Oval 299"/>
            <p:cNvSpPr>
              <a:spLocks noChangeArrowheads="1"/>
            </p:cNvSpPr>
            <p:nvPr/>
          </p:nvSpPr>
          <p:spPr bwMode="auto">
            <a:xfrm>
              <a:off x="3395663" y="3871913"/>
              <a:ext cx="63500" cy="66675"/>
            </a:xfrm>
            <a:prstGeom prst="ellipse">
              <a:avLst/>
            </a:prstGeom>
            <a:noFill/>
            <a:ln w="0">
              <a:solidFill>
                <a:srgbClr val="00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sz="1000">
                <a:latin typeface="Arial" panose="020B0604020202020204" pitchFamily="34" charset="0"/>
                <a:cs typeface="Arial" panose="020B0604020202020204" pitchFamily="34" charset="0"/>
              </a:endParaRPr>
            </a:p>
          </p:txBody>
        </p:sp>
        <p:sp>
          <p:nvSpPr>
            <p:cNvPr id="76" name="Oval 300"/>
            <p:cNvSpPr>
              <a:spLocks noChangeArrowheads="1"/>
            </p:cNvSpPr>
            <p:nvPr/>
          </p:nvSpPr>
          <p:spPr bwMode="auto">
            <a:xfrm>
              <a:off x="2932113" y="4356101"/>
              <a:ext cx="63500" cy="66675"/>
            </a:xfrm>
            <a:prstGeom prst="ellipse">
              <a:avLst/>
            </a:prstGeom>
            <a:noFill/>
            <a:ln w="0">
              <a:solidFill>
                <a:srgbClr val="00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sz="1000">
                <a:latin typeface="Arial" panose="020B0604020202020204" pitchFamily="34" charset="0"/>
                <a:cs typeface="Arial" panose="020B0604020202020204" pitchFamily="34" charset="0"/>
              </a:endParaRPr>
            </a:p>
          </p:txBody>
        </p:sp>
        <p:sp>
          <p:nvSpPr>
            <p:cNvPr id="77" name="Oval 301"/>
            <p:cNvSpPr>
              <a:spLocks noChangeArrowheads="1"/>
            </p:cNvSpPr>
            <p:nvPr/>
          </p:nvSpPr>
          <p:spPr bwMode="auto">
            <a:xfrm>
              <a:off x="3027363" y="4262438"/>
              <a:ext cx="63500" cy="66675"/>
            </a:xfrm>
            <a:prstGeom prst="ellipse">
              <a:avLst/>
            </a:prstGeom>
            <a:noFill/>
            <a:ln w="0">
              <a:solidFill>
                <a:srgbClr val="00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sz="1000">
                <a:latin typeface="Arial" panose="020B0604020202020204" pitchFamily="34" charset="0"/>
                <a:cs typeface="Arial" panose="020B0604020202020204" pitchFamily="34" charset="0"/>
              </a:endParaRPr>
            </a:p>
          </p:txBody>
        </p:sp>
        <p:sp>
          <p:nvSpPr>
            <p:cNvPr id="78" name="Oval 302"/>
            <p:cNvSpPr>
              <a:spLocks noChangeArrowheads="1"/>
            </p:cNvSpPr>
            <p:nvPr/>
          </p:nvSpPr>
          <p:spPr bwMode="auto">
            <a:xfrm>
              <a:off x="3122613" y="4164013"/>
              <a:ext cx="63500" cy="66675"/>
            </a:xfrm>
            <a:prstGeom prst="ellipse">
              <a:avLst/>
            </a:prstGeom>
            <a:noFill/>
            <a:ln w="0">
              <a:solidFill>
                <a:srgbClr val="00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sz="1000">
                <a:latin typeface="Arial" panose="020B0604020202020204" pitchFamily="34" charset="0"/>
                <a:cs typeface="Arial" panose="020B0604020202020204" pitchFamily="34" charset="0"/>
              </a:endParaRPr>
            </a:p>
          </p:txBody>
        </p:sp>
        <p:sp>
          <p:nvSpPr>
            <p:cNvPr id="79" name="Oval 303"/>
            <p:cNvSpPr>
              <a:spLocks noChangeArrowheads="1"/>
            </p:cNvSpPr>
            <p:nvPr/>
          </p:nvSpPr>
          <p:spPr bwMode="auto">
            <a:xfrm>
              <a:off x="3211513" y="4064001"/>
              <a:ext cx="63500" cy="66675"/>
            </a:xfrm>
            <a:prstGeom prst="ellipse">
              <a:avLst/>
            </a:prstGeom>
            <a:noFill/>
            <a:ln w="0">
              <a:solidFill>
                <a:srgbClr val="00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sz="1000">
                <a:latin typeface="Arial" panose="020B0604020202020204" pitchFamily="34" charset="0"/>
                <a:cs typeface="Arial" panose="020B0604020202020204" pitchFamily="34" charset="0"/>
              </a:endParaRPr>
            </a:p>
          </p:txBody>
        </p:sp>
        <p:sp>
          <p:nvSpPr>
            <p:cNvPr id="80" name="Oval 304"/>
            <p:cNvSpPr>
              <a:spLocks noChangeArrowheads="1"/>
            </p:cNvSpPr>
            <p:nvPr/>
          </p:nvSpPr>
          <p:spPr bwMode="auto">
            <a:xfrm>
              <a:off x="3306763" y="3971926"/>
              <a:ext cx="63500" cy="66675"/>
            </a:xfrm>
            <a:prstGeom prst="ellipse">
              <a:avLst/>
            </a:prstGeom>
            <a:noFill/>
            <a:ln w="0">
              <a:solidFill>
                <a:srgbClr val="00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sz="1000">
                <a:latin typeface="Arial" panose="020B0604020202020204" pitchFamily="34" charset="0"/>
                <a:cs typeface="Arial" panose="020B0604020202020204" pitchFamily="34" charset="0"/>
              </a:endParaRPr>
            </a:p>
          </p:txBody>
        </p:sp>
        <p:sp>
          <p:nvSpPr>
            <p:cNvPr id="81" name="Oval 305"/>
            <p:cNvSpPr>
              <a:spLocks noChangeArrowheads="1"/>
            </p:cNvSpPr>
            <p:nvPr/>
          </p:nvSpPr>
          <p:spPr bwMode="auto">
            <a:xfrm>
              <a:off x="3395663" y="3871913"/>
              <a:ext cx="63500" cy="66675"/>
            </a:xfrm>
            <a:prstGeom prst="ellipse">
              <a:avLst/>
            </a:prstGeom>
            <a:noFill/>
            <a:ln w="0">
              <a:solidFill>
                <a:srgbClr val="00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sz="1000">
                <a:latin typeface="Arial" panose="020B0604020202020204" pitchFamily="34" charset="0"/>
                <a:cs typeface="Arial" panose="020B0604020202020204" pitchFamily="34" charset="0"/>
              </a:endParaRPr>
            </a:p>
          </p:txBody>
        </p:sp>
        <p:sp>
          <p:nvSpPr>
            <p:cNvPr id="82" name="Oval 306"/>
            <p:cNvSpPr>
              <a:spLocks noChangeArrowheads="1"/>
            </p:cNvSpPr>
            <p:nvPr/>
          </p:nvSpPr>
          <p:spPr bwMode="auto">
            <a:xfrm>
              <a:off x="2932113" y="4356101"/>
              <a:ext cx="63500" cy="66675"/>
            </a:xfrm>
            <a:prstGeom prst="ellipse">
              <a:avLst/>
            </a:prstGeom>
            <a:noFill/>
            <a:ln w="0">
              <a:solidFill>
                <a:srgbClr val="00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sz="1000">
                <a:latin typeface="Arial" panose="020B0604020202020204" pitchFamily="34" charset="0"/>
                <a:cs typeface="Arial" panose="020B0604020202020204" pitchFamily="34" charset="0"/>
              </a:endParaRPr>
            </a:p>
          </p:txBody>
        </p:sp>
        <p:sp>
          <p:nvSpPr>
            <p:cNvPr id="83" name="Oval 307"/>
            <p:cNvSpPr>
              <a:spLocks noChangeArrowheads="1"/>
            </p:cNvSpPr>
            <p:nvPr/>
          </p:nvSpPr>
          <p:spPr bwMode="auto">
            <a:xfrm>
              <a:off x="3027363" y="4262438"/>
              <a:ext cx="63500" cy="66675"/>
            </a:xfrm>
            <a:prstGeom prst="ellipse">
              <a:avLst/>
            </a:prstGeom>
            <a:noFill/>
            <a:ln w="0">
              <a:solidFill>
                <a:srgbClr val="00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sz="1000">
                <a:latin typeface="Arial" panose="020B0604020202020204" pitchFamily="34" charset="0"/>
                <a:cs typeface="Arial" panose="020B0604020202020204" pitchFamily="34" charset="0"/>
              </a:endParaRPr>
            </a:p>
          </p:txBody>
        </p:sp>
        <p:sp>
          <p:nvSpPr>
            <p:cNvPr id="84" name="Oval 308"/>
            <p:cNvSpPr>
              <a:spLocks noChangeArrowheads="1"/>
            </p:cNvSpPr>
            <p:nvPr/>
          </p:nvSpPr>
          <p:spPr bwMode="auto">
            <a:xfrm>
              <a:off x="3122613" y="4164013"/>
              <a:ext cx="63500" cy="66675"/>
            </a:xfrm>
            <a:prstGeom prst="ellipse">
              <a:avLst/>
            </a:prstGeom>
            <a:noFill/>
            <a:ln w="0">
              <a:solidFill>
                <a:srgbClr val="00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sz="1000">
                <a:latin typeface="Arial" panose="020B0604020202020204" pitchFamily="34" charset="0"/>
                <a:cs typeface="Arial" panose="020B0604020202020204" pitchFamily="34" charset="0"/>
              </a:endParaRPr>
            </a:p>
          </p:txBody>
        </p:sp>
        <p:sp>
          <p:nvSpPr>
            <p:cNvPr id="85" name="Oval 309"/>
            <p:cNvSpPr>
              <a:spLocks noChangeArrowheads="1"/>
            </p:cNvSpPr>
            <p:nvPr/>
          </p:nvSpPr>
          <p:spPr bwMode="auto">
            <a:xfrm>
              <a:off x="3211513" y="4064001"/>
              <a:ext cx="63500" cy="66675"/>
            </a:xfrm>
            <a:prstGeom prst="ellipse">
              <a:avLst/>
            </a:prstGeom>
            <a:noFill/>
            <a:ln w="0">
              <a:solidFill>
                <a:srgbClr val="00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sz="1000">
                <a:latin typeface="Arial" panose="020B0604020202020204" pitchFamily="34" charset="0"/>
                <a:cs typeface="Arial" panose="020B0604020202020204" pitchFamily="34" charset="0"/>
              </a:endParaRPr>
            </a:p>
          </p:txBody>
        </p:sp>
        <p:sp>
          <p:nvSpPr>
            <p:cNvPr id="86" name="Oval 310"/>
            <p:cNvSpPr>
              <a:spLocks noChangeArrowheads="1"/>
            </p:cNvSpPr>
            <p:nvPr/>
          </p:nvSpPr>
          <p:spPr bwMode="auto">
            <a:xfrm>
              <a:off x="3306763" y="3971926"/>
              <a:ext cx="63500" cy="66675"/>
            </a:xfrm>
            <a:prstGeom prst="ellipse">
              <a:avLst/>
            </a:prstGeom>
            <a:noFill/>
            <a:ln w="0">
              <a:solidFill>
                <a:srgbClr val="00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sz="1000">
                <a:latin typeface="Arial" panose="020B0604020202020204" pitchFamily="34" charset="0"/>
                <a:cs typeface="Arial" panose="020B0604020202020204" pitchFamily="34" charset="0"/>
              </a:endParaRPr>
            </a:p>
          </p:txBody>
        </p:sp>
        <p:sp>
          <p:nvSpPr>
            <p:cNvPr id="87" name="Oval 311"/>
            <p:cNvSpPr>
              <a:spLocks noChangeArrowheads="1"/>
            </p:cNvSpPr>
            <p:nvPr/>
          </p:nvSpPr>
          <p:spPr bwMode="auto">
            <a:xfrm>
              <a:off x="3395663" y="3871913"/>
              <a:ext cx="63500" cy="66675"/>
            </a:xfrm>
            <a:prstGeom prst="ellipse">
              <a:avLst/>
            </a:prstGeom>
            <a:noFill/>
            <a:ln w="0">
              <a:solidFill>
                <a:srgbClr val="00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sz="1000">
                <a:latin typeface="Arial" panose="020B0604020202020204" pitchFamily="34" charset="0"/>
                <a:cs typeface="Arial" panose="020B0604020202020204" pitchFamily="34" charset="0"/>
              </a:endParaRPr>
            </a:p>
          </p:txBody>
        </p:sp>
        <p:sp>
          <p:nvSpPr>
            <p:cNvPr id="88" name="Oval 312"/>
            <p:cNvSpPr>
              <a:spLocks noChangeArrowheads="1"/>
            </p:cNvSpPr>
            <p:nvPr/>
          </p:nvSpPr>
          <p:spPr bwMode="auto">
            <a:xfrm>
              <a:off x="2932113" y="4356101"/>
              <a:ext cx="63500" cy="66675"/>
            </a:xfrm>
            <a:prstGeom prst="ellipse">
              <a:avLst/>
            </a:prstGeom>
            <a:noFill/>
            <a:ln w="0">
              <a:solidFill>
                <a:srgbClr val="00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sz="1000">
                <a:latin typeface="Arial" panose="020B0604020202020204" pitchFamily="34" charset="0"/>
                <a:cs typeface="Arial" panose="020B0604020202020204" pitchFamily="34" charset="0"/>
              </a:endParaRPr>
            </a:p>
          </p:txBody>
        </p:sp>
        <p:sp>
          <p:nvSpPr>
            <p:cNvPr id="89" name="Oval 313"/>
            <p:cNvSpPr>
              <a:spLocks noChangeArrowheads="1"/>
            </p:cNvSpPr>
            <p:nvPr/>
          </p:nvSpPr>
          <p:spPr bwMode="auto">
            <a:xfrm>
              <a:off x="3027363" y="4262438"/>
              <a:ext cx="63500" cy="66675"/>
            </a:xfrm>
            <a:prstGeom prst="ellipse">
              <a:avLst/>
            </a:prstGeom>
            <a:noFill/>
            <a:ln w="0">
              <a:solidFill>
                <a:srgbClr val="00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sz="1000">
                <a:latin typeface="Arial" panose="020B0604020202020204" pitchFamily="34" charset="0"/>
                <a:cs typeface="Arial" panose="020B0604020202020204" pitchFamily="34" charset="0"/>
              </a:endParaRPr>
            </a:p>
          </p:txBody>
        </p:sp>
        <p:sp>
          <p:nvSpPr>
            <p:cNvPr id="90" name="Oval 314"/>
            <p:cNvSpPr>
              <a:spLocks noChangeArrowheads="1"/>
            </p:cNvSpPr>
            <p:nvPr/>
          </p:nvSpPr>
          <p:spPr bwMode="auto">
            <a:xfrm>
              <a:off x="3122613" y="4164013"/>
              <a:ext cx="63500" cy="66675"/>
            </a:xfrm>
            <a:prstGeom prst="ellipse">
              <a:avLst/>
            </a:prstGeom>
            <a:noFill/>
            <a:ln w="0">
              <a:solidFill>
                <a:srgbClr val="00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sz="1000">
                <a:latin typeface="Arial" panose="020B0604020202020204" pitchFamily="34" charset="0"/>
                <a:cs typeface="Arial" panose="020B0604020202020204" pitchFamily="34" charset="0"/>
              </a:endParaRPr>
            </a:p>
          </p:txBody>
        </p:sp>
        <p:sp>
          <p:nvSpPr>
            <p:cNvPr id="91" name="Oval 315"/>
            <p:cNvSpPr>
              <a:spLocks noChangeArrowheads="1"/>
            </p:cNvSpPr>
            <p:nvPr/>
          </p:nvSpPr>
          <p:spPr bwMode="auto">
            <a:xfrm>
              <a:off x="3211513" y="4064001"/>
              <a:ext cx="63500" cy="66675"/>
            </a:xfrm>
            <a:prstGeom prst="ellipse">
              <a:avLst/>
            </a:prstGeom>
            <a:noFill/>
            <a:ln w="0">
              <a:solidFill>
                <a:srgbClr val="00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sz="1000">
                <a:latin typeface="Arial" panose="020B0604020202020204" pitchFamily="34" charset="0"/>
                <a:cs typeface="Arial" panose="020B0604020202020204" pitchFamily="34" charset="0"/>
              </a:endParaRPr>
            </a:p>
          </p:txBody>
        </p:sp>
        <p:sp>
          <p:nvSpPr>
            <p:cNvPr id="92" name="Oval 316"/>
            <p:cNvSpPr>
              <a:spLocks noChangeArrowheads="1"/>
            </p:cNvSpPr>
            <p:nvPr/>
          </p:nvSpPr>
          <p:spPr bwMode="auto">
            <a:xfrm>
              <a:off x="3306763" y="3971926"/>
              <a:ext cx="63500" cy="66675"/>
            </a:xfrm>
            <a:prstGeom prst="ellipse">
              <a:avLst/>
            </a:prstGeom>
            <a:noFill/>
            <a:ln w="0">
              <a:solidFill>
                <a:srgbClr val="00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sz="1000">
                <a:latin typeface="Arial" panose="020B0604020202020204" pitchFamily="34" charset="0"/>
                <a:cs typeface="Arial" panose="020B0604020202020204" pitchFamily="34" charset="0"/>
              </a:endParaRPr>
            </a:p>
          </p:txBody>
        </p:sp>
        <p:sp>
          <p:nvSpPr>
            <p:cNvPr id="93" name="Oval 317"/>
            <p:cNvSpPr>
              <a:spLocks noChangeArrowheads="1"/>
            </p:cNvSpPr>
            <p:nvPr/>
          </p:nvSpPr>
          <p:spPr bwMode="auto">
            <a:xfrm>
              <a:off x="3395663" y="3871913"/>
              <a:ext cx="63500" cy="66675"/>
            </a:xfrm>
            <a:prstGeom prst="ellipse">
              <a:avLst/>
            </a:prstGeom>
            <a:noFill/>
            <a:ln w="0">
              <a:solidFill>
                <a:srgbClr val="00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sz="1000">
                <a:latin typeface="Arial" panose="020B0604020202020204" pitchFamily="34" charset="0"/>
                <a:cs typeface="Arial" panose="020B0604020202020204" pitchFamily="34" charset="0"/>
              </a:endParaRPr>
            </a:p>
          </p:txBody>
        </p:sp>
        <p:sp>
          <p:nvSpPr>
            <p:cNvPr id="94" name="Oval 318"/>
            <p:cNvSpPr>
              <a:spLocks noChangeArrowheads="1"/>
            </p:cNvSpPr>
            <p:nvPr/>
          </p:nvSpPr>
          <p:spPr bwMode="auto">
            <a:xfrm>
              <a:off x="2932113" y="4356101"/>
              <a:ext cx="63500" cy="66675"/>
            </a:xfrm>
            <a:prstGeom prst="ellipse">
              <a:avLst/>
            </a:prstGeom>
            <a:noFill/>
            <a:ln w="0">
              <a:solidFill>
                <a:srgbClr val="00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sz="1000">
                <a:latin typeface="Arial" panose="020B0604020202020204" pitchFamily="34" charset="0"/>
                <a:cs typeface="Arial" panose="020B0604020202020204" pitchFamily="34" charset="0"/>
              </a:endParaRPr>
            </a:p>
          </p:txBody>
        </p:sp>
        <p:sp>
          <p:nvSpPr>
            <p:cNvPr id="95" name="Oval 319"/>
            <p:cNvSpPr>
              <a:spLocks noChangeArrowheads="1"/>
            </p:cNvSpPr>
            <p:nvPr/>
          </p:nvSpPr>
          <p:spPr bwMode="auto">
            <a:xfrm>
              <a:off x="3027363" y="4262438"/>
              <a:ext cx="63500" cy="66675"/>
            </a:xfrm>
            <a:prstGeom prst="ellipse">
              <a:avLst/>
            </a:prstGeom>
            <a:noFill/>
            <a:ln w="0">
              <a:solidFill>
                <a:srgbClr val="00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sz="1000">
                <a:latin typeface="Arial" panose="020B0604020202020204" pitchFamily="34" charset="0"/>
                <a:cs typeface="Arial" panose="020B0604020202020204" pitchFamily="34" charset="0"/>
              </a:endParaRPr>
            </a:p>
          </p:txBody>
        </p:sp>
        <p:sp>
          <p:nvSpPr>
            <p:cNvPr id="96" name="Oval 320"/>
            <p:cNvSpPr>
              <a:spLocks noChangeArrowheads="1"/>
            </p:cNvSpPr>
            <p:nvPr/>
          </p:nvSpPr>
          <p:spPr bwMode="auto">
            <a:xfrm>
              <a:off x="3122613" y="4164013"/>
              <a:ext cx="63500" cy="66675"/>
            </a:xfrm>
            <a:prstGeom prst="ellipse">
              <a:avLst/>
            </a:prstGeom>
            <a:noFill/>
            <a:ln w="0">
              <a:solidFill>
                <a:srgbClr val="00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sz="1000">
                <a:latin typeface="Arial" panose="020B0604020202020204" pitchFamily="34" charset="0"/>
                <a:cs typeface="Arial" panose="020B0604020202020204" pitchFamily="34" charset="0"/>
              </a:endParaRPr>
            </a:p>
          </p:txBody>
        </p:sp>
        <p:sp>
          <p:nvSpPr>
            <p:cNvPr id="97" name="Oval 321"/>
            <p:cNvSpPr>
              <a:spLocks noChangeArrowheads="1"/>
            </p:cNvSpPr>
            <p:nvPr/>
          </p:nvSpPr>
          <p:spPr bwMode="auto">
            <a:xfrm>
              <a:off x="3211513" y="4064001"/>
              <a:ext cx="63500" cy="66675"/>
            </a:xfrm>
            <a:prstGeom prst="ellipse">
              <a:avLst/>
            </a:prstGeom>
            <a:noFill/>
            <a:ln w="0">
              <a:solidFill>
                <a:srgbClr val="00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sz="1000">
                <a:latin typeface="Arial" panose="020B0604020202020204" pitchFamily="34" charset="0"/>
                <a:cs typeface="Arial" panose="020B0604020202020204" pitchFamily="34" charset="0"/>
              </a:endParaRPr>
            </a:p>
          </p:txBody>
        </p:sp>
        <p:sp>
          <p:nvSpPr>
            <p:cNvPr id="98" name="Oval 322"/>
            <p:cNvSpPr>
              <a:spLocks noChangeArrowheads="1"/>
            </p:cNvSpPr>
            <p:nvPr/>
          </p:nvSpPr>
          <p:spPr bwMode="auto">
            <a:xfrm>
              <a:off x="3306763" y="3971926"/>
              <a:ext cx="63500" cy="66675"/>
            </a:xfrm>
            <a:prstGeom prst="ellipse">
              <a:avLst/>
            </a:prstGeom>
            <a:noFill/>
            <a:ln w="0">
              <a:solidFill>
                <a:srgbClr val="00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sz="1000">
                <a:latin typeface="Arial" panose="020B0604020202020204" pitchFamily="34" charset="0"/>
                <a:cs typeface="Arial" panose="020B0604020202020204" pitchFamily="34" charset="0"/>
              </a:endParaRPr>
            </a:p>
          </p:txBody>
        </p:sp>
        <p:sp>
          <p:nvSpPr>
            <p:cNvPr id="99" name="Oval 323"/>
            <p:cNvSpPr>
              <a:spLocks noChangeArrowheads="1"/>
            </p:cNvSpPr>
            <p:nvPr/>
          </p:nvSpPr>
          <p:spPr bwMode="auto">
            <a:xfrm>
              <a:off x="3395663" y="3871913"/>
              <a:ext cx="63500" cy="66675"/>
            </a:xfrm>
            <a:prstGeom prst="ellipse">
              <a:avLst/>
            </a:prstGeom>
            <a:noFill/>
            <a:ln w="0">
              <a:solidFill>
                <a:srgbClr val="00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sz="1000">
                <a:latin typeface="Arial" panose="020B0604020202020204" pitchFamily="34" charset="0"/>
                <a:cs typeface="Arial" panose="020B0604020202020204" pitchFamily="34" charset="0"/>
              </a:endParaRPr>
            </a:p>
          </p:txBody>
        </p:sp>
        <p:sp>
          <p:nvSpPr>
            <p:cNvPr id="100" name="Oval 324"/>
            <p:cNvSpPr>
              <a:spLocks noChangeArrowheads="1"/>
            </p:cNvSpPr>
            <p:nvPr/>
          </p:nvSpPr>
          <p:spPr bwMode="auto">
            <a:xfrm>
              <a:off x="2932113" y="4356101"/>
              <a:ext cx="63500" cy="66675"/>
            </a:xfrm>
            <a:prstGeom prst="ellipse">
              <a:avLst/>
            </a:prstGeom>
            <a:noFill/>
            <a:ln w="0">
              <a:solidFill>
                <a:srgbClr val="00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sz="1000">
                <a:latin typeface="Arial" panose="020B0604020202020204" pitchFamily="34" charset="0"/>
                <a:cs typeface="Arial" panose="020B0604020202020204" pitchFamily="34" charset="0"/>
              </a:endParaRPr>
            </a:p>
          </p:txBody>
        </p:sp>
        <p:sp>
          <p:nvSpPr>
            <p:cNvPr id="101" name="Oval 325"/>
            <p:cNvSpPr>
              <a:spLocks noChangeArrowheads="1"/>
            </p:cNvSpPr>
            <p:nvPr/>
          </p:nvSpPr>
          <p:spPr bwMode="auto">
            <a:xfrm>
              <a:off x="3027363" y="4262438"/>
              <a:ext cx="63500" cy="66675"/>
            </a:xfrm>
            <a:prstGeom prst="ellipse">
              <a:avLst/>
            </a:prstGeom>
            <a:noFill/>
            <a:ln w="0">
              <a:solidFill>
                <a:srgbClr val="00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sz="1000">
                <a:latin typeface="Arial" panose="020B0604020202020204" pitchFamily="34" charset="0"/>
                <a:cs typeface="Arial" panose="020B0604020202020204" pitchFamily="34" charset="0"/>
              </a:endParaRPr>
            </a:p>
          </p:txBody>
        </p:sp>
        <p:sp>
          <p:nvSpPr>
            <p:cNvPr id="102" name="Oval 326"/>
            <p:cNvSpPr>
              <a:spLocks noChangeArrowheads="1"/>
            </p:cNvSpPr>
            <p:nvPr/>
          </p:nvSpPr>
          <p:spPr bwMode="auto">
            <a:xfrm>
              <a:off x="3122613" y="4164013"/>
              <a:ext cx="63500" cy="66675"/>
            </a:xfrm>
            <a:prstGeom prst="ellipse">
              <a:avLst/>
            </a:prstGeom>
            <a:noFill/>
            <a:ln w="0">
              <a:solidFill>
                <a:srgbClr val="00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sz="1000">
                <a:latin typeface="Arial" panose="020B0604020202020204" pitchFamily="34" charset="0"/>
                <a:cs typeface="Arial" panose="020B0604020202020204" pitchFamily="34" charset="0"/>
              </a:endParaRPr>
            </a:p>
          </p:txBody>
        </p:sp>
        <p:sp>
          <p:nvSpPr>
            <p:cNvPr id="103" name="Oval 327"/>
            <p:cNvSpPr>
              <a:spLocks noChangeArrowheads="1"/>
            </p:cNvSpPr>
            <p:nvPr/>
          </p:nvSpPr>
          <p:spPr bwMode="auto">
            <a:xfrm>
              <a:off x="3211513" y="4064001"/>
              <a:ext cx="63500" cy="66675"/>
            </a:xfrm>
            <a:prstGeom prst="ellipse">
              <a:avLst/>
            </a:prstGeom>
            <a:noFill/>
            <a:ln w="0">
              <a:solidFill>
                <a:srgbClr val="00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sz="1000">
                <a:latin typeface="Arial" panose="020B0604020202020204" pitchFamily="34" charset="0"/>
                <a:cs typeface="Arial" panose="020B0604020202020204" pitchFamily="34" charset="0"/>
              </a:endParaRPr>
            </a:p>
          </p:txBody>
        </p:sp>
        <p:sp>
          <p:nvSpPr>
            <p:cNvPr id="104" name="Oval 328"/>
            <p:cNvSpPr>
              <a:spLocks noChangeArrowheads="1"/>
            </p:cNvSpPr>
            <p:nvPr/>
          </p:nvSpPr>
          <p:spPr bwMode="auto">
            <a:xfrm>
              <a:off x="3306763" y="3971926"/>
              <a:ext cx="63500" cy="66675"/>
            </a:xfrm>
            <a:prstGeom prst="ellipse">
              <a:avLst/>
            </a:prstGeom>
            <a:noFill/>
            <a:ln w="0">
              <a:solidFill>
                <a:srgbClr val="00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sz="1000">
                <a:latin typeface="Arial" panose="020B0604020202020204" pitchFamily="34" charset="0"/>
                <a:cs typeface="Arial" panose="020B0604020202020204" pitchFamily="34" charset="0"/>
              </a:endParaRPr>
            </a:p>
          </p:txBody>
        </p:sp>
        <p:sp>
          <p:nvSpPr>
            <p:cNvPr id="105" name="Oval 329"/>
            <p:cNvSpPr>
              <a:spLocks noChangeArrowheads="1"/>
            </p:cNvSpPr>
            <p:nvPr/>
          </p:nvSpPr>
          <p:spPr bwMode="auto">
            <a:xfrm>
              <a:off x="3395663" y="3871913"/>
              <a:ext cx="63500" cy="66675"/>
            </a:xfrm>
            <a:prstGeom prst="ellipse">
              <a:avLst/>
            </a:prstGeom>
            <a:noFill/>
            <a:ln w="0">
              <a:solidFill>
                <a:srgbClr val="00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sz="1000">
                <a:latin typeface="Arial" panose="020B0604020202020204" pitchFamily="34" charset="0"/>
                <a:cs typeface="Arial" panose="020B0604020202020204" pitchFamily="34" charset="0"/>
              </a:endParaRPr>
            </a:p>
          </p:txBody>
        </p:sp>
        <p:sp>
          <p:nvSpPr>
            <p:cNvPr id="106" name="Oval 330"/>
            <p:cNvSpPr>
              <a:spLocks noChangeArrowheads="1"/>
            </p:cNvSpPr>
            <p:nvPr/>
          </p:nvSpPr>
          <p:spPr bwMode="auto">
            <a:xfrm>
              <a:off x="2932113" y="4356101"/>
              <a:ext cx="63500" cy="66675"/>
            </a:xfrm>
            <a:prstGeom prst="ellipse">
              <a:avLst/>
            </a:prstGeom>
            <a:noFill/>
            <a:ln w="0">
              <a:solidFill>
                <a:srgbClr val="00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sz="1000">
                <a:latin typeface="Arial" panose="020B0604020202020204" pitchFamily="34" charset="0"/>
                <a:cs typeface="Arial" panose="020B0604020202020204" pitchFamily="34" charset="0"/>
              </a:endParaRPr>
            </a:p>
          </p:txBody>
        </p:sp>
        <p:sp>
          <p:nvSpPr>
            <p:cNvPr id="107" name="Oval 331"/>
            <p:cNvSpPr>
              <a:spLocks noChangeArrowheads="1"/>
            </p:cNvSpPr>
            <p:nvPr/>
          </p:nvSpPr>
          <p:spPr bwMode="auto">
            <a:xfrm>
              <a:off x="3027363" y="4262438"/>
              <a:ext cx="63500" cy="66675"/>
            </a:xfrm>
            <a:prstGeom prst="ellipse">
              <a:avLst/>
            </a:prstGeom>
            <a:noFill/>
            <a:ln w="0">
              <a:solidFill>
                <a:srgbClr val="00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sz="1000">
                <a:latin typeface="Arial" panose="020B0604020202020204" pitchFamily="34" charset="0"/>
                <a:cs typeface="Arial" panose="020B0604020202020204" pitchFamily="34" charset="0"/>
              </a:endParaRPr>
            </a:p>
          </p:txBody>
        </p:sp>
        <p:sp>
          <p:nvSpPr>
            <p:cNvPr id="108" name="Oval 332"/>
            <p:cNvSpPr>
              <a:spLocks noChangeArrowheads="1"/>
            </p:cNvSpPr>
            <p:nvPr/>
          </p:nvSpPr>
          <p:spPr bwMode="auto">
            <a:xfrm>
              <a:off x="3122613" y="4164013"/>
              <a:ext cx="63500" cy="66675"/>
            </a:xfrm>
            <a:prstGeom prst="ellipse">
              <a:avLst/>
            </a:prstGeom>
            <a:noFill/>
            <a:ln w="0">
              <a:solidFill>
                <a:srgbClr val="00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sz="1000">
                <a:latin typeface="Arial" panose="020B0604020202020204" pitchFamily="34" charset="0"/>
                <a:cs typeface="Arial" panose="020B0604020202020204" pitchFamily="34" charset="0"/>
              </a:endParaRPr>
            </a:p>
          </p:txBody>
        </p:sp>
        <p:sp>
          <p:nvSpPr>
            <p:cNvPr id="109" name="Oval 333"/>
            <p:cNvSpPr>
              <a:spLocks noChangeArrowheads="1"/>
            </p:cNvSpPr>
            <p:nvPr/>
          </p:nvSpPr>
          <p:spPr bwMode="auto">
            <a:xfrm>
              <a:off x="3211513" y="4064001"/>
              <a:ext cx="63500" cy="66675"/>
            </a:xfrm>
            <a:prstGeom prst="ellipse">
              <a:avLst/>
            </a:prstGeom>
            <a:noFill/>
            <a:ln w="0">
              <a:solidFill>
                <a:srgbClr val="00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sz="1000">
                <a:latin typeface="Arial" panose="020B0604020202020204" pitchFamily="34" charset="0"/>
                <a:cs typeface="Arial" panose="020B0604020202020204" pitchFamily="34" charset="0"/>
              </a:endParaRPr>
            </a:p>
          </p:txBody>
        </p:sp>
        <p:sp>
          <p:nvSpPr>
            <p:cNvPr id="110" name="Oval 334"/>
            <p:cNvSpPr>
              <a:spLocks noChangeArrowheads="1"/>
            </p:cNvSpPr>
            <p:nvPr/>
          </p:nvSpPr>
          <p:spPr bwMode="auto">
            <a:xfrm>
              <a:off x="3306763" y="3971926"/>
              <a:ext cx="63500" cy="66675"/>
            </a:xfrm>
            <a:prstGeom prst="ellipse">
              <a:avLst/>
            </a:prstGeom>
            <a:noFill/>
            <a:ln w="0">
              <a:solidFill>
                <a:srgbClr val="00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sz="1000">
                <a:latin typeface="Arial" panose="020B0604020202020204" pitchFamily="34" charset="0"/>
                <a:cs typeface="Arial" panose="020B0604020202020204" pitchFamily="34" charset="0"/>
              </a:endParaRPr>
            </a:p>
          </p:txBody>
        </p:sp>
        <p:sp>
          <p:nvSpPr>
            <p:cNvPr id="111" name="Oval 335"/>
            <p:cNvSpPr>
              <a:spLocks noChangeArrowheads="1"/>
            </p:cNvSpPr>
            <p:nvPr/>
          </p:nvSpPr>
          <p:spPr bwMode="auto">
            <a:xfrm>
              <a:off x="3395663" y="3871913"/>
              <a:ext cx="63500" cy="66675"/>
            </a:xfrm>
            <a:prstGeom prst="ellipse">
              <a:avLst/>
            </a:prstGeom>
            <a:noFill/>
            <a:ln w="0">
              <a:solidFill>
                <a:srgbClr val="00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sz="1000">
                <a:latin typeface="Arial" panose="020B0604020202020204" pitchFamily="34" charset="0"/>
                <a:cs typeface="Arial" panose="020B0604020202020204" pitchFamily="34" charset="0"/>
              </a:endParaRPr>
            </a:p>
          </p:txBody>
        </p:sp>
        <p:sp>
          <p:nvSpPr>
            <p:cNvPr id="112" name="Oval 336"/>
            <p:cNvSpPr>
              <a:spLocks noChangeArrowheads="1"/>
            </p:cNvSpPr>
            <p:nvPr/>
          </p:nvSpPr>
          <p:spPr bwMode="auto">
            <a:xfrm>
              <a:off x="2932113" y="4356101"/>
              <a:ext cx="63500" cy="66675"/>
            </a:xfrm>
            <a:prstGeom prst="ellipse">
              <a:avLst/>
            </a:prstGeom>
            <a:noFill/>
            <a:ln w="0">
              <a:solidFill>
                <a:srgbClr val="00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sz="1000">
                <a:latin typeface="Arial" panose="020B0604020202020204" pitchFamily="34" charset="0"/>
                <a:cs typeface="Arial" panose="020B0604020202020204" pitchFamily="34" charset="0"/>
              </a:endParaRPr>
            </a:p>
          </p:txBody>
        </p:sp>
        <p:sp>
          <p:nvSpPr>
            <p:cNvPr id="113" name="Oval 337"/>
            <p:cNvSpPr>
              <a:spLocks noChangeArrowheads="1"/>
            </p:cNvSpPr>
            <p:nvPr/>
          </p:nvSpPr>
          <p:spPr bwMode="auto">
            <a:xfrm>
              <a:off x="3027363" y="4262438"/>
              <a:ext cx="63500" cy="66675"/>
            </a:xfrm>
            <a:prstGeom prst="ellipse">
              <a:avLst/>
            </a:prstGeom>
            <a:noFill/>
            <a:ln w="0">
              <a:solidFill>
                <a:srgbClr val="00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sz="1000">
                <a:latin typeface="Arial" panose="020B0604020202020204" pitchFamily="34" charset="0"/>
                <a:cs typeface="Arial" panose="020B0604020202020204" pitchFamily="34" charset="0"/>
              </a:endParaRPr>
            </a:p>
          </p:txBody>
        </p:sp>
        <p:sp>
          <p:nvSpPr>
            <p:cNvPr id="114" name="Oval 338"/>
            <p:cNvSpPr>
              <a:spLocks noChangeArrowheads="1"/>
            </p:cNvSpPr>
            <p:nvPr/>
          </p:nvSpPr>
          <p:spPr bwMode="auto">
            <a:xfrm>
              <a:off x="3122613" y="4164013"/>
              <a:ext cx="63500" cy="66675"/>
            </a:xfrm>
            <a:prstGeom prst="ellipse">
              <a:avLst/>
            </a:prstGeom>
            <a:noFill/>
            <a:ln w="0">
              <a:solidFill>
                <a:srgbClr val="00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sz="1000">
                <a:latin typeface="Arial" panose="020B0604020202020204" pitchFamily="34" charset="0"/>
                <a:cs typeface="Arial" panose="020B0604020202020204" pitchFamily="34" charset="0"/>
              </a:endParaRPr>
            </a:p>
          </p:txBody>
        </p:sp>
        <p:sp>
          <p:nvSpPr>
            <p:cNvPr id="115" name="Oval 339"/>
            <p:cNvSpPr>
              <a:spLocks noChangeArrowheads="1"/>
            </p:cNvSpPr>
            <p:nvPr/>
          </p:nvSpPr>
          <p:spPr bwMode="auto">
            <a:xfrm>
              <a:off x="3211513" y="4064001"/>
              <a:ext cx="63500" cy="66675"/>
            </a:xfrm>
            <a:prstGeom prst="ellipse">
              <a:avLst/>
            </a:prstGeom>
            <a:noFill/>
            <a:ln w="0">
              <a:solidFill>
                <a:srgbClr val="00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sz="1000">
                <a:latin typeface="Arial" panose="020B0604020202020204" pitchFamily="34" charset="0"/>
                <a:cs typeface="Arial" panose="020B0604020202020204" pitchFamily="34" charset="0"/>
              </a:endParaRPr>
            </a:p>
          </p:txBody>
        </p:sp>
        <p:sp>
          <p:nvSpPr>
            <p:cNvPr id="116" name="Oval 340"/>
            <p:cNvSpPr>
              <a:spLocks noChangeArrowheads="1"/>
            </p:cNvSpPr>
            <p:nvPr/>
          </p:nvSpPr>
          <p:spPr bwMode="auto">
            <a:xfrm>
              <a:off x="3306763" y="3971926"/>
              <a:ext cx="63500" cy="66675"/>
            </a:xfrm>
            <a:prstGeom prst="ellipse">
              <a:avLst/>
            </a:prstGeom>
            <a:noFill/>
            <a:ln w="0">
              <a:solidFill>
                <a:srgbClr val="00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sz="1000">
                <a:latin typeface="Arial" panose="020B0604020202020204" pitchFamily="34" charset="0"/>
                <a:cs typeface="Arial" panose="020B0604020202020204" pitchFamily="34" charset="0"/>
              </a:endParaRPr>
            </a:p>
          </p:txBody>
        </p:sp>
        <p:sp>
          <p:nvSpPr>
            <p:cNvPr id="117" name="Oval 341"/>
            <p:cNvSpPr>
              <a:spLocks noChangeArrowheads="1"/>
            </p:cNvSpPr>
            <p:nvPr/>
          </p:nvSpPr>
          <p:spPr bwMode="auto">
            <a:xfrm>
              <a:off x="3395663" y="3871913"/>
              <a:ext cx="63500" cy="66675"/>
            </a:xfrm>
            <a:prstGeom prst="ellipse">
              <a:avLst/>
            </a:prstGeom>
            <a:noFill/>
            <a:ln w="0">
              <a:solidFill>
                <a:srgbClr val="00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sz="1000">
                <a:latin typeface="Arial" panose="020B0604020202020204" pitchFamily="34" charset="0"/>
                <a:cs typeface="Arial" panose="020B0604020202020204" pitchFamily="34" charset="0"/>
              </a:endParaRPr>
            </a:p>
          </p:txBody>
        </p:sp>
        <p:sp>
          <p:nvSpPr>
            <p:cNvPr id="118" name="Oval 342"/>
            <p:cNvSpPr>
              <a:spLocks noChangeArrowheads="1"/>
            </p:cNvSpPr>
            <p:nvPr/>
          </p:nvSpPr>
          <p:spPr bwMode="auto">
            <a:xfrm>
              <a:off x="2932113" y="4356101"/>
              <a:ext cx="63500" cy="66675"/>
            </a:xfrm>
            <a:prstGeom prst="ellipse">
              <a:avLst/>
            </a:prstGeom>
            <a:noFill/>
            <a:ln w="0">
              <a:solidFill>
                <a:srgbClr val="00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sz="1000">
                <a:latin typeface="Arial" panose="020B0604020202020204" pitchFamily="34" charset="0"/>
                <a:cs typeface="Arial" panose="020B0604020202020204" pitchFamily="34" charset="0"/>
              </a:endParaRPr>
            </a:p>
          </p:txBody>
        </p:sp>
        <p:sp>
          <p:nvSpPr>
            <p:cNvPr id="119" name="Oval 343"/>
            <p:cNvSpPr>
              <a:spLocks noChangeArrowheads="1"/>
            </p:cNvSpPr>
            <p:nvPr/>
          </p:nvSpPr>
          <p:spPr bwMode="auto">
            <a:xfrm>
              <a:off x="3027363" y="4262438"/>
              <a:ext cx="63500" cy="66675"/>
            </a:xfrm>
            <a:prstGeom prst="ellipse">
              <a:avLst/>
            </a:prstGeom>
            <a:noFill/>
            <a:ln w="0">
              <a:solidFill>
                <a:srgbClr val="00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sz="1000">
                <a:latin typeface="Arial" panose="020B0604020202020204" pitchFamily="34" charset="0"/>
                <a:cs typeface="Arial" panose="020B0604020202020204" pitchFamily="34" charset="0"/>
              </a:endParaRPr>
            </a:p>
          </p:txBody>
        </p:sp>
        <p:sp>
          <p:nvSpPr>
            <p:cNvPr id="120" name="Oval 344"/>
            <p:cNvSpPr>
              <a:spLocks noChangeArrowheads="1"/>
            </p:cNvSpPr>
            <p:nvPr/>
          </p:nvSpPr>
          <p:spPr bwMode="auto">
            <a:xfrm>
              <a:off x="3122613" y="4164013"/>
              <a:ext cx="63500" cy="66675"/>
            </a:xfrm>
            <a:prstGeom prst="ellipse">
              <a:avLst/>
            </a:prstGeom>
            <a:noFill/>
            <a:ln w="0">
              <a:solidFill>
                <a:srgbClr val="00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sz="1000">
                <a:latin typeface="Arial" panose="020B0604020202020204" pitchFamily="34" charset="0"/>
                <a:cs typeface="Arial" panose="020B0604020202020204" pitchFamily="34" charset="0"/>
              </a:endParaRPr>
            </a:p>
          </p:txBody>
        </p:sp>
        <p:sp>
          <p:nvSpPr>
            <p:cNvPr id="121" name="Oval 345"/>
            <p:cNvSpPr>
              <a:spLocks noChangeArrowheads="1"/>
            </p:cNvSpPr>
            <p:nvPr/>
          </p:nvSpPr>
          <p:spPr bwMode="auto">
            <a:xfrm>
              <a:off x="3211513" y="4064001"/>
              <a:ext cx="63500" cy="66675"/>
            </a:xfrm>
            <a:prstGeom prst="ellipse">
              <a:avLst/>
            </a:prstGeom>
            <a:noFill/>
            <a:ln w="0">
              <a:solidFill>
                <a:srgbClr val="00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sz="1000">
                <a:latin typeface="Arial" panose="020B0604020202020204" pitchFamily="34" charset="0"/>
                <a:cs typeface="Arial" panose="020B0604020202020204" pitchFamily="34" charset="0"/>
              </a:endParaRPr>
            </a:p>
          </p:txBody>
        </p:sp>
        <p:sp>
          <p:nvSpPr>
            <p:cNvPr id="122" name="Oval 346"/>
            <p:cNvSpPr>
              <a:spLocks noChangeArrowheads="1"/>
            </p:cNvSpPr>
            <p:nvPr/>
          </p:nvSpPr>
          <p:spPr bwMode="auto">
            <a:xfrm>
              <a:off x="3306763" y="3971926"/>
              <a:ext cx="63500" cy="66675"/>
            </a:xfrm>
            <a:prstGeom prst="ellipse">
              <a:avLst/>
            </a:prstGeom>
            <a:noFill/>
            <a:ln w="0">
              <a:solidFill>
                <a:srgbClr val="00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sz="1000">
                <a:latin typeface="Arial" panose="020B0604020202020204" pitchFamily="34" charset="0"/>
                <a:cs typeface="Arial" panose="020B0604020202020204" pitchFamily="34" charset="0"/>
              </a:endParaRPr>
            </a:p>
          </p:txBody>
        </p:sp>
        <p:sp>
          <p:nvSpPr>
            <p:cNvPr id="123" name="Oval 347"/>
            <p:cNvSpPr>
              <a:spLocks noChangeArrowheads="1"/>
            </p:cNvSpPr>
            <p:nvPr/>
          </p:nvSpPr>
          <p:spPr bwMode="auto">
            <a:xfrm>
              <a:off x="3395663" y="3871913"/>
              <a:ext cx="63500" cy="66675"/>
            </a:xfrm>
            <a:prstGeom prst="ellipse">
              <a:avLst/>
            </a:prstGeom>
            <a:noFill/>
            <a:ln w="0">
              <a:solidFill>
                <a:srgbClr val="00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sz="1000">
                <a:latin typeface="Arial" panose="020B0604020202020204" pitchFamily="34" charset="0"/>
                <a:cs typeface="Arial" panose="020B0604020202020204" pitchFamily="34" charset="0"/>
              </a:endParaRPr>
            </a:p>
          </p:txBody>
        </p:sp>
        <p:sp>
          <p:nvSpPr>
            <p:cNvPr id="124" name="Rectangle 348"/>
            <p:cNvSpPr>
              <a:spLocks noChangeArrowheads="1"/>
            </p:cNvSpPr>
            <p:nvPr/>
          </p:nvSpPr>
          <p:spPr bwMode="auto">
            <a:xfrm>
              <a:off x="2573549" y="5004744"/>
              <a:ext cx="1001877" cy="15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smtClean="0">
                  <a:ln>
                    <a:noFill/>
                  </a:ln>
                  <a:solidFill>
                    <a:srgbClr val="000000"/>
                  </a:solidFill>
                  <a:effectLst/>
                  <a:cs typeface="Arial" panose="020B0604020202020204" pitchFamily="34" charset="0"/>
                </a:rPr>
                <a:t>Time in syllable A</a:t>
              </a:r>
              <a:endParaRPr kumimoji="0" lang="en-US" altLang="en-US" sz="1000" b="0" i="0" u="none" strike="noStrike" cap="none" normalizeH="0" baseline="0" dirty="0" smtClean="0">
                <a:ln>
                  <a:noFill/>
                </a:ln>
                <a:solidFill>
                  <a:schemeClr val="tx1"/>
                </a:solidFill>
                <a:effectLst/>
                <a:cs typeface="Arial" panose="020B0604020202020204" pitchFamily="34" charset="0"/>
              </a:endParaRPr>
            </a:p>
          </p:txBody>
        </p:sp>
        <p:sp>
          <p:nvSpPr>
            <p:cNvPr id="125" name="Rectangle 349"/>
            <p:cNvSpPr>
              <a:spLocks noChangeArrowheads="1"/>
            </p:cNvSpPr>
            <p:nvPr/>
          </p:nvSpPr>
          <p:spPr bwMode="auto">
            <a:xfrm rot="16200000">
              <a:off x="1822366" y="4210101"/>
              <a:ext cx="1001877" cy="15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smtClean="0">
                  <a:ln>
                    <a:noFill/>
                  </a:ln>
                  <a:solidFill>
                    <a:srgbClr val="000000"/>
                  </a:solidFill>
                  <a:effectLst/>
                  <a:cs typeface="Arial" panose="020B0604020202020204" pitchFamily="34" charset="0"/>
                </a:rPr>
                <a:t>Time in syllable B</a:t>
              </a:r>
              <a:endParaRPr kumimoji="0" lang="en-US" altLang="en-US" sz="1000" b="0" i="0" u="none" strike="noStrike" cap="none" normalizeH="0" baseline="0" dirty="0" smtClean="0">
                <a:ln>
                  <a:noFill/>
                </a:ln>
                <a:solidFill>
                  <a:schemeClr val="tx1"/>
                </a:solidFill>
                <a:effectLst/>
                <a:cs typeface="Arial" panose="020B0604020202020204" pitchFamily="34" charset="0"/>
              </a:endParaRPr>
            </a:p>
          </p:txBody>
        </p:sp>
      </p:grpSp>
      <p:sp>
        <p:nvSpPr>
          <p:cNvPr id="130" name="Rectangle 129"/>
          <p:cNvSpPr/>
          <p:nvPr/>
        </p:nvSpPr>
        <p:spPr>
          <a:xfrm>
            <a:off x="813802" y="5341081"/>
            <a:ext cx="3864864" cy="276999"/>
          </a:xfrm>
          <a:prstGeom prst="rect">
            <a:avLst/>
          </a:prstGeom>
        </p:spPr>
        <p:txBody>
          <a:bodyPr wrap="square">
            <a:spAutoFit/>
          </a:bodyPr>
          <a:lstStyle/>
          <a:p>
            <a:endParaRPr lang="en-US" sz="1200" dirty="0"/>
          </a:p>
        </p:txBody>
      </p:sp>
      <p:sp>
        <p:nvSpPr>
          <p:cNvPr id="132" name="Rectangle 131"/>
          <p:cNvSpPr/>
          <p:nvPr/>
        </p:nvSpPr>
        <p:spPr>
          <a:xfrm>
            <a:off x="3633062" y="2378774"/>
            <a:ext cx="2239346" cy="261610"/>
          </a:xfrm>
          <a:prstGeom prst="rect">
            <a:avLst/>
          </a:prstGeom>
        </p:spPr>
        <p:txBody>
          <a:bodyPr wrap="square">
            <a:spAutoFit/>
          </a:bodyPr>
          <a:lstStyle/>
          <a:p>
            <a:pPr algn="ctr"/>
            <a:r>
              <a:rPr lang="en-US" sz="1100" dirty="0" smtClean="0">
                <a:latin typeface="Arial" panose="020B0604020202020204" pitchFamily="34" charset="0"/>
                <a:cs typeface="Arial" panose="020B0604020202020204" pitchFamily="34" charset="0"/>
              </a:rPr>
              <a:t>Period of rhythm</a:t>
            </a:r>
            <a:endParaRPr lang="en-US" sz="1100" dirty="0"/>
          </a:p>
        </p:txBody>
      </p:sp>
      <p:sp>
        <p:nvSpPr>
          <p:cNvPr id="133" name="Rectangle 132"/>
          <p:cNvSpPr/>
          <p:nvPr/>
        </p:nvSpPr>
        <p:spPr>
          <a:xfrm>
            <a:off x="694598" y="2378774"/>
            <a:ext cx="2239346" cy="261610"/>
          </a:xfrm>
          <a:prstGeom prst="rect">
            <a:avLst/>
          </a:prstGeom>
        </p:spPr>
        <p:txBody>
          <a:bodyPr wrap="square">
            <a:spAutoFit/>
          </a:bodyPr>
          <a:lstStyle/>
          <a:p>
            <a:pPr algn="ctr"/>
            <a:r>
              <a:rPr lang="en-US" sz="1100" dirty="0" smtClean="0">
                <a:latin typeface="Arial" panose="020B0604020202020204" pitchFamily="34" charset="0"/>
                <a:cs typeface="Arial" panose="020B0604020202020204" pitchFamily="34" charset="0"/>
              </a:rPr>
              <a:t>Fraction specific neurons</a:t>
            </a:r>
            <a:endParaRPr lang="en-US" sz="1100" dirty="0"/>
          </a:p>
        </p:txBody>
      </p:sp>
      <p:sp>
        <p:nvSpPr>
          <p:cNvPr id="247" name="Rectangle 111"/>
          <p:cNvSpPr>
            <a:spLocks noChangeArrowheads="1"/>
          </p:cNvSpPr>
          <p:nvPr/>
        </p:nvSpPr>
        <p:spPr bwMode="auto">
          <a:xfrm>
            <a:off x="766763" y="649288"/>
            <a:ext cx="1592263" cy="1304925"/>
          </a:xfrm>
          <a:prstGeom prst="rect">
            <a:avLst/>
          </a:prstGeom>
          <a:noFill/>
          <a:ln w="0">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sz="1000">
              <a:latin typeface="Arial" panose="020B0604020202020204" pitchFamily="34" charset="0"/>
              <a:cs typeface="Arial" panose="020B0604020202020204" pitchFamily="34" charset="0"/>
            </a:endParaRPr>
          </a:p>
        </p:txBody>
      </p:sp>
      <p:grpSp>
        <p:nvGrpSpPr>
          <p:cNvPr id="309" name="Group 308"/>
          <p:cNvGrpSpPr/>
          <p:nvPr/>
        </p:nvGrpSpPr>
        <p:grpSpPr>
          <a:xfrm>
            <a:off x="396328" y="523496"/>
            <a:ext cx="2211387" cy="1494943"/>
            <a:chOff x="304801" y="836612"/>
            <a:chExt cx="2211387" cy="1494943"/>
          </a:xfrm>
        </p:grpSpPr>
        <p:sp>
          <p:nvSpPr>
            <p:cNvPr id="248" name="Line 112"/>
            <p:cNvSpPr>
              <a:spLocks noChangeShapeType="1"/>
            </p:cNvSpPr>
            <p:nvPr/>
          </p:nvSpPr>
          <p:spPr bwMode="auto">
            <a:xfrm>
              <a:off x="766763" y="1954213"/>
              <a:ext cx="1592263" cy="0"/>
            </a:xfrm>
            <a:prstGeom prst="line">
              <a:avLst/>
            </a:prstGeom>
            <a:noFill/>
            <a:ln w="0">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sz="1000">
                <a:latin typeface="Arial" panose="020B0604020202020204" pitchFamily="34" charset="0"/>
                <a:cs typeface="Arial" panose="020B0604020202020204" pitchFamily="34" charset="0"/>
              </a:endParaRPr>
            </a:p>
          </p:txBody>
        </p:sp>
        <p:sp>
          <p:nvSpPr>
            <p:cNvPr id="249" name="Line 113"/>
            <p:cNvSpPr>
              <a:spLocks noChangeShapeType="1"/>
            </p:cNvSpPr>
            <p:nvPr/>
          </p:nvSpPr>
          <p:spPr bwMode="auto">
            <a:xfrm flipV="1">
              <a:off x="766763" y="908049"/>
              <a:ext cx="0" cy="1046163"/>
            </a:xfrm>
            <a:prstGeom prst="line">
              <a:avLst/>
            </a:prstGeom>
            <a:noFill/>
            <a:ln w="0">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sz="1000">
                <a:latin typeface="Arial" panose="020B0604020202020204" pitchFamily="34" charset="0"/>
                <a:cs typeface="Arial" panose="020B0604020202020204" pitchFamily="34" charset="0"/>
              </a:endParaRPr>
            </a:p>
          </p:txBody>
        </p:sp>
        <p:sp>
          <p:nvSpPr>
            <p:cNvPr id="250" name="Line 114"/>
            <p:cNvSpPr>
              <a:spLocks noChangeShapeType="1"/>
            </p:cNvSpPr>
            <p:nvPr/>
          </p:nvSpPr>
          <p:spPr bwMode="auto">
            <a:xfrm>
              <a:off x="842963" y="1954213"/>
              <a:ext cx="0" cy="15875"/>
            </a:xfrm>
            <a:prstGeom prst="line">
              <a:avLst/>
            </a:prstGeom>
            <a:noFill/>
            <a:ln w="0">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sz="1000">
                <a:latin typeface="Arial" panose="020B0604020202020204" pitchFamily="34" charset="0"/>
                <a:cs typeface="Arial" panose="020B0604020202020204" pitchFamily="34" charset="0"/>
              </a:endParaRPr>
            </a:p>
          </p:txBody>
        </p:sp>
        <p:sp>
          <p:nvSpPr>
            <p:cNvPr id="251" name="Rectangle 115"/>
            <p:cNvSpPr>
              <a:spLocks noChangeArrowheads="1"/>
            </p:cNvSpPr>
            <p:nvPr/>
          </p:nvSpPr>
          <p:spPr bwMode="auto">
            <a:xfrm>
              <a:off x="831850" y="1984375"/>
              <a:ext cx="69850" cy="153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smtClean="0">
                  <a:ln>
                    <a:noFill/>
                  </a:ln>
                  <a:solidFill>
                    <a:srgbClr val="000000"/>
                  </a:solidFill>
                  <a:effectLst/>
                  <a:cs typeface="Arial" panose="020B0604020202020204" pitchFamily="34" charset="0"/>
                </a:rPr>
                <a:t>1</a:t>
              </a:r>
              <a:endParaRPr kumimoji="0" lang="en-US" altLang="en-US" sz="1000" b="0" i="0" u="none" strike="noStrike" cap="none" normalizeH="0" baseline="0" smtClean="0">
                <a:ln>
                  <a:noFill/>
                </a:ln>
                <a:solidFill>
                  <a:schemeClr val="tx1"/>
                </a:solidFill>
                <a:effectLst/>
                <a:cs typeface="Arial" panose="020B0604020202020204" pitchFamily="34" charset="0"/>
              </a:endParaRPr>
            </a:p>
          </p:txBody>
        </p:sp>
        <p:sp>
          <p:nvSpPr>
            <p:cNvPr id="252" name="Line 116"/>
            <p:cNvSpPr>
              <a:spLocks noChangeShapeType="1"/>
            </p:cNvSpPr>
            <p:nvPr/>
          </p:nvSpPr>
          <p:spPr bwMode="auto">
            <a:xfrm>
              <a:off x="1004888" y="1954213"/>
              <a:ext cx="0" cy="15875"/>
            </a:xfrm>
            <a:prstGeom prst="line">
              <a:avLst/>
            </a:prstGeom>
            <a:noFill/>
            <a:ln w="0">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sz="1000">
                <a:latin typeface="Arial" panose="020B0604020202020204" pitchFamily="34" charset="0"/>
                <a:cs typeface="Arial" panose="020B0604020202020204" pitchFamily="34" charset="0"/>
              </a:endParaRPr>
            </a:p>
          </p:txBody>
        </p:sp>
        <p:sp>
          <p:nvSpPr>
            <p:cNvPr id="254" name="Line 118"/>
            <p:cNvSpPr>
              <a:spLocks noChangeShapeType="1"/>
            </p:cNvSpPr>
            <p:nvPr/>
          </p:nvSpPr>
          <p:spPr bwMode="auto">
            <a:xfrm>
              <a:off x="1162050" y="1954213"/>
              <a:ext cx="0" cy="15875"/>
            </a:xfrm>
            <a:prstGeom prst="line">
              <a:avLst/>
            </a:prstGeom>
            <a:noFill/>
            <a:ln w="0">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sz="1000">
                <a:latin typeface="Arial" panose="020B0604020202020204" pitchFamily="34" charset="0"/>
                <a:cs typeface="Arial" panose="020B0604020202020204" pitchFamily="34" charset="0"/>
              </a:endParaRPr>
            </a:p>
          </p:txBody>
        </p:sp>
        <p:sp>
          <p:nvSpPr>
            <p:cNvPr id="256" name="Line 120"/>
            <p:cNvSpPr>
              <a:spLocks noChangeShapeType="1"/>
            </p:cNvSpPr>
            <p:nvPr/>
          </p:nvSpPr>
          <p:spPr bwMode="auto">
            <a:xfrm>
              <a:off x="1320800" y="1954213"/>
              <a:ext cx="0" cy="15875"/>
            </a:xfrm>
            <a:prstGeom prst="line">
              <a:avLst/>
            </a:prstGeom>
            <a:noFill/>
            <a:ln w="0">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sz="1000">
                <a:latin typeface="Arial" panose="020B0604020202020204" pitchFamily="34" charset="0"/>
                <a:cs typeface="Arial" panose="020B0604020202020204" pitchFamily="34" charset="0"/>
              </a:endParaRPr>
            </a:p>
          </p:txBody>
        </p:sp>
        <p:sp>
          <p:nvSpPr>
            <p:cNvPr id="258" name="Line 122"/>
            <p:cNvSpPr>
              <a:spLocks noChangeShapeType="1"/>
            </p:cNvSpPr>
            <p:nvPr/>
          </p:nvSpPr>
          <p:spPr bwMode="auto">
            <a:xfrm>
              <a:off x="1481138" y="1954213"/>
              <a:ext cx="0" cy="15875"/>
            </a:xfrm>
            <a:prstGeom prst="line">
              <a:avLst/>
            </a:prstGeom>
            <a:noFill/>
            <a:ln w="0">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sz="1000">
                <a:latin typeface="Arial" panose="020B0604020202020204" pitchFamily="34" charset="0"/>
                <a:cs typeface="Arial" panose="020B0604020202020204" pitchFamily="34" charset="0"/>
              </a:endParaRPr>
            </a:p>
          </p:txBody>
        </p:sp>
        <p:sp>
          <p:nvSpPr>
            <p:cNvPr id="260" name="Line 124"/>
            <p:cNvSpPr>
              <a:spLocks noChangeShapeType="1"/>
            </p:cNvSpPr>
            <p:nvPr/>
          </p:nvSpPr>
          <p:spPr bwMode="auto">
            <a:xfrm>
              <a:off x="1639888" y="1954213"/>
              <a:ext cx="0" cy="15875"/>
            </a:xfrm>
            <a:prstGeom prst="line">
              <a:avLst/>
            </a:prstGeom>
            <a:noFill/>
            <a:ln w="0">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sz="1000">
                <a:latin typeface="Arial" panose="020B0604020202020204" pitchFamily="34" charset="0"/>
                <a:cs typeface="Arial" panose="020B0604020202020204" pitchFamily="34" charset="0"/>
              </a:endParaRPr>
            </a:p>
          </p:txBody>
        </p:sp>
        <p:sp>
          <p:nvSpPr>
            <p:cNvPr id="262" name="Line 126"/>
            <p:cNvSpPr>
              <a:spLocks noChangeShapeType="1"/>
            </p:cNvSpPr>
            <p:nvPr/>
          </p:nvSpPr>
          <p:spPr bwMode="auto">
            <a:xfrm>
              <a:off x="1801813" y="1954213"/>
              <a:ext cx="0" cy="15875"/>
            </a:xfrm>
            <a:prstGeom prst="line">
              <a:avLst/>
            </a:prstGeom>
            <a:noFill/>
            <a:ln w="0">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sz="1000">
                <a:latin typeface="Arial" panose="020B0604020202020204" pitchFamily="34" charset="0"/>
                <a:cs typeface="Arial" panose="020B0604020202020204" pitchFamily="34" charset="0"/>
              </a:endParaRPr>
            </a:p>
          </p:txBody>
        </p:sp>
        <p:sp>
          <p:nvSpPr>
            <p:cNvPr id="264" name="Line 128"/>
            <p:cNvSpPr>
              <a:spLocks noChangeShapeType="1"/>
            </p:cNvSpPr>
            <p:nvPr/>
          </p:nvSpPr>
          <p:spPr bwMode="auto">
            <a:xfrm>
              <a:off x="1958975" y="1954213"/>
              <a:ext cx="0" cy="15875"/>
            </a:xfrm>
            <a:prstGeom prst="line">
              <a:avLst/>
            </a:prstGeom>
            <a:noFill/>
            <a:ln w="0">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sz="1000">
                <a:latin typeface="Arial" panose="020B0604020202020204" pitchFamily="34" charset="0"/>
                <a:cs typeface="Arial" panose="020B0604020202020204" pitchFamily="34" charset="0"/>
              </a:endParaRPr>
            </a:p>
          </p:txBody>
        </p:sp>
        <p:sp>
          <p:nvSpPr>
            <p:cNvPr id="266" name="Line 130"/>
            <p:cNvSpPr>
              <a:spLocks noChangeShapeType="1"/>
            </p:cNvSpPr>
            <p:nvPr/>
          </p:nvSpPr>
          <p:spPr bwMode="auto">
            <a:xfrm>
              <a:off x="2116138" y="1954213"/>
              <a:ext cx="0" cy="15875"/>
            </a:xfrm>
            <a:prstGeom prst="line">
              <a:avLst/>
            </a:prstGeom>
            <a:noFill/>
            <a:ln w="0">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sz="1000">
                <a:latin typeface="Arial" panose="020B0604020202020204" pitchFamily="34" charset="0"/>
                <a:cs typeface="Arial" panose="020B0604020202020204" pitchFamily="34" charset="0"/>
              </a:endParaRPr>
            </a:p>
          </p:txBody>
        </p:sp>
        <p:sp>
          <p:nvSpPr>
            <p:cNvPr id="268" name="Line 132"/>
            <p:cNvSpPr>
              <a:spLocks noChangeShapeType="1"/>
            </p:cNvSpPr>
            <p:nvPr/>
          </p:nvSpPr>
          <p:spPr bwMode="auto">
            <a:xfrm>
              <a:off x="2278063" y="1954213"/>
              <a:ext cx="0" cy="15875"/>
            </a:xfrm>
            <a:prstGeom prst="line">
              <a:avLst/>
            </a:prstGeom>
            <a:noFill/>
            <a:ln w="0">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sz="1000">
                <a:latin typeface="Arial" panose="020B0604020202020204" pitchFamily="34" charset="0"/>
                <a:cs typeface="Arial" panose="020B0604020202020204" pitchFamily="34" charset="0"/>
              </a:endParaRPr>
            </a:p>
          </p:txBody>
        </p:sp>
        <p:sp>
          <p:nvSpPr>
            <p:cNvPr id="269" name="Rectangle 133"/>
            <p:cNvSpPr>
              <a:spLocks noChangeArrowheads="1"/>
            </p:cNvSpPr>
            <p:nvPr/>
          </p:nvSpPr>
          <p:spPr bwMode="auto">
            <a:xfrm>
              <a:off x="2252663" y="1984375"/>
              <a:ext cx="141288" cy="153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smtClean="0">
                  <a:ln>
                    <a:noFill/>
                  </a:ln>
                  <a:solidFill>
                    <a:srgbClr val="000000"/>
                  </a:solidFill>
                  <a:effectLst/>
                  <a:cs typeface="Arial" panose="020B0604020202020204" pitchFamily="34" charset="0"/>
                </a:rPr>
                <a:t>10</a:t>
              </a:r>
              <a:endParaRPr kumimoji="0" lang="en-US" altLang="en-US" sz="1000" b="0" i="0" u="none" strike="noStrike" cap="none" normalizeH="0" baseline="0" smtClean="0">
                <a:ln>
                  <a:noFill/>
                </a:ln>
                <a:solidFill>
                  <a:schemeClr val="tx1"/>
                </a:solidFill>
                <a:effectLst/>
                <a:cs typeface="Arial" panose="020B0604020202020204" pitchFamily="34" charset="0"/>
              </a:endParaRPr>
            </a:p>
          </p:txBody>
        </p:sp>
        <p:sp>
          <p:nvSpPr>
            <p:cNvPr id="270" name="Line 134"/>
            <p:cNvSpPr>
              <a:spLocks noChangeShapeType="1"/>
            </p:cNvSpPr>
            <p:nvPr/>
          </p:nvSpPr>
          <p:spPr bwMode="auto">
            <a:xfrm flipH="1">
              <a:off x="747713" y="1954213"/>
              <a:ext cx="19050" cy="0"/>
            </a:xfrm>
            <a:prstGeom prst="line">
              <a:avLst/>
            </a:prstGeom>
            <a:noFill/>
            <a:ln w="0">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sz="1000">
                <a:latin typeface="Arial" panose="020B0604020202020204" pitchFamily="34" charset="0"/>
                <a:cs typeface="Arial" panose="020B0604020202020204" pitchFamily="34" charset="0"/>
              </a:endParaRPr>
            </a:p>
          </p:txBody>
        </p:sp>
        <p:sp>
          <p:nvSpPr>
            <p:cNvPr id="271" name="Rectangle 135"/>
            <p:cNvSpPr>
              <a:spLocks noChangeArrowheads="1"/>
            </p:cNvSpPr>
            <p:nvPr/>
          </p:nvSpPr>
          <p:spPr bwMode="auto">
            <a:xfrm>
              <a:off x="655290" y="1881187"/>
              <a:ext cx="69850" cy="153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r"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smtClean="0">
                  <a:ln>
                    <a:noFill/>
                  </a:ln>
                  <a:solidFill>
                    <a:srgbClr val="000000"/>
                  </a:solidFill>
                  <a:effectLst/>
                  <a:cs typeface="Arial" panose="020B0604020202020204" pitchFamily="34" charset="0"/>
                </a:rPr>
                <a:t>0</a:t>
              </a:r>
              <a:endParaRPr kumimoji="0" lang="en-US" altLang="en-US" sz="1000" b="0" i="0" u="none" strike="noStrike" cap="none" normalizeH="0" baseline="0" smtClean="0">
                <a:ln>
                  <a:noFill/>
                </a:ln>
                <a:solidFill>
                  <a:schemeClr val="tx1"/>
                </a:solidFill>
                <a:effectLst/>
                <a:cs typeface="Arial" panose="020B0604020202020204" pitchFamily="34" charset="0"/>
              </a:endParaRPr>
            </a:p>
          </p:txBody>
        </p:sp>
        <p:sp>
          <p:nvSpPr>
            <p:cNvPr id="272" name="Line 136"/>
            <p:cNvSpPr>
              <a:spLocks noChangeShapeType="1"/>
            </p:cNvSpPr>
            <p:nvPr/>
          </p:nvSpPr>
          <p:spPr bwMode="auto">
            <a:xfrm flipH="1">
              <a:off x="747713" y="1690688"/>
              <a:ext cx="19050" cy="0"/>
            </a:xfrm>
            <a:prstGeom prst="line">
              <a:avLst/>
            </a:prstGeom>
            <a:noFill/>
            <a:ln w="0">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sz="1000">
                <a:latin typeface="Arial" panose="020B0604020202020204" pitchFamily="34" charset="0"/>
                <a:cs typeface="Arial" panose="020B0604020202020204" pitchFamily="34" charset="0"/>
              </a:endParaRPr>
            </a:p>
          </p:txBody>
        </p:sp>
        <p:sp>
          <p:nvSpPr>
            <p:cNvPr id="274" name="Line 138"/>
            <p:cNvSpPr>
              <a:spLocks noChangeShapeType="1"/>
            </p:cNvSpPr>
            <p:nvPr/>
          </p:nvSpPr>
          <p:spPr bwMode="auto">
            <a:xfrm flipH="1">
              <a:off x="747713" y="1431925"/>
              <a:ext cx="19050" cy="0"/>
            </a:xfrm>
            <a:prstGeom prst="line">
              <a:avLst/>
            </a:prstGeom>
            <a:noFill/>
            <a:ln w="0">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sz="1000">
                <a:latin typeface="Arial" panose="020B0604020202020204" pitchFamily="34" charset="0"/>
                <a:cs typeface="Arial" panose="020B0604020202020204" pitchFamily="34" charset="0"/>
              </a:endParaRPr>
            </a:p>
          </p:txBody>
        </p:sp>
        <p:sp>
          <p:nvSpPr>
            <p:cNvPr id="275" name="Rectangle 139"/>
            <p:cNvSpPr>
              <a:spLocks noChangeArrowheads="1"/>
            </p:cNvSpPr>
            <p:nvPr/>
          </p:nvSpPr>
          <p:spPr bwMode="auto">
            <a:xfrm>
              <a:off x="548927" y="1358899"/>
              <a:ext cx="176213" cy="153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r"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smtClean="0">
                  <a:ln>
                    <a:noFill/>
                  </a:ln>
                  <a:solidFill>
                    <a:srgbClr val="000000"/>
                  </a:solidFill>
                  <a:effectLst/>
                  <a:cs typeface="Arial" panose="020B0604020202020204" pitchFamily="34" charset="0"/>
                </a:rPr>
                <a:t>0.1</a:t>
              </a:r>
              <a:endParaRPr kumimoji="0" lang="en-US" altLang="en-US" sz="1000" b="0" i="0" u="none" strike="noStrike" cap="none" normalizeH="0" baseline="0" smtClean="0">
                <a:ln>
                  <a:noFill/>
                </a:ln>
                <a:solidFill>
                  <a:schemeClr val="tx1"/>
                </a:solidFill>
                <a:effectLst/>
                <a:cs typeface="Arial" panose="020B0604020202020204" pitchFamily="34" charset="0"/>
              </a:endParaRPr>
            </a:p>
          </p:txBody>
        </p:sp>
        <p:sp>
          <p:nvSpPr>
            <p:cNvPr id="276" name="Line 140"/>
            <p:cNvSpPr>
              <a:spLocks noChangeShapeType="1"/>
            </p:cNvSpPr>
            <p:nvPr/>
          </p:nvSpPr>
          <p:spPr bwMode="auto">
            <a:xfrm flipH="1">
              <a:off x="747713" y="1168400"/>
              <a:ext cx="19050" cy="0"/>
            </a:xfrm>
            <a:prstGeom prst="line">
              <a:avLst/>
            </a:prstGeom>
            <a:noFill/>
            <a:ln w="0">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sz="1000">
                <a:latin typeface="Arial" panose="020B0604020202020204" pitchFamily="34" charset="0"/>
                <a:cs typeface="Arial" panose="020B0604020202020204" pitchFamily="34" charset="0"/>
              </a:endParaRPr>
            </a:p>
          </p:txBody>
        </p:sp>
        <p:sp>
          <p:nvSpPr>
            <p:cNvPr id="278" name="Line 142"/>
            <p:cNvSpPr>
              <a:spLocks noChangeShapeType="1"/>
            </p:cNvSpPr>
            <p:nvPr/>
          </p:nvSpPr>
          <p:spPr bwMode="auto">
            <a:xfrm flipH="1">
              <a:off x="747713" y="908050"/>
              <a:ext cx="19050" cy="0"/>
            </a:xfrm>
            <a:prstGeom prst="line">
              <a:avLst/>
            </a:prstGeom>
            <a:noFill/>
            <a:ln w="0">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sz="1000">
                <a:latin typeface="Arial" panose="020B0604020202020204" pitchFamily="34" charset="0"/>
                <a:cs typeface="Arial" panose="020B0604020202020204" pitchFamily="34" charset="0"/>
              </a:endParaRPr>
            </a:p>
          </p:txBody>
        </p:sp>
        <p:sp>
          <p:nvSpPr>
            <p:cNvPr id="279" name="Rectangle 143"/>
            <p:cNvSpPr>
              <a:spLocks noChangeArrowheads="1"/>
            </p:cNvSpPr>
            <p:nvPr/>
          </p:nvSpPr>
          <p:spPr bwMode="auto">
            <a:xfrm>
              <a:off x="548927" y="836612"/>
              <a:ext cx="176213" cy="153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r"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smtClean="0">
                  <a:ln>
                    <a:noFill/>
                  </a:ln>
                  <a:solidFill>
                    <a:srgbClr val="000000"/>
                  </a:solidFill>
                  <a:effectLst/>
                  <a:cs typeface="Arial" panose="020B0604020202020204" pitchFamily="34" charset="0"/>
                </a:rPr>
                <a:t>0.2</a:t>
              </a:r>
              <a:endParaRPr kumimoji="0" lang="en-US" altLang="en-US" sz="1000" b="0" i="0" u="none" strike="noStrike" cap="none" normalizeH="0" baseline="0" dirty="0" smtClean="0">
                <a:ln>
                  <a:noFill/>
                </a:ln>
                <a:solidFill>
                  <a:schemeClr val="tx1"/>
                </a:solidFill>
                <a:effectLst/>
                <a:cs typeface="Arial" panose="020B0604020202020204" pitchFamily="34" charset="0"/>
              </a:endParaRPr>
            </a:p>
          </p:txBody>
        </p:sp>
        <p:sp>
          <p:nvSpPr>
            <p:cNvPr id="282" name="Rectangle 146"/>
            <p:cNvSpPr>
              <a:spLocks noChangeArrowheads="1"/>
            </p:cNvSpPr>
            <p:nvPr/>
          </p:nvSpPr>
          <p:spPr bwMode="auto">
            <a:xfrm>
              <a:off x="766763" y="1516063"/>
              <a:ext cx="157163" cy="43815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000">
                <a:latin typeface="Arial" panose="020B0604020202020204" pitchFamily="34" charset="0"/>
                <a:cs typeface="Arial" panose="020B0604020202020204" pitchFamily="34" charset="0"/>
              </a:endParaRPr>
            </a:p>
          </p:txBody>
        </p:sp>
        <p:sp>
          <p:nvSpPr>
            <p:cNvPr id="283" name="Rectangle 147"/>
            <p:cNvSpPr>
              <a:spLocks noChangeArrowheads="1"/>
            </p:cNvSpPr>
            <p:nvPr/>
          </p:nvSpPr>
          <p:spPr bwMode="auto">
            <a:xfrm>
              <a:off x="766763" y="1516063"/>
              <a:ext cx="157163" cy="438150"/>
            </a:xfrm>
            <a:prstGeom prst="rect">
              <a:avLst/>
            </a:prstGeom>
            <a:noFill/>
            <a:ln w="0">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sz="1000">
                <a:latin typeface="Arial" panose="020B0604020202020204" pitchFamily="34" charset="0"/>
                <a:cs typeface="Arial" panose="020B0604020202020204" pitchFamily="34" charset="0"/>
              </a:endParaRPr>
            </a:p>
          </p:txBody>
        </p:sp>
        <p:sp>
          <p:nvSpPr>
            <p:cNvPr id="284" name="Rectangle 148"/>
            <p:cNvSpPr>
              <a:spLocks noChangeArrowheads="1"/>
            </p:cNvSpPr>
            <p:nvPr/>
          </p:nvSpPr>
          <p:spPr bwMode="auto">
            <a:xfrm>
              <a:off x="923925" y="1046163"/>
              <a:ext cx="158750" cy="90805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000">
                <a:latin typeface="Arial" panose="020B0604020202020204" pitchFamily="34" charset="0"/>
                <a:cs typeface="Arial" panose="020B0604020202020204" pitchFamily="34" charset="0"/>
              </a:endParaRPr>
            </a:p>
          </p:txBody>
        </p:sp>
        <p:sp>
          <p:nvSpPr>
            <p:cNvPr id="285" name="Rectangle 149"/>
            <p:cNvSpPr>
              <a:spLocks noChangeArrowheads="1"/>
            </p:cNvSpPr>
            <p:nvPr/>
          </p:nvSpPr>
          <p:spPr bwMode="auto">
            <a:xfrm>
              <a:off x="923925" y="1046163"/>
              <a:ext cx="158750" cy="908050"/>
            </a:xfrm>
            <a:prstGeom prst="rect">
              <a:avLst/>
            </a:prstGeom>
            <a:noFill/>
            <a:ln w="0">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sz="1000">
                <a:latin typeface="Arial" panose="020B0604020202020204" pitchFamily="34" charset="0"/>
                <a:cs typeface="Arial" panose="020B0604020202020204" pitchFamily="34" charset="0"/>
              </a:endParaRPr>
            </a:p>
          </p:txBody>
        </p:sp>
        <p:sp>
          <p:nvSpPr>
            <p:cNvPr id="286" name="Rectangle 150"/>
            <p:cNvSpPr>
              <a:spLocks noChangeArrowheads="1"/>
            </p:cNvSpPr>
            <p:nvPr/>
          </p:nvSpPr>
          <p:spPr bwMode="auto">
            <a:xfrm>
              <a:off x="1082675" y="1385888"/>
              <a:ext cx="160338" cy="5683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000">
                <a:latin typeface="Arial" panose="020B0604020202020204" pitchFamily="34" charset="0"/>
                <a:cs typeface="Arial" panose="020B0604020202020204" pitchFamily="34" charset="0"/>
              </a:endParaRPr>
            </a:p>
          </p:txBody>
        </p:sp>
        <p:sp>
          <p:nvSpPr>
            <p:cNvPr id="287" name="Rectangle 151"/>
            <p:cNvSpPr>
              <a:spLocks noChangeArrowheads="1"/>
            </p:cNvSpPr>
            <p:nvPr/>
          </p:nvSpPr>
          <p:spPr bwMode="auto">
            <a:xfrm>
              <a:off x="1082675" y="1385888"/>
              <a:ext cx="160338" cy="568325"/>
            </a:xfrm>
            <a:prstGeom prst="rect">
              <a:avLst/>
            </a:prstGeom>
            <a:noFill/>
            <a:ln w="0">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sz="1000">
                <a:latin typeface="Arial" panose="020B0604020202020204" pitchFamily="34" charset="0"/>
                <a:cs typeface="Arial" panose="020B0604020202020204" pitchFamily="34" charset="0"/>
              </a:endParaRPr>
            </a:p>
          </p:txBody>
        </p:sp>
        <p:sp>
          <p:nvSpPr>
            <p:cNvPr id="288" name="Rectangle 152"/>
            <p:cNvSpPr>
              <a:spLocks noChangeArrowheads="1"/>
            </p:cNvSpPr>
            <p:nvPr/>
          </p:nvSpPr>
          <p:spPr bwMode="auto">
            <a:xfrm>
              <a:off x="1243013" y="1385888"/>
              <a:ext cx="158750" cy="5683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000">
                <a:latin typeface="Arial" panose="020B0604020202020204" pitchFamily="34" charset="0"/>
                <a:cs typeface="Arial" panose="020B0604020202020204" pitchFamily="34" charset="0"/>
              </a:endParaRPr>
            </a:p>
          </p:txBody>
        </p:sp>
        <p:sp>
          <p:nvSpPr>
            <p:cNvPr id="289" name="Rectangle 153"/>
            <p:cNvSpPr>
              <a:spLocks noChangeArrowheads="1"/>
            </p:cNvSpPr>
            <p:nvPr/>
          </p:nvSpPr>
          <p:spPr bwMode="auto">
            <a:xfrm>
              <a:off x="1243013" y="1385888"/>
              <a:ext cx="158750" cy="568325"/>
            </a:xfrm>
            <a:prstGeom prst="rect">
              <a:avLst/>
            </a:prstGeom>
            <a:noFill/>
            <a:ln w="0">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sz="1000">
                <a:latin typeface="Arial" panose="020B0604020202020204" pitchFamily="34" charset="0"/>
                <a:cs typeface="Arial" panose="020B0604020202020204" pitchFamily="34" charset="0"/>
              </a:endParaRPr>
            </a:p>
          </p:txBody>
        </p:sp>
        <p:sp>
          <p:nvSpPr>
            <p:cNvPr id="290" name="Rectangle 154"/>
            <p:cNvSpPr>
              <a:spLocks noChangeArrowheads="1"/>
            </p:cNvSpPr>
            <p:nvPr/>
          </p:nvSpPr>
          <p:spPr bwMode="auto">
            <a:xfrm>
              <a:off x="1401763" y="1454150"/>
              <a:ext cx="160338" cy="50006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000">
                <a:latin typeface="Arial" panose="020B0604020202020204" pitchFamily="34" charset="0"/>
                <a:cs typeface="Arial" panose="020B0604020202020204" pitchFamily="34" charset="0"/>
              </a:endParaRPr>
            </a:p>
          </p:txBody>
        </p:sp>
        <p:sp>
          <p:nvSpPr>
            <p:cNvPr id="291" name="Rectangle 155"/>
            <p:cNvSpPr>
              <a:spLocks noChangeArrowheads="1"/>
            </p:cNvSpPr>
            <p:nvPr/>
          </p:nvSpPr>
          <p:spPr bwMode="auto">
            <a:xfrm>
              <a:off x="1401763" y="1454150"/>
              <a:ext cx="160338" cy="500063"/>
            </a:xfrm>
            <a:prstGeom prst="rect">
              <a:avLst/>
            </a:prstGeom>
            <a:noFill/>
            <a:ln w="0">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sz="1000">
                <a:latin typeface="Arial" panose="020B0604020202020204" pitchFamily="34" charset="0"/>
                <a:cs typeface="Arial" panose="020B0604020202020204" pitchFamily="34" charset="0"/>
              </a:endParaRPr>
            </a:p>
          </p:txBody>
        </p:sp>
        <p:sp>
          <p:nvSpPr>
            <p:cNvPr id="292" name="Rectangle 156"/>
            <p:cNvSpPr>
              <a:spLocks noChangeArrowheads="1"/>
            </p:cNvSpPr>
            <p:nvPr/>
          </p:nvSpPr>
          <p:spPr bwMode="auto">
            <a:xfrm>
              <a:off x="1562100" y="1427163"/>
              <a:ext cx="158750" cy="52705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000">
                <a:latin typeface="Arial" panose="020B0604020202020204" pitchFamily="34" charset="0"/>
                <a:cs typeface="Arial" panose="020B0604020202020204" pitchFamily="34" charset="0"/>
              </a:endParaRPr>
            </a:p>
          </p:txBody>
        </p:sp>
        <p:sp>
          <p:nvSpPr>
            <p:cNvPr id="293" name="Rectangle 157"/>
            <p:cNvSpPr>
              <a:spLocks noChangeArrowheads="1"/>
            </p:cNvSpPr>
            <p:nvPr/>
          </p:nvSpPr>
          <p:spPr bwMode="auto">
            <a:xfrm>
              <a:off x="1562100" y="1427163"/>
              <a:ext cx="158750" cy="527050"/>
            </a:xfrm>
            <a:prstGeom prst="rect">
              <a:avLst/>
            </a:prstGeom>
            <a:noFill/>
            <a:ln w="0">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sz="1000">
                <a:latin typeface="Arial" panose="020B0604020202020204" pitchFamily="34" charset="0"/>
                <a:cs typeface="Arial" panose="020B0604020202020204" pitchFamily="34" charset="0"/>
              </a:endParaRPr>
            </a:p>
          </p:txBody>
        </p:sp>
        <p:sp>
          <p:nvSpPr>
            <p:cNvPr id="294" name="Rectangle 158"/>
            <p:cNvSpPr>
              <a:spLocks noChangeArrowheads="1"/>
            </p:cNvSpPr>
            <p:nvPr/>
          </p:nvSpPr>
          <p:spPr bwMode="auto">
            <a:xfrm>
              <a:off x="1720850" y="1489075"/>
              <a:ext cx="157163" cy="46513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000">
                <a:latin typeface="Arial" panose="020B0604020202020204" pitchFamily="34" charset="0"/>
                <a:cs typeface="Arial" panose="020B0604020202020204" pitchFamily="34" charset="0"/>
              </a:endParaRPr>
            </a:p>
          </p:txBody>
        </p:sp>
        <p:sp>
          <p:nvSpPr>
            <p:cNvPr id="295" name="Rectangle 159"/>
            <p:cNvSpPr>
              <a:spLocks noChangeArrowheads="1"/>
            </p:cNvSpPr>
            <p:nvPr/>
          </p:nvSpPr>
          <p:spPr bwMode="auto">
            <a:xfrm>
              <a:off x="1720850" y="1489075"/>
              <a:ext cx="157163" cy="465138"/>
            </a:xfrm>
            <a:prstGeom prst="rect">
              <a:avLst/>
            </a:prstGeom>
            <a:noFill/>
            <a:ln w="0">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sz="1000">
                <a:latin typeface="Arial" panose="020B0604020202020204" pitchFamily="34" charset="0"/>
                <a:cs typeface="Arial" panose="020B0604020202020204" pitchFamily="34" charset="0"/>
              </a:endParaRPr>
            </a:p>
          </p:txBody>
        </p:sp>
        <p:sp>
          <p:nvSpPr>
            <p:cNvPr id="296" name="Rectangle 160"/>
            <p:cNvSpPr>
              <a:spLocks noChangeArrowheads="1"/>
            </p:cNvSpPr>
            <p:nvPr/>
          </p:nvSpPr>
          <p:spPr bwMode="auto">
            <a:xfrm>
              <a:off x="1878013" y="1516063"/>
              <a:ext cx="161925" cy="43815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000">
                <a:latin typeface="Arial" panose="020B0604020202020204" pitchFamily="34" charset="0"/>
                <a:cs typeface="Arial" panose="020B0604020202020204" pitchFamily="34" charset="0"/>
              </a:endParaRPr>
            </a:p>
          </p:txBody>
        </p:sp>
        <p:sp>
          <p:nvSpPr>
            <p:cNvPr id="297" name="Rectangle 161"/>
            <p:cNvSpPr>
              <a:spLocks noChangeArrowheads="1"/>
            </p:cNvSpPr>
            <p:nvPr/>
          </p:nvSpPr>
          <p:spPr bwMode="auto">
            <a:xfrm>
              <a:off x="1878013" y="1516063"/>
              <a:ext cx="161925" cy="438150"/>
            </a:xfrm>
            <a:prstGeom prst="rect">
              <a:avLst/>
            </a:prstGeom>
            <a:noFill/>
            <a:ln w="0">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sz="1000">
                <a:latin typeface="Arial" panose="020B0604020202020204" pitchFamily="34" charset="0"/>
                <a:cs typeface="Arial" panose="020B0604020202020204" pitchFamily="34" charset="0"/>
              </a:endParaRPr>
            </a:p>
          </p:txBody>
        </p:sp>
        <p:sp>
          <p:nvSpPr>
            <p:cNvPr id="298" name="Rectangle 162"/>
            <p:cNvSpPr>
              <a:spLocks noChangeArrowheads="1"/>
            </p:cNvSpPr>
            <p:nvPr/>
          </p:nvSpPr>
          <p:spPr bwMode="auto">
            <a:xfrm>
              <a:off x="2039938" y="1516063"/>
              <a:ext cx="157163" cy="43815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000">
                <a:latin typeface="Arial" panose="020B0604020202020204" pitchFamily="34" charset="0"/>
                <a:cs typeface="Arial" panose="020B0604020202020204" pitchFamily="34" charset="0"/>
              </a:endParaRPr>
            </a:p>
          </p:txBody>
        </p:sp>
        <p:sp>
          <p:nvSpPr>
            <p:cNvPr id="299" name="Rectangle 163"/>
            <p:cNvSpPr>
              <a:spLocks noChangeArrowheads="1"/>
            </p:cNvSpPr>
            <p:nvPr/>
          </p:nvSpPr>
          <p:spPr bwMode="auto">
            <a:xfrm>
              <a:off x="2039938" y="1516063"/>
              <a:ext cx="157163" cy="438150"/>
            </a:xfrm>
            <a:prstGeom prst="rect">
              <a:avLst/>
            </a:prstGeom>
            <a:noFill/>
            <a:ln w="0">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sz="1000">
                <a:latin typeface="Arial" panose="020B0604020202020204" pitchFamily="34" charset="0"/>
                <a:cs typeface="Arial" panose="020B0604020202020204" pitchFamily="34" charset="0"/>
              </a:endParaRPr>
            </a:p>
          </p:txBody>
        </p:sp>
        <p:sp>
          <p:nvSpPr>
            <p:cNvPr id="300" name="Rectangle 164"/>
            <p:cNvSpPr>
              <a:spLocks noChangeArrowheads="1"/>
            </p:cNvSpPr>
            <p:nvPr/>
          </p:nvSpPr>
          <p:spPr bwMode="auto">
            <a:xfrm>
              <a:off x="2197100" y="1576388"/>
              <a:ext cx="161925" cy="3778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000">
                <a:latin typeface="Arial" panose="020B0604020202020204" pitchFamily="34" charset="0"/>
                <a:cs typeface="Arial" panose="020B0604020202020204" pitchFamily="34" charset="0"/>
              </a:endParaRPr>
            </a:p>
          </p:txBody>
        </p:sp>
        <p:sp>
          <p:nvSpPr>
            <p:cNvPr id="301" name="Rectangle 165"/>
            <p:cNvSpPr>
              <a:spLocks noChangeArrowheads="1"/>
            </p:cNvSpPr>
            <p:nvPr/>
          </p:nvSpPr>
          <p:spPr bwMode="auto">
            <a:xfrm>
              <a:off x="2197100" y="1576388"/>
              <a:ext cx="161925" cy="377825"/>
            </a:xfrm>
            <a:prstGeom prst="rect">
              <a:avLst/>
            </a:prstGeom>
            <a:noFill/>
            <a:ln w="0">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sz="1000">
                <a:latin typeface="Arial" panose="020B0604020202020204" pitchFamily="34" charset="0"/>
                <a:cs typeface="Arial" panose="020B0604020202020204" pitchFamily="34" charset="0"/>
              </a:endParaRPr>
            </a:p>
          </p:txBody>
        </p:sp>
        <p:sp>
          <p:nvSpPr>
            <p:cNvPr id="302" name="Rectangle 166"/>
            <p:cNvSpPr>
              <a:spLocks noChangeArrowheads="1"/>
            </p:cNvSpPr>
            <p:nvPr/>
          </p:nvSpPr>
          <p:spPr bwMode="auto">
            <a:xfrm>
              <a:off x="2359025" y="1954213"/>
              <a:ext cx="157163" cy="158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000">
                <a:latin typeface="Arial" panose="020B0604020202020204" pitchFamily="34" charset="0"/>
                <a:cs typeface="Arial" panose="020B0604020202020204" pitchFamily="34" charset="0"/>
              </a:endParaRPr>
            </a:p>
          </p:txBody>
        </p:sp>
        <p:sp>
          <p:nvSpPr>
            <p:cNvPr id="306" name="Line 170"/>
            <p:cNvSpPr>
              <a:spLocks noChangeShapeType="1"/>
            </p:cNvSpPr>
            <p:nvPr/>
          </p:nvSpPr>
          <p:spPr bwMode="auto">
            <a:xfrm>
              <a:off x="766763" y="1954213"/>
              <a:ext cx="1592263" cy="0"/>
            </a:xfrm>
            <a:prstGeom prst="line">
              <a:avLst/>
            </a:prstGeom>
            <a:noFill/>
            <a:ln w="0">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sz="1000">
                <a:latin typeface="Arial" panose="020B0604020202020204" pitchFamily="34" charset="0"/>
                <a:cs typeface="Arial" panose="020B0604020202020204" pitchFamily="34" charset="0"/>
              </a:endParaRPr>
            </a:p>
          </p:txBody>
        </p:sp>
        <p:sp>
          <p:nvSpPr>
            <p:cNvPr id="307" name="Rectangle 171"/>
            <p:cNvSpPr>
              <a:spLocks noChangeArrowheads="1"/>
            </p:cNvSpPr>
            <p:nvPr/>
          </p:nvSpPr>
          <p:spPr bwMode="auto">
            <a:xfrm>
              <a:off x="857468" y="2177567"/>
              <a:ext cx="1497013" cy="153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smtClean="0">
                  <a:ln>
                    <a:noFill/>
                  </a:ln>
                  <a:solidFill>
                    <a:srgbClr val="000000"/>
                  </a:solidFill>
                  <a:effectLst/>
                  <a:cs typeface="Arial" panose="020B0604020202020204" pitchFamily="34" charset="0"/>
                </a:rPr>
                <a:t>Time within sequence (au)</a:t>
              </a:r>
              <a:endParaRPr kumimoji="0" lang="en-US" altLang="en-US" sz="1000" b="0" i="0" u="none" strike="noStrike" cap="none" normalizeH="0" baseline="0" dirty="0" smtClean="0">
                <a:ln>
                  <a:noFill/>
                </a:ln>
                <a:solidFill>
                  <a:schemeClr val="tx1"/>
                </a:solidFill>
                <a:effectLst/>
                <a:cs typeface="Arial" panose="020B0604020202020204" pitchFamily="34" charset="0"/>
              </a:endParaRPr>
            </a:p>
          </p:txBody>
        </p:sp>
        <p:sp>
          <p:nvSpPr>
            <p:cNvPr id="308" name="Rectangle 172"/>
            <p:cNvSpPr>
              <a:spLocks noChangeArrowheads="1"/>
            </p:cNvSpPr>
            <p:nvPr/>
          </p:nvSpPr>
          <p:spPr bwMode="auto">
            <a:xfrm rot="16200000">
              <a:off x="83345" y="1354597"/>
              <a:ext cx="596900" cy="153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smtClean="0">
                  <a:ln>
                    <a:noFill/>
                  </a:ln>
                  <a:solidFill>
                    <a:srgbClr val="000000"/>
                  </a:solidFill>
                  <a:effectLst/>
                  <a:cs typeface="Arial" panose="020B0604020202020204" pitchFamily="34" charset="0"/>
                </a:rPr>
                <a:t>Probability</a:t>
              </a:r>
              <a:endParaRPr kumimoji="0" lang="en-US" altLang="en-US" sz="1000" b="0" i="0" u="none" strike="noStrike" cap="none" normalizeH="0" baseline="0" dirty="0" smtClean="0">
                <a:ln>
                  <a:noFill/>
                </a:ln>
                <a:solidFill>
                  <a:schemeClr val="tx1"/>
                </a:solidFill>
                <a:effectLst/>
                <a:cs typeface="Arial" panose="020B0604020202020204" pitchFamily="34" charset="0"/>
              </a:endParaRPr>
            </a:p>
          </p:txBody>
        </p:sp>
      </p:grpSp>
      <p:grpSp>
        <p:nvGrpSpPr>
          <p:cNvPr id="310" name="Group 175"/>
          <p:cNvGrpSpPr>
            <a:grpSpLocks noChangeAspect="1"/>
          </p:cNvGrpSpPr>
          <p:nvPr/>
        </p:nvGrpSpPr>
        <p:grpSpPr bwMode="auto">
          <a:xfrm>
            <a:off x="3367829" y="2708048"/>
            <a:ext cx="2405065" cy="1757364"/>
            <a:chOff x="388" y="3101"/>
            <a:chExt cx="1515" cy="1107"/>
          </a:xfrm>
        </p:grpSpPr>
        <p:sp>
          <p:nvSpPr>
            <p:cNvPr id="312" name="Rectangle 176"/>
            <p:cNvSpPr>
              <a:spLocks noChangeArrowheads="1"/>
            </p:cNvSpPr>
            <p:nvPr/>
          </p:nvSpPr>
          <p:spPr bwMode="auto">
            <a:xfrm>
              <a:off x="649" y="3152"/>
              <a:ext cx="1142" cy="80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13" name="Rectangle 177"/>
            <p:cNvSpPr>
              <a:spLocks noChangeArrowheads="1"/>
            </p:cNvSpPr>
            <p:nvPr/>
          </p:nvSpPr>
          <p:spPr bwMode="auto">
            <a:xfrm>
              <a:off x="649" y="3152"/>
              <a:ext cx="1142" cy="805"/>
            </a:xfrm>
            <a:prstGeom prst="rect">
              <a:avLst/>
            </a:prstGeom>
            <a:noFill/>
            <a:ln w="0">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14" name="Line 178"/>
            <p:cNvSpPr>
              <a:spLocks noChangeShapeType="1"/>
            </p:cNvSpPr>
            <p:nvPr/>
          </p:nvSpPr>
          <p:spPr bwMode="auto">
            <a:xfrm>
              <a:off x="649" y="3957"/>
              <a:ext cx="1142" cy="0"/>
            </a:xfrm>
            <a:prstGeom prst="line">
              <a:avLst/>
            </a:prstGeom>
            <a:noFill/>
            <a:ln w="0">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15" name="Line 179"/>
            <p:cNvSpPr>
              <a:spLocks noChangeShapeType="1"/>
            </p:cNvSpPr>
            <p:nvPr/>
          </p:nvSpPr>
          <p:spPr bwMode="auto">
            <a:xfrm flipV="1">
              <a:off x="649" y="3152"/>
              <a:ext cx="0" cy="805"/>
            </a:xfrm>
            <a:prstGeom prst="line">
              <a:avLst/>
            </a:prstGeom>
            <a:noFill/>
            <a:ln w="0">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16" name="Line 180"/>
            <p:cNvSpPr>
              <a:spLocks noChangeShapeType="1"/>
            </p:cNvSpPr>
            <p:nvPr/>
          </p:nvSpPr>
          <p:spPr bwMode="auto">
            <a:xfrm>
              <a:off x="649" y="3957"/>
              <a:ext cx="0" cy="8"/>
            </a:xfrm>
            <a:prstGeom prst="line">
              <a:avLst/>
            </a:prstGeom>
            <a:noFill/>
            <a:ln w="0">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17" name="Rectangle 181"/>
            <p:cNvSpPr>
              <a:spLocks noChangeArrowheads="1"/>
            </p:cNvSpPr>
            <p:nvPr/>
          </p:nvSpPr>
          <p:spPr bwMode="auto">
            <a:xfrm>
              <a:off x="628" y="3982"/>
              <a:ext cx="88"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smtClean="0">
                  <a:ln>
                    <a:noFill/>
                  </a:ln>
                  <a:solidFill>
                    <a:srgbClr val="000000"/>
                  </a:solidFill>
                  <a:effectLst/>
                  <a:latin typeface="Calibri" panose="020F0502020204030204" pitchFamily="34" charset="0"/>
                </a:rPr>
                <a:t>0</a:t>
              </a: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sp>
          <p:nvSpPr>
            <p:cNvPr id="318" name="Line 182"/>
            <p:cNvSpPr>
              <a:spLocks noChangeShapeType="1"/>
            </p:cNvSpPr>
            <p:nvPr/>
          </p:nvSpPr>
          <p:spPr bwMode="auto">
            <a:xfrm>
              <a:off x="877" y="3957"/>
              <a:ext cx="0" cy="8"/>
            </a:xfrm>
            <a:prstGeom prst="line">
              <a:avLst/>
            </a:prstGeom>
            <a:noFill/>
            <a:ln w="0">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19" name="Rectangle 183"/>
            <p:cNvSpPr>
              <a:spLocks noChangeArrowheads="1"/>
            </p:cNvSpPr>
            <p:nvPr/>
          </p:nvSpPr>
          <p:spPr bwMode="auto">
            <a:xfrm>
              <a:off x="817" y="3982"/>
              <a:ext cx="172"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smtClean="0">
                  <a:ln>
                    <a:noFill/>
                  </a:ln>
                  <a:solidFill>
                    <a:srgbClr val="000000"/>
                  </a:solidFill>
                  <a:effectLst/>
                  <a:latin typeface="Calibri" panose="020F0502020204030204" pitchFamily="34" charset="0"/>
                </a:rPr>
                <a:t>100</a:t>
              </a: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sp>
          <p:nvSpPr>
            <p:cNvPr id="320" name="Line 184"/>
            <p:cNvSpPr>
              <a:spLocks noChangeShapeType="1"/>
            </p:cNvSpPr>
            <p:nvPr/>
          </p:nvSpPr>
          <p:spPr bwMode="auto">
            <a:xfrm>
              <a:off x="1105" y="3957"/>
              <a:ext cx="0" cy="8"/>
            </a:xfrm>
            <a:prstGeom prst="line">
              <a:avLst/>
            </a:prstGeom>
            <a:noFill/>
            <a:ln w="0">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21" name="Rectangle 185"/>
            <p:cNvSpPr>
              <a:spLocks noChangeArrowheads="1"/>
            </p:cNvSpPr>
            <p:nvPr/>
          </p:nvSpPr>
          <p:spPr bwMode="auto">
            <a:xfrm>
              <a:off x="1045" y="3982"/>
              <a:ext cx="172"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smtClean="0">
                  <a:ln>
                    <a:noFill/>
                  </a:ln>
                  <a:solidFill>
                    <a:srgbClr val="000000"/>
                  </a:solidFill>
                  <a:effectLst/>
                  <a:latin typeface="Calibri" panose="020F0502020204030204" pitchFamily="34" charset="0"/>
                </a:rPr>
                <a:t>200</a:t>
              </a: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sp>
          <p:nvSpPr>
            <p:cNvPr id="322" name="Line 186"/>
            <p:cNvSpPr>
              <a:spLocks noChangeShapeType="1"/>
            </p:cNvSpPr>
            <p:nvPr/>
          </p:nvSpPr>
          <p:spPr bwMode="auto">
            <a:xfrm>
              <a:off x="1334" y="3957"/>
              <a:ext cx="0" cy="8"/>
            </a:xfrm>
            <a:prstGeom prst="line">
              <a:avLst/>
            </a:prstGeom>
            <a:noFill/>
            <a:ln w="0">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23" name="Rectangle 187"/>
            <p:cNvSpPr>
              <a:spLocks noChangeArrowheads="1"/>
            </p:cNvSpPr>
            <p:nvPr/>
          </p:nvSpPr>
          <p:spPr bwMode="auto">
            <a:xfrm>
              <a:off x="1274" y="3982"/>
              <a:ext cx="172"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smtClean="0">
                  <a:ln>
                    <a:noFill/>
                  </a:ln>
                  <a:solidFill>
                    <a:srgbClr val="000000"/>
                  </a:solidFill>
                  <a:effectLst/>
                  <a:latin typeface="Calibri" panose="020F0502020204030204" pitchFamily="34" charset="0"/>
                </a:rPr>
                <a:t>300</a:t>
              </a: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sp>
          <p:nvSpPr>
            <p:cNvPr id="324" name="Line 188"/>
            <p:cNvSpPr>
              <a:spLocks noChangeShapeType="1"/>
            </p:cNvSpPr>
            <p:nvPr/>
          </p:nvSpPr>
          <p:spPr bwMode="auto">
            <a:xfrm>
              <a:off x="1562" y="3957"/>
              <a:ext cx="0" cy="8"/>
            </a:xfrm>
            <a:prstGeom prst="line">
              <a:avLst/>
            </a:prstGeom>
            <a:noFill/>
            <a:ln w="0">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25" name="Rectangle 189"/>
            <p:cNvSpPr>
              <a:spLocks noChangeArrowheads="1"/>
            </p:cNvSpPr>
            <p:nvPr/>
          </p:nvSpPr>
          <p:spPr bwMode="auto">
            <a:xfrm>
              <a:off x="1502" y="3982"/>
              <a:ext cx="172"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smtClean="0">
                  <a:ln>
                    <a:noFill/>
                  </a:ln>
                  <a:solidFill>
                    <a:srgbClr val="000000"/>
                  </a:solidFill>
                  <a:effectLst/>
                  <a:latin typeface="Calibri" panose="020F0502020204030204" pitchFamily="34" charset="0"/>
                </a:rPr>
                <a:t>400</a:t>
              </a: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sp>
          <p:nvSpPr>
            <p:cNvPr id="326" name="Line 190"/>
            <p:cNvSpPr>
              <a:spLocks noChangeShapeType="1"/>
            </p:cNvSpPr>
            <p:nvPr/>
          </p:nvSpPr>
          <p:spPr bwMode="auto">
            <a:xfrm>
              <a:off x="1791" y="3957"/>
              <a:ext cx="0" cy="8"/>
            </a:xfrm>
            <a:prstGeom prst="line">
              <a:avLst/>
            </a:prstGeom>
            <a:noFill/>
            <a:ln w="0">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27" name="Rectangle 191"/>
            <p:cNvSpPr>
              <a:spLocks noChangeArrowheads="1"/>
            </p:cNvSpPr>
            <p:nvPr/>
          </p:nvSpPr>
          <p:spPr bwMode="auto">
            <a:xfrm>
              <a:off x="1731" y="3982"/>
              <a:ext cx="172"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smtClean="0">
                  <a:ln>
                    <a:noFill/>
                  </a:ln>
                  <a:solidFill>
                    <a:srgbClr val="000000"/>
                  </a:solidFill>
                  <a:effectLst/>
                  <a:latin typeface="Calibri" panose="020F0502020204030204" pitchFamily="34" charset="0"/>
                </a:rPr>
                <a:t>500</a:t>
              </a: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sp>
          <p:nvSpPr>
            <p:cNvPr id="328" name="Line 192"/>
            <p:cNvSpPr>
              <a:spLocks noChangeShapeType="1"/>
            </p:cNvSpPr>
            <p:nvPr/>
          </p:nvSpPr>
          <p:spPr bwMode="auto">
            <a:xfrm flipH="1">
              <a:off x="637" y="3957"/>
              <a:ext cx="12" cy="0"/>
            </a:xfrm>
            <a:prstGeom prst="line">
              <a:avLst/>
            </a:prstGeom>
            <a:noFill/>
            <a:ln w="0">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29" name="Rectangle 193"/>
            <p:cNvSpPr>
              <a:spLocks noChangeArrowheads="1"/>
            </p:cNvSpPr>
            <p:nvPr/>
          </p:nvSpPr>
          <p:spPr bwMode="auto">
            <a:xfrm>
              <a:off x="580" y="3907"/>
              <a:ext cx="88"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smtClean="0">
                  <a:ln>
                    <a:noFill/>
                  </a:ln>
                  <a:solidFill>
                    <a:srgbClr val="000000"/>
                  </a:solidFill>
                  <a:effectLst/>
                  <a:latin typeface="Calibri" panose="020F0502020204030204" pitchFamily="34" charset="0"/>
                </a:rPr>
                <a:t>0</a:t>
              </a: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sp>
          <p:nvSpPr>
            <p:cNvPr id="330" name="Line 194"/>
            <p:cNvSpPr>
              <a:spLocks noChangeShapeType="1"/>
            </p:cNvSpPr>
            <p:nvPr/>
          </p:nvSpPr>
          <p:spPr bwMode="auto">
            <a:xfrm flipH="1">
              <a:off x="637" y="3753"/>
              <a:ext cx="12" cy="0"/>
            </a:xfrm>
            <a:prstGeom prst="line">
              <a:avLst/>
            </a:prstGeom>
            <a:noFill/>
            <a:ln w="0">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31" name="Rectangle 195"/>
            <p:cNvSpPr>
              <a:spLocks noChangeArrowheads="1"/>
            </p:cNvSpPr>
            <p:nvPr/>
          </p:nvSpPr>
          <p:spPr bwMode="auto">
            <a:xfrm>
              <a:off x="580" y="3702"/>
              <a:ext cx="88"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smtClean="0">
                  <a:ln>
                    <a:noFill/>
                  </a:ln>
                  <a:solidFill>
                    <a:srgbClr val="000000"/>
                  </a:solidFill>
                  <a:effectLst/>
                  <a:latin typeface="Calibri" panose="020F0502020204030204" pitchFamily="34" charset="0"/>
                </a:rPr>
                <a:t>5</a:t>
              </a: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sp>
          <p:nvSpPr>
            <p:cNvPr id="332" name="Line 196"/>
            <p:cNvSpPr>
              <a:spLocks noChangeShapeType="1"/>
            </p:cNvSpPr>
            <p:nvPr/>
          </p:nvSpPr>
          <p:spPr bwMode="auto">
            <a:xfrm flipH="1">
              <a:off x="637" y="3552"/>
              <a:ext cx="12" cy="0"/>
            </a:xfrm>
            <a:prstGeom prst="line">
              <a:avLst/>
            </a:prstGeom>
            <a:noFill/>
            <a:ln w="0">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33" name="Rectangle 197"/>
            <p:cNvSpPr>
              <a:spLocks noChangeArrowheads="1"/>
            </p:cNvSpPr>
            <p:nvPr/>
          </p:nvSpPr>
          <p:spPr bwMode="auto">
            <a:xfrm>
              <a:off x="540" y="3502"/>
              <a:ext cx="128"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smtClean="0">
                  <a:ln>
                    <a:noFill/>
                  </a:ln>
                  <a:solidFill>
                    <a:srgbClr val="000000"/>
                  </a:solidFill>
                  <a:effectLst/>
                  <a:latin typeface="Calibri" panose="020F0502020204030204" pitchFamily="34" charset="0"/>
                </a:rPr>
                <a:t>10</a:t>
              </a: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sp>
          <p:nvSpPr>
            <p:cNvPr id="334" name="Line 198"/>
            <p:cNvSpPr>
              <a:spLocks noChangeShapeType="1"/>
            </p:cNvSpPr>
            <p:nvPr/>
          </p:nvSpPr>
          <p:spPr bwMode="auto">
            <a:xfrm flipH="1">
              <a:off x="637" y="3352"/>
              <a:ext cx="12" cy="0"/>
            </a:xfrm>
            <a:prstGeom prst="line">
              <a:avLst/>
            </a:prstGeom>
            <a:noFill/>
            <a:ln w="0">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35" name="Rectangle 199"/>
            <p:cNvSpPr>
              <a:spLocks noChangeArrowheads="1"/>
            </p:cNvSpPr>
            <p:nvPr/>
          </p:nvSpPr>
          <p:spPr bwMode="auto">
            <a:xfrm>
              <a:off x="540" y="3302"/>
              <a:ext cx="128"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smtClean="0">
                  <a:ln>
                    <a:noFill/>
                  </a:ln>
                  <a:solidFill>
                    <a:srgbClr val="000000"/>
                  </a:solidFill>
                  <a:effectLst/>
                  <a:latin typeface="Calibri" panose="020F0502020204030204" pitchFamily="34" charset="0"/>
                </a:rPr>
                <a:t>15</a:t>
              </a: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sp>
          <p:nvSpPr>
            <p:cNvPr id="336" name="Line 200"/>
            <p:cNvSpPr>
              <a:spLocks noChangeShapeType="1"/>
            </p:cNvSpPr>
            <p:nvPr/>
          </p:nvSpPr>
          <p:spPr bwMode="auto">
            <a:xfrm flipH="1">
              <a:off x="637" y="3152"/>
              <a:ext cx="12" cy="0"/>
            </a:xfrm>
            <a:prstGeom prst="line">
              <a:avLst/>
            </a:prstGeom>
            <a:noFill/>
            <a:ln w="0">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37" name="Rectangle 201"/>
            <p:cNvSpPr>
              <a:spLocks noChangeArrowheads="1"/>
            </p:cNvSpPr>
            <p:nvPr/>
          </p:nvSpPr>
          <p:spPr bwMode="auto">
            <a:xfrm>
              <a:off x="540" y="3101"/>
              <a:ext cx="128"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smtClean="0">
                  <a:ln>
                    <a:noFill/>
                  </a:ln>
                  <a:solidFill>
                    <a:srgbClr val="000000"/>
                  </a:solidFill>
                  <a:effectLst/>
                  <a:latin typeface="Calibri" panose="020F0502020204030204" pitchFamily="34" charset="0"/>
                </a:rPr>
                <a:t>20</a:t>
              </a: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sp>
          <p:nvSpPr>
            <p:cNvPr id="338" name="Freeform 202"/>
            <p:cNvSpPr>
              <a:spLocks/>
            </p:cNvSpPr>
            <p:nvPr/>
          </p:nvSpPr>
          <p:spPr bwMode="auto">
            <a:xfrm>
              <a:off x="649" y="3172"/>
              <a:ext cx="1142" cy="343"/>
            </a:xfrm>
            <a:custGeom>
              <a:avLst/>
              <a:gdLst>
                <a:gd name="T0" fmla="*/ 36 w 1142"/>
                <a:gd name="T1" fmla="*/ 288 h 343"/>
                <a:gd name="T2" fmla="*/ 72 w 1142"/>
                <a:gd name="T3" fmla="*/ 247 h 343"/>
                <a:gd name="T4" fmla="*/ 108 w 1142"/>
                <a:gd name="T5" fmla="*/ 226 h 343"/>
                <a:gd name="T6" fmla="*/ 144 w 1142"/>
                <a:gd name="T7" fmla="*/ 188 h 343"/>
                <a:gd name="T8" fmla="*/ 180 w 1142"/>
                <a:gd name="T9" fmla="*/ 159 h 343"/>
                <a:gd name="T10" fmla="*/ 216 w 1142"/>
                <a:gd name="T11" fmla="*/ 142 h 343"/>
                <a:gd name="T12" fmla="*/ 252 w 1142"/>
                <a:gd name="T13" fmla="*/ 121 h 343"/>
                <a:gd name="T14" fmla="*/ 288 w 1142"/>
                <a:gd name="T15" fmla="*/ 109 h 343"/>
                <a:gd name="T16" fmla="*/ 328 w 1142"/>
                <a:gd name="T17" fmla="*/ 92 h 343"/>
                <a:gd name="T18" fmla="*/ 364 w 1142"/>
                <a:gd name="T19" fmla="*/ 88 h 343"/>
                <a:gd name="T20" fmla="*/ 400 w 1142"/>
                <a:gd name="T21" fmla="*/ 84 h 343"/>
                <a:gd name="T22" fmla="*/ 436 w 1142"/>
                <a:gd name="T23" fmla="*/ 75 h 343"/>
                <a:gd name="T24" fmla="*/ 473 w 1142"/>
                <a:gd name="T25" fmla="*/ 67 h 343"/>
                <a:gd name="T26" fmla="*/ 509 w 1142"/>
                <a:gd name="T27" fmla="*/ 63 h 343"/>
                <a:gd name="T28" fmla="*/ 545 w 1142"/>
                <a:gd name="T29" fmla="*/ 59 h 343"/>
                <a:gd name="T30" fmla="*/ 581 w 1142"/>
                <a:gd name="T31" fmla="*/ 55 h 343"/>
                <a:gd name="T32" fmla="*/ 621 w 1142"/>
                <a:gd name="T33" fmla="*/ 55 h 343"/>
                <a:gd name="T34" fmla="*/ 657 w 1142"/>
                <a:gd name="T35" fmla="*/ 55 h 343"/>
                <a:gd name="T36" fmla="*/ 693 w 1142"/>
                <a:gd name="T37" fmla="*/ 55 h 343"/>
                <a:gd name="T38" fmla="*/ 729 w 1142"/>
                <a:gd name="T39" fmla="*/ 55 h 343"/>
                <a:gd name="T40" fmla="*/ 765 w 1142"/>
                <a:gd name="T41" fmla="*/ 55 h 343"/>
                <a:gd name="T42" fmla="*/ 801 w 1142"/>
                <a:gd name="T43" fmla="*/ 50 h 343"/>
                <a:gd name="T44" fmla="*/ 837 w 1142"/>
                <a:gd name="T45" fmla="*/ 46 h 343"/>
                <a:gd name="T46" fmla="*/ 873 w 1142"/>
                <a:gd name="T47" fmla="*/ 46 h 343"/>
                <a:gd name="T48" fmla="*/ 913 w 1142"/>
                <a:gd name="T49" fmla="*/ 38 h 343"/>
                <a:gd name="T50" fmla="*/ 950 w 1142"/>
                <a:gd name="T51" fmla="*/ 38 h 343"/>
                <a:gd name="T52" fmla="*/ 986 w 1142"/>
                <a:gd name="T53" fmla="*/ 34 h 343"/>
                <a:gd name="T54" fmla="*/ 1022 w 1142"/>
                <a:gd name="T55" fmla="*/ 34 h 343"/>
                <a:gd name="T56" fmla="*/ 1058 w 1142"/>
                <a:gd name="T57" fmla="*/ 30 h 343"/>
                <a:gd name="T58" fmla="*/ 1094 w 1142"/>
                <a:gd name="T59" fmla="*/ 30 h 343"/>
                <a:gd name="T60" fmla="*/ 1130 w 1142"/>
                <a:gd name="T61" fmla="*/ 30 h 343"/>
                <a:gd name="T62" fmla="*/ 1114 w 1142"/>
                <a:gd name="T63" fmla="*/ 0 h 343"/>
                <a:gd name="T64" fmla="*/ 1078 w 1142"/>
                <a:gd name="T65" fmla="*/ 0 h 343"/>
                <a:gd name="T66" fmla="*/ 1042 w 1142"/>
                <a:gd name="T67" fmla="*/ 5 h 343"/>
                <a:gd name="T68" fmla="*/ 1006 w 1142"/>
                <a:gd name="T69" fmla="*/ 9 h 343"/>
                <a:gd name="T70" fmla="*/ 970 w 1142"/>
                <a:gd name="T71" fmla="*/ 9 h 343"/>
                <a:gd name="T72" fmla="*/ 933 w 1142"/>
                <a:gd name="T73" fmla="*/ 9 h 343"/>
                <a:gd name="T74" fmla="*/ 897 w 1142"/>
                <a:gd name="T75" fmla="*/ 13 h 343"/>
                <a:gd name="T76" fmla="*/ 857 w 1142"/>
                <a:gd name="T77" fmla="*/ 13 h 343"/>
                <a:gd name="T78" fmla="*/ 821 w 1142"/>
                <a:gd name="T79" fmla="*/ 17 h 343"/>
                <a:gd name="T80" fmla="*/ 785 w 1142"/>
                <a:gd name="T81" fmla="*/ 21 h 343"/>
                <a:gd name="T82" fmla="*/ 749 w 1142"/>
                <a:gd name="T83" fmla="*/ 21 h 343"/>
                <a:gd name="T84" fmla="*/ 713 w 1142"/>
                <a:gd name="T85" fmla="*/ 21 h 343"/>
                <a:gd name="T86" fmla="*/ 677 w 1142"/>
                <a:gd name="T87" fmla="*/ 21 h 343"/>
                <a:gd name="T88" fmla="*/ 641 w 1142"/>
                <a:gd name="T89" fmla="*/ 21 h 343"/>
                <a:gd name="T90" fmla="*/ 605 w 1142"/>
                <a:gd name="T91" fmla="*/ 21 h 343"/>
                <a:gd name="T92" fmla="*/ 565 w 1142"/>
                <a:gd name="T93" fmla="*/ 25 h 343"/>
                <a:gd name="T94" fmla="*/ 529 w 1142"/>
                <a:gd name="T95" fmla="*/ 25 h 343"/>
                <a:gd name="T96" fmla="*/ 493 w 1142"/>
                <a:gd name="T97" fmla="*/ 30 h 343"/>
                <a:gd name="T98" fmla="*/ 456 w 1142"/>
                <a:gd name="T99" fmla="*/ 34 h 343"/>
                <a:gd name="T100" fmla="*/ 420 w 1142"/>
                <a:gd name="T101" fmla="*/ 38 h 343"/>
                <a:gd name="T102" fmla="*/ 384 w 1142"/>
                <a:gd name="T103" fmla="*/ 46 h 343"/>
                <a:gd name="T104" fmla="*/ 348 w 1142"/>
                <a:gd name="T105" fmla="*/ 55 h 343"/>
                <a:gd name="T106" fmla="*/ 312 w 1142"/>
                <a:gd name="T107" fmla="*/ 63 h 343"/>
                <a:gd name="T108" fmla="*/ 272 w 1142"/>
                <a:gd name="T109" fmla="*/ 80 h 343"/>
                <a:gd name="T110" fmla="*/ 236 w 1142"/>
                <a:gd name="T111" fmla="*/ 105 h 343"/>
                <a:gd name="T112" fmla="*/ 200 w 1142"/>
                <a:gd name="T113" fmla="*/ 130 h 343"/>
                <a:gd name="T114" fmla="*/ 164 w 1142"/>
                <a:gd name="T115" fmla="*/ 159 h 343"/>
                <a:gd name="T116" fmla="*/ 128 w 1142"/>
                <a:gd name="T117" fmla="*/ 180 h 343"/>
                <a:gd name="T118" fmla="*/ 92 w 1142"/>
                <a:gd name="T119" fmla="*/ 209 h 343"/>
                <a:gd name="T120" fmla="*/ 56 w 1142"/>
                <a:gd name="T121" fmla="*/ 234 h 343"/>
                <a:gd name="T122" fmla="*/ 20 w 1142"/>
                <a:gd name="T123" fmla="*/ 293 h 3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142" h="343">
                  <a:moveTo>
                    <a:pt x="0" y="343"/>
                  </a:moveTo>
                  <a:lnTo>
                    <a:pt x="4" y="338"/>
                  </a:lnTo>
                  <a:lnTo>
                    <a:pt x="4" y="326"/>
                  </a:lnTo>
                  <a:lnTo>
                    <a:pt x="8" y="318"/>
                  </a:lnTo>
                  <a:lnTo>
                    <a:pt x="8" y="313"/>
                  </a:lnTo>
                  <a:lnTo>
                    <a:pt x="12" y="313"/>
                  </a:lnTo>
                  <a:lnTo>
                    <a:pt x="12" y="318"/>
                  </a:lnTo>
                  <a:lnTo>
                    <a:pt x="16" y="313"/>
                  </a:lnTo>
                  <a:lnTo>
                    <a:pt x="20" y="309"/>
                  </a:lnTo>
                  <a:lnTo>
                    <a:pt x="20" y="309"/>
                  </a:lnTo>
                  <a:lnTo>
                    <a:pt x="24" y="309"/>
                  </a:lnTo>
                  <a:lnTo>
                    <a:pt x="24" y="301"/>
                  </a:lnTo>
                  <a:lnTo>
                    <a:pt x="28" y="305"/>
                  </a:lnTo>
                  <a:lnTo>
                    <a:pt x="28" y="297"/>
                  </a:lnTo>
                  <a:lnTo>
                    <a:pt x="32" y="297"/>
                  </a:lnTo>
                  <a:lnTo>
                    <a:pt x="36" y="288"/>
                  </a:lnTo>
                  <a:lnTo>
                    <a:pt x="36" y="284"/>
                  </a:lnTo>
                  <a:lnTo>
                    <a:pt x="40" y="280"/>
                  </a:lnTo>
                  <a:lnTo>
                    <a:pt x="40" y="276"/>
                  </a:lnTo>
                  <a:lnTo>
                    <a:pt x="44" y="276"/>
                  </a:lnTo>
                  <a:lnTo>
                    <a:pt x="44" y="276"/>
                  </a:lnTo>
                  <a:lnTo>
                    <a:pt x="48" y="272"/>
                  </a:lnTo>
                  <a:lnTo>
                    <a:pt x="52" y="267"/>
                  </a:lnTo>
                  <a:lnTo>
                    <a:pt x="52" y="267"/>
                  </a:lnTo>
                  <a:lnTo>
                    <a:pt x="56" y="259"/>
                  </a:lnTo>
                  <a:lnTo>
                    <a:pt x="56" y="259"/>
                  </a:lnTo>
                  <a:lnTo>
                    <a:pt x="60" y="259"/>
                  </a:lnTo>
                  <a:lnTo>
                    <a:pt x="60" y="255"/>
                  </a:lnTo>
                  <a:lnTo>
                    <a:pt x="64" y="255"/>
                  </a:lnTo>
                  <a:lnTo>
                    <a:pt x="68" y="251"/>
                  </a:lnTo>
                  <a:lnTo>
                    <a:pt x="68" y="251"/>
                  </a:lnTo>
                  <a:lnTo>
                    <a:pt x="72" y="247"/>
                  </a:lnTo>
                  <a:lnTo>
                    <a:pt x="72" y="247"/>
                  </a:lnTo>
                  <a:lnTo>
                    <a:pt x="76" y="247"/>
                  </a:lnTo>
                  <a:lnTo>
                    <a:pt x="76" y="242"/>
                  </a:lnTo>
                  <a:lnTo>
                    <a:pt x="80" y="238"/>
                  </a:lnTo>
                  <a:lnTo>
                    <a:pt x="84" y="238"/>
                  </a:lnTo>
                  <a:lnTo>
                    <a:pt x="84" y="238"/>
                  </a:lnTo>
                  <a:lnTo>
                    <a:pt x="88" y="238"/>
                  </a:lnTo>
                  <a:lnTo>
                    <a:pt x="88" y="234"/>
                  </a:lnTo>
                  <a:lnTo>
                    <a:pt x="92" y="234"/>
                  </a:lnTo>
                  <a:lnTo>
                    <a:pt x="92" y="234"/>
                  </a:lnTo>
                  <a:lnTo>
                    <a:pt x="96" y="230"/>
                  </a:lnTo>
                  <a:lnTo>
                    <a:pt x="100" y="230"/>
                  </a:lnTo>
                  <a:lnTo>
                    <a:pt x="100" y="230"/>
                  </a:lnTo>
                  <a:lnTo>
                    <a:pt x="104" y="230"/>
                  </a:lnTo>
                  <a:lnTo>
                    <a:pt x="104" y="226"/>
                  </a:lnTo>
                  <a:lnTo>
                    <a:pt x="108" y="226"/>
                  </a:lnTo>
                  <a:lnTo>
                    <a:pt x="108" y="222"/>
                  </a:lnTo>
                  <a:lnTo>
                    <a:pt x="112" y="217"/>
                  </a:lnTo>
                  <a:lnTo>
                    <a:pt x="116" y="217"/>
                  </a:lnTo>
                  <a:lnTo>
                    <a:pt x="116" y="217"/>
                  </a:lnTo>
                  <a:lnTo>
                    <a:pt x="120" y="217"/>
                  </a:lnTo>
                  <a:lnTo>
                    <a:pt x="120" y="213"/>
                  </a:lnTo>
                  <a:lnTo>
                    <a:pt x="124" y="209"/>
                  </a:lnTo>
                  <a:lnTo>
                    <a:pt x="124" y="205"/>
                  </a:lnTo>
                  <a:lnTo>
                    <a:pt x="128" y="201"/>
                  </a:lnTo>
                  <a:lnTo>
                    <a:pt x="132" y="205"/>
                  </a:lnTo>
                  <a:lnTo>
                    <a:pt x="132" y="197"/>
                  </a:lnTo>
                  <a:lnTo>
                    <a:pt x="136" y="197"/>
                  </a:lnTo>
                  <a:lnTo>
                    <a:pt x="136" y="197"/>
                  </a:lnTo>
                  <a:lnTo>
                    <a:pt x="140" y="192"/>
                  </a:lnTo>
                  <a:lnTo>
                    <a:pt x="140" y="192"/>
                  </a:lnTo>
                  <a:lnTo>
                    <a:pt x="144" y="188"/>
                  </a:lnTo>
                  <a:lnTo>
                    <a:pt x="148" y="188"/>
                  </a:lnTo>
                  <a:lnTo>
                    <a:pt x="148" y="188"/>
                  </a:lnTo>
                  <a:lnTo>
                    <a:pt x="152" y="188"/>
                  </a:lnTo>
                  <a:lnTo>
                    <a:pt x="152" y="184"/>
                  </a:lnTo>
                  <a:lnTo>
                    <a:pt x="156" y="184"/>
                  </a:lnTo>
                  <a:lnTo>
                    <a:pt x="156" y="184"/>
                  </a:lnTo>
                  <a:lnTo>
                    <a:pt x="160" y="180"/>
                  </a:lnTo>
                  <a:lnTo>
                    <a:pt x="164" y="180"/>
                  </a:lnTo>
                  <a:lnTo>
                    <a:pt x="164" y="180"/>
                  </a:lnTo>
                  <a:lnTo>
                    <a:pt x="168" y="176"/>
                  </a:lnTo>
                  <a:lnTo>
                    <a:pt x="168" y="171"/>
                  </a:lnTo>
                  <a:lnTo>
                    <a:pt x="172" y="171"/>
                  </a:lnTo>
                  <a:lnTo>
                    <a:pt x="172" y="167"/>
                  </a:lnTo>
                  <a:lnTo>
                    <a:pt x="176" y="163"/>
                  </a:lnTo>
                  <a:lnTo>
                    <a:pt x="180" y="163"/>
                  </a:lnTo>
                  <a:lnTo>
                    <a:pt x="180" y="159"/>
                  </a:lnTo>
                  <a:lnTo>
                    <a:pt x="184" y="159"/>
                  </a:lnTo>
                  <a:lnTo>
                    <a:pt x="184" y="155"/>
                  </a:lnTo>
                  <a:lnTo>
                    <a:pt x="188" y="155"/>
                  </a:lnTo>
                  <a:lnTo>
                    <a:pt x="188" y="155"/>
                  </a:lnTo>
                  <a:lnTo>
                    <a:pt x="192" y="155"/>
                  </a:lnTo>
                  <a:lnTo>
                    <a:pt x="196" y="155"/>
                  </a:lnTo>
                  <a:lnTo>
                    <a:pt x="196" y="151"/>
                  </a:lnTo>
                  <a:lnTo>
                    <a:pt x="200" y="151"/>
                  </a:lnTo>
                  <a:lnTo>
                    <a:pt x="200" y="146"/>
                  </a:lnTo>
                  <a:lnTo>
                    <a:pt x="204" y="146"/>
                  </a:lnTo>
                  <a:lnTo>
                    <a:pt x="204" y="146"/>
                  </a:lnTo>
                  <a:lnTo>
                    <a:pt x="208" y="146"/>
                  </a:lnTo>
                  <a:lnTo>
                    <a:pt x="212" y="142"/>
                  </a:lnTo>
                  <a:lnTo>
                    <a:pt x="212" y="142"/>
                  </a:lnTo>
                  <a:lnTo>
                    <a:pt x="216" y="142"/>
                  </a:lnTo>
                  <a:lnTo>
                    <a:pt x="216" y="142"/>
                  </a:lnTo>
                  <a:lnTo>
                    <a:pt x="220" y="138"/>
                  </a:lnTo>
                  <a:lnTo>
                    <a:pt x="220" y="138"/>
                  </a:lnTo>
                  <a:lnTo>
                    <a:pt x="224" y="138"/>
                  </a:lnTo>
                  <a:lnTo>
                    <a:pt x="228" y="134"/>
                  </a:lnTo>
                  <a:lnTo>
                    <a:pt x="228" y="138"/>
                  </a:lnTo>
                  <a:lnTo>
                    <a:pt x="232" y="138"/>
                  </a:lnTo>
                  <a:lnTo>
                    <a:pt x="232" y="134"/>
                  </a:lnTo>
                  <a:lnTo>
                    <a:pt x="236" y="130"/>
                  </a:lnTo>
                  <a:lnTo>
                    <a:pt x="236" y="130"/>
                  </a:lnTo>
                  <a:lnTo>
                    <a:pt x="240" y="130"/>
                  </a:lnTo>
                  <a:lnTo>
                    <a:pt x="240" y="130"/>
                  </a:lnTo>
                  <a:lnTo>
                    <a:pt x="244" y="126"/>
                  </a:lnTo>
                  <a:lnTo>
                    <a:pt x="248" y="126"/>
                  </a:lnTo>
                  <a:lnTo>
                    <a:pt x="248" y="126"/>
                  </a:lnTo>
                  <a:lnTo>
                    <a:pt x="252" y="121"/>
                  </a:lnTo>
                  <a:lnTo>
                    <a:pt x="252" y="121"/>
                  </a:lnTo>
                  <a:lnTo>
                    <a:pt x="256" y="121"/>
                  </a:lnTo>
                  <a:lnTo>
                    <a:pt x="256" y="121"/>
                  </a:lnTo>
                  <a:lnTo>
                    <a:pt x="260" y="121"/>
                  </a:lnTo>
                  <a:lnTo>
                    <a:pt x="264" y="117"/>
                  </a:lnTo>
                  <a:lnTo>
                    <a:pt x="264" y="117"/>
                  </a:lnTo>
                  <a:lnTo>
                    <a:pt x="268" y="117"/>
                  </a:lnTo>
                  <a:lnTo>
                    <a:pt x="268" y="117"/>
                  </a:lnTo>
                  <a:lnTo>
                    <a:pt x="272" y="113"/>
                  </a:lnTo>
                  <a:lnTo>
                    <a:pt x="272" y="109"/>
                  </a:lnTo>
                  <a:lnTo>
                    <a:pt x="276" y="109"/>
                  </a:lnTo>
                  <a:lnTo>
                    <a:pt x="280" y="109"/>
                  </a:lnTo>
                  <a:lnTo>
                    <a:pt x="280" y="109"/>
                  </a:lnTo>
                  <a:lnTo>
                    <a:pt x="284" y="109"/>
                  </a:lnTo>
                  <a:lnTo>
                    <a:pt x="284" y="109"/>
                  </a:lnTo>
                  <a:lnTo>
                    <a:pt x="288" y="109"/>
                  </a:lnTo>
                  <a:lnTo>
                    <a:pt x="288" y="109"/>
                  </a:lnTo>
                  <a:lnTo>
                    <a:pt x="292" y="105"/>
                  </a:lnTo>
                  <a:lnTo>
                    <a:pt x="296" y="105"/>
                  </a:lnTo>
                  <a:lnTo>
                    <a:pt x="296" y="105"/>
                  </a:lnTo>
                  <a:lnTo>
                    <a:pt x="300" y="101"/>
                  </a:lnTo>
                  <a:lnTo>
                    <a:pt x="300" y="101"/>
                  </a:lnTo>
                  <a:lnTo>
                    <a:pt x="304" y="101"/>
                  </a:lnTo>
                  <a:lnTo>
                    <a:pt x="304" y="101"/>
                  </a:lnTo>
                  <a:lnTo>
                    <a:pt x="308" y="101"/>
                  </a:lnTo>
                  <a:lnTo>
                    <a:pt x="312" y="101"/>
                  </a:lnTo>
                  <a:lnTo>
                    <a:pt x="312" y="96"/>
                  </a:lnTo>
                  <a:lnTo>
                    <a:pt x="316" y="96"/>
                  </a:lnTo>
                  <a:lnTo>
                    <a:pt x="316" y="96"/>
                  </a:lnTo>
                  <a:lnTo>
                    <a:pt x="320" y="96"/>
                  </a:lnTo>
                  <a:lnTo>
                    <a:pt x="320" y="96"/>
                  </a:lnTo>
                  <a:lnTo>
                    <a:pt x="324" y="96"/>
                  </a:lnTo>
                  <a:lnTo>
                    <a:pt x="328" y="92"/>
                  </a:lnTo>
                  <a:lnTo>
                    <a:pt x="328" y="92"/>
                  </a:lnTo>
                  <a:lnTo>
                    <a:pt x="332" y="92"/>
                  </a:lnTo>
                  <a:lnTo>
                    <a:pt x="332" y="92"/>
                  </a:lnTo>
                  <a:lnTo>
                    <a:pt x="336" y="92"/>
                  </a:lnTo>
                  <a:lnTo>
                    <a:pt x="336" y="92"/>
                  </a:lnTo>
                  <a:lnTo>
                    <a:pt x="340" y="92"/>
                  </a:lnTo>
                  <a:lnTo>
                    <a:pt x="344" y="92"/>
                  </a:lnTo>
                  <a:lnTo>
                    <a:pt x="344" y="92"/>
                  </a:lnTo>
                  <a:lnTo>
                    <a:pt x="348" y="92"/>
                  </a:lnTo>
                  <a:lnTo>
                    <a:pt x="348" y="88"/>
                  </a:lnTo>
                  <a:lnTo>
                    <a:pt x="352" y="88"/>
                  </a:lnTo>
                  <a:lnTo>
                    <a:pt x="352" y="92"/>
                  </a:lnTo>
                  <a:lnTo>
                    <a:pt x="356" y="92"/>
                  </a:lnTo>
                  <a:lnTo>
                    <a:pt x="360" y="88"/>
                  </a:lnTo>
                  <a:lnTo>
                    <a:pt x="360" y="88"/>
                  </a:lnTo>
                  <a:lnTo>
                    <a:pt x="364" y="88"/>
                  </a:lnTo>
                  <a:lnTo>
                    <a:pt x="364" y="88"/>
                  </a:lnTo>
                  <a:lnTo>
                    <a:pt x="368" y="88"/>
                  </a:lnTo>
                  <a:lnTo>
                    <a:pt x="368" y="88"/>
                  </a:lnTo>
                  <a:lnTo>
                    <a:pt x="372" y="88"/>
                  </a:lnTo>
                  <a:lnTo>
                    <a:pt x="376" y="84"/>
                  </a:lnTo>
                  <a:lnTo>
                    <a:pt x="376" y="84"/>
                  </a:lnTo>
                  <a:lnTo>
                    <a:pt x="380" y="84"/>
                  </a:lnTo>
                  <a:lnTo>
                    <a:pt x="380" y="84"/>
                  </a:lnTo>
                  <a:lnTo>
                    <a:pt x="384" y="84"/>
                  </a:lnTo>
                  <a:lnTo>
                    <a:pt x="384" y="84"/>
                  </a:lnTo>
                  <a:lnTo>
                    <a:pt x="388" y="84"/>
                  </a:lnTo>
                  <a:lnTo>
                    <a:pt x="392" y="84"/>
                  </a:lnTo>
                  <a:lnTo>
                    <a:pt x="392" y="84"/>
                  </a:lnTo>
                  <a:lnTo>
                    <a:pt x="396" y="84"/>
                  </a:lnTo>
                  <a:lnTo>
                    <a:pt x="396" y="84"/>
                  </a:lnTo>
                  <a:lnTo>
                    <a:pt x="400" y="84"/>
                  </a:lnTo>
                  <a:lnTo>
                    <a:pt x="400" y="80"/>
                  </a:lnTo>
                  <a:lnTo>
                    <a:pt x="404" y="80"/>
                  </a:lnTo>
                  <a:lnTo>
                    <a:pt x="408" y="80"/>
                  </a:lnTo>
                  <a:lnTo>
                    <a:pt x="408" y="80"/>
                  </a:lnTo>
                  <a:lnTo>
                    <a:pt x="412" y="75"/>
                  </a:lnTo>
                  <a:lnTo>
                    <a:pt x="412" y="75"/>
                  </a:lnTo>
                  <a:lnTo>
                    <a:pt x="416" y="80"/>
                  </a:lnTo>
                  <a:lnTo>
                    <a:pt x="416" y="75"/>
                  </a:lnTo>
                  <a:lnTo>
                    <a:pt x="420" y="75"/>
                  </a:lnTo>
                  <a:lnTo>
                    <a:pt x="424" y="75"/>
                  </a:lnTo>
                  <a:lnTo>
                    <a:pt x="424" y="75"/>
                  </a:lnTo>
                  <a:lnTo>
                    <a:pt x="428" y="75"/>
                  </a:lnTo>
                  <a:lnTo>
                    <a:pt x="428" y="75"/>
                  </a:lnTo>
                  <a:lnTo>
                    <a:pt x="432" y="75"/>
                  </a:lnTo>
                  <a:lnTo>
                    <a:pt x="432" y="75"/>
                  </a:lnTo>
                  <a:lnTo>
                    <a:pt x="436" y="75"/>
                  </a:lnTo>
                  <a:lnTo>
                    <a:pt x="440" y="71"/>
                  </a:lnTo>
                  <a:lnTo>
                    <a:pt x="440" y="71"/>
                  </a:lnTo>
                  <a:lnTo>
                    <a:pt x="444" y="71"/>
                  </a:lnTo>
                  <a:lnTo>
                    <a:pt x="444" y="71"/>
                  </a:lnTo>
                  <a:lnTo>
                    <a:pt x="448" y="71"/>
                  </a:lnTo>
                  <a:lnTo>
                    <a:pt x="448" y="71"/>
                  </a:lnTo>
                  <a:lnTo>
                    <a:pt x="452" y="71"/>
                  </a:lnTo>
                  <a:lnTo>
                    <a:pt x="456" y="71"/>
                  </a:lnTo>
                  <a:lnTo>
                    <a:pt x="456" y="71"/>
                  </a:lnTo>
                  <a:lnTo>
                    <a:pt x="461" y="71"/>
                  </a:lnTo>
                  <a:lnTo>
                    <a:pt x="461" y="71"/>
                  </a:lnTo>
                  <a:lnTo>
                    <a:pt x="465" y="71"/>
                  </a:lnTo>
                  <a:lnTo>
                    <a:pt x="465" y="71"/>
                  </a:lnTo>
                  <a:lnTo>
                    <a:pt x="469" y="67"/>
                  </a:lnTo>
                  <a:lnTo>
                    <a:pt x="469" y="67"/>
                  </a:lnTo>
                  <a:lnTo>
                    <a:pt x="473" y="67"/>
                  </a:lnTo>
                  <a:lnTo>
                    <a:pt x="477" y="67"/>
                  </a:lnTo>
                  <a:lnTo>
                    <a:pt x="477" y="67"/>
                  </a:lnTo>
                  <a:lnTo>
                    <a:pt x="481" y="67"/>
                  </a:lnTo>
                  <a:lnTo>
                    <a:pt x="481" y="67"/>
                  </a:lnTo>
                  <a:lnTo>
                    <a:pt x="485" y="67"/>
                  </a:lnTo>
                  <a:lnTo>
                    <a:pt x="485" y="67"/>
                  </a:lnTo>
                  <a:lnTo>
                    <a:pt x="489" y="67"/>
                  </a:lnTo>
                  <a:lnTo>
                    <a:pt x="493" y="67"/>
                  </a:lnTo>
                  <a:lnTo>
                    <a:pt x="493" y="67"/>
                  </a:lnTo>
                  <a:lnTo>
                    <a:pt x="497" y="67"/>
                  </a:lnTo>
                  <a:lnTo>
                    <a:pt x="497" y="67"/>
                  </a:lnTo>
                  <a:lnTo>
                    <a:pt x="501" y="63"/>
                  </a:lnTo>
                  <a:lnTo>
                    <a:pt x="501" y="63"/>
                  </a:lnTo>
                  <a:lnTo>
                    <a:pt x="505" y="63"/>
                  </a:lnTo>
                  <a:lnTo>
                    <a:pt x="509" y="63"/>
                  </a:lnTo>
                  <a:lnTo>
                    <a:pt x="509" y="63"/>
                  </a:lnTo>
                  <a:lnTo>
                    <a:pt x="513" y="63"/>
                  </a:lnTo>
                  <a:lnTo>
                    <a:pt x="513" y="63"/>
                  </a:lnTo>
                  <a:lnTo>
                    <a:pt x="517" y="63"/>
                  </a:lnTo>
                  <a:lnTo>
                    <a:pt x="517" y="63"/>
                  </a:lnTo>
                  <a:lnTo>
                    <a:pt x="521" y="63"/>
                  </a:lnTo>
                  <a:lnTo>
                    <a:pt x="525" y="59"/>
                  </a:lnTo>
                  <a:lnTo>
                    <a:pt x="525" y="59"/>
                  </a:lnTo>
                  <a:lnTo>
                    <a:pt x="529" y="59"/>
                  </a:lnTo>
                  <a:lnTo>
                    <a:pt x="529" y="59"/>
                  </a:lnTo>
                  <a:lnTo>
                    <a:pt x="533" y="59"/>
                  </a:lnTo>
                  <a:lnTo>
                    <a:pt x="533" y="59"/>
                  </a:lnTo>
                  <a:lnTo>
                    <a:pt x="537" y="59"/>
                  </a:lnTo>
                  <a:lnTo>
                    <a:pt x="541" y="59"/>
                  </a:lnTo>
                  <a:lnTo>
                    <a:pt x="541" y="59"/>
                  </a:lnTo>
                  <a:lnTo>
                    <a:pt x="545" y="59"/>
                  </a:lnTo>
                  <a:lnTo>
                    <a:pt x="545" y="59"/>
                  </a:lnTo>
                  <a:lnTo>
                    <a:pt x="549" y="59"/>
                  </a:lnTo>
                  <a:lnTo>
                    <a:pt x="549" y="59"/>
                  </a:lnTo>
                  <a:lnTo>
                    <a:pt x="553" y="59"/>
                  </a:lnTo>
                  <a:lnTo>
                    <a:pt x="557" y="59"/>
                  </a:lnTo>
                  <a:lnTo>
                    <a:pt x="557" y="59"/>
                  </a:lnTo>
                  <a:lnTo>
                    <a:pt x="561" y="59"/>
                  </a:lnTo>
                  <a:lnTo>
                    <a:pt x="561" y="59"/>
                  </a:lnTo>
                  <a:lnTo>
                    <a:pt x="565" y="59"/>
                  </a:lnTo>
                  <a:lnTo>
                    <a:pt x="565" y="59"/>
                  </a:lnTo>
                  <a:lnTo>
                    <a:pt x="569" y="59"/>
                  </a:lnTo>
                  <a:lnTo>
                    <a:pt x="573" y="59"/>
                  </a:lnTo>
                  <a:lnTo>
                    <a:pt x="573" y="59"/>
                  </a:lnTo>
                  <a:lnTo>
                    <a:pt x="577" y="55"/>
                  </a:lnTo>
                  <a:lnTo>
                    <a:pt x="577" y="55"/>
                  </a:lnTo>
                  <a:lnTo>
                    <a:pt x="581" y="55"/>
                  </a:lnTo>
                  <a:lnTo>
                    <a:pt x="581" y="55"/>
                  </a:lnTo>
                  <a:lnTo>
                    <a:pt x="585" y="55"/>
                  </a:lnTo>
                  <a:lnTo>
                    <a:pt x="589" y="55"/>
                  </a:lnTo>
                  <a:lnTo>
                    <a:pt x="589" y="55"/>
                  </a:lnTo>
                  <a:lnTo>
                    <a:pt x="593" y="55"/>
                  </a:lnTo>
                  <a:lnTo>
                    <a:pt x="593" y="55"/>
                  </a:lnTo>
                  <a:lnTo>
                    <a:pt x="597" y="55"/>
                  </a:lnTo>
                  <a:lnTo>
                    <a:pt x="597" y="55"/>
                  </a:lnTo>
                  <a:lnTo>
                    <a:pt x="601" y="55"/>
                  </a:lnTo>
                  <a:lnTo>
                    <a:pt x="605" y="55"/>
                  </a:lnTo>
                  <a:lnTo>
                    <a:pt x="605" y="55"/>
                  </a:lnTo>
                  <a:lnTo>
                    <a:pt x="609" y="55"/>
                  </a:lnTo>
                  <a:lnTo>
                    <a:pt x="609" y="55"/>
                  </a:lnTo>
                  <a:lnTo>
                    <a:pt x="613" y="55"/>
                  </a:lnTo>
                  <a:lnTo>
                    <a:pt x="613" y="55"/>
                  </a:lnTo>
                  <a:lnTo>
                    <a:pt x="617" y="55"/>
                  </a:lnTo>
                  <a:lnTo>
                    <a:pt x="621" y="55"/>
                  </a:lnTo>
                  <a:lnTo>
                    <a:pt x="621" y="55"/>
                  </a:lnTo>
                  <a:lnTo>
                    <a:pt x="625" y="55"/>
                  </a:lnTo>
                  <a:lnTo>
                    <a:pt x="625" y="55"/>
                  </a:lnTo>
                  <a:lnTo>
                    <a:pt x="629" y="55"/>
                  </a:lnTo>
                  <a:lnTo>
                    <a:pt x="629" y="55"/>
                  </a:lnTo>
                  <a:lnTo>
                    <a:pt x="633" y="55"/>
                  </a:lnTo>
                  <a:lnTo>
                    <a:pt x="637" y="55"/>
                  </a:lnTo>
                  <a:lnTo>
                    <a:pt x="637" y="55"/>
                  </a:lnTo>
                  <a:lnTo>
                    <a:pt x="641" y="55"/>
                  </a:lnTo>
                  <a:lnTo>
                    <a:pt x="641" y="55"/>
                  </a:lnTo>
                  <a:lnTo>
                    <a:pt x="645" y="55"/>
                  </a:lnTo>
                  <a:lnTo>
                    <a:pt x="645" y="55"/>
                  </a:lnTo>
                  <a:lnTo>
                    <a:pt x="649" y="55"/>
                  </a:lnTo>
                  <a:lnTo>
                    <a:pt x="653" y="55"/>
                  </a:lnTo>
                  <a:lnTo>
                    <a:pt x="653" y="55"/>
                  </a:lnTo>
                  <a:lnTo>
                    <a:pt x="657" y="55"/>
                  </a:lnTo>
                  <a:lnTo>
                    <a:pt x="657" y="55"/>
                  </a:lnTo>
                  <a:lnTo>
                    <a:pt x="661" y="55"/>
                  </a:lnTo>
                  <a:lnTo>
                    <a:pt x="661" y="55"/>
                  </a:lnTo>
                  <a:lnTo>
                    <a:pt x="665" y="55"/>
                  </a:lnTo>
                  <a:lnTo>
                    <a:pt x="669" y="55"/>
                  </a:lnTo>
                  <a:lnTo>
                    <a:pt x="669" y="55"/>
                  </a:lnTo>
                  <a:lnTo>
                    <a:pt x="673" y="55"/>
                  </a:lnTo>
                  <a:lnTo>
                    <a:pt x="673" y="55"/>
                  </a:lnTo>
                  <a:lnTo>
                    <a:pt x="677" y="55"/>
                  </a:lnTo>
                  <a:lnTo>
                    <a:pt x="677" y="55"/>
                  </a:lnTo>
                  <a:lnTo>
                    <a:pt x="681" y="55"/>
                  </a:lnTo>
                  <a:lnTo>
                    <a:pt x="685" y="55"/>
                  </a:lnTo>
                  <a:lnTo>
                    <a:pt x="685" y="55"/>
                  </a:lnTo>
                  <a:lnTo>
                    <a:pt x="689" y="55"/>
                  </a:lnTo>
                  <a:lnTo>
                    <a:pt x="689" y="55"/>
                  </a:lnTo>
                  <a:lnTo>
                    <a:pt x="693" y="55"/>
                  </a:lnTo>
                  <a:lnTo>
                    <a:pt x="693" y="55"/>
                  </a:lnTo>
                  <a:lnTo>
                    <a:pt x="697" y="55"/>
                  </a:lnTo>
                  <a:lnTo>
                    <a:pt x="697" y="55"/>
                  </a:lnTo>
                  <a:lnTo>
                    <a:pt x="701" y="55"/>
                  </a:lnTo>
                  <a:lnTo>
                    <a:pt x="705" y="55"/>
                  </a:lnTo>
                  <a:lnTo>
                    <a:pt x="705" y="55"/>
                  </a:lnTo>
                  <a:lnTo>
                    <a:pt x="709" y="55"/>
                  </a:lnTo>
                  <a:lnTo>
                    <a:pt x="709" y="55"/>
                  </a:lnTo>
                  <a:lnTo>
                    <a:pt x="713" y="55"/>
                  </a:lnTo>
                  <a:lnTo>
                    <a:pt x="713" y="55"/>
                  </a:lnTo>
                  <a:lnTo>
                    <a:pt x="717" y="55"/>
                  </a:lnTo>
                  <a:lnTo>
                    <a:pt x="721" y="55"/>
                  </a:lnTo>
                  <a:lnTo>
                    <a:pt x="721" y="55"/>
                  </a:lnTo>
                  <a:lnTo>
                    <a:pt x="725" y="55"/>
                  </a:lnTo>
                  <a:lnTo>
                    <a:pt x="725" y="55"/>
                  </a:lnTo>
                  <a:lnTo>
                    <a:pt x="729" y="55"/>
                  </a:lnTo>
                  <a:lnTo>
                    <a:pt x="729" y="55"/>
                  </a:lnTo>
                  <a:lnTo>
                    <a:pt x="733" y="55"/>
                  </a:lnTo>
                  <a:lnTo>
                    <a:pt x="737" y="55"/>
                  </a:lnTo>
                  <a:lnTo>
                    <a:pt x="737" y="55"/>
                  </a:lnTo>
                  <a:lnTo>
                    <a:pt x="741" y="55"/>
                  </a:lnTo>
                  <a:lnTo>
                    <a:pt x="741" y="55"/>
                  </a:lnTo>
                  <a:lnTo>
                    <a:pt x="745" y="55"/>
                  </a:lnTo>
                  <a:lnTo>
                    <a:pt x="745" y="55"/>
                  </a:lnTo>
                  <a:lnTo>
                    <a:pt x="749" y="55"/>
                  </a:lnTo>
                  <a:lnTo>
                    <a:pt x="753" y="55"/>
                  </a:lnTo>
                  <a:lnTo>
                    <a:pt x="753" y="55"/>
                  </a:lnTo>
                  <a:lnTo>
                    <a:pt x="757" y="55"/>
                  </a:lnTo>
                  <a:lnTo>
                    <a:pt x="757" y="55"/>
                  </a:lnTo>
                  <a:lnTo>
                    <a:pt x="761" y="55"/>
                  </a:lnTo>
                  <a:lnTo>
                    <a:pt x="761" y="55"/>
                  </a:lnTo>
                  <a:lnTo>
                    <a:pt x="765" y="55"/>
                  </a:lnTo>
                  <a:lnTo>
                    <a:pt x="769" y="55"/>
                  </a:lnTo>
                  <a:lnTo>
                    <a:pt x="769" y="55"/>
                  </a:lnTo>
                  <a:lnTo>
                    <a:pt x="773" y="55"/>
                  </a:lnTo>
                  <a:lnTo>
                    <a:pt x="773" y="55"/>
                  </a:lnTo>
                  <a:lnTo>
                    <a:pt x="777" y="55"/>
                  </a:lnTo>
                  <a:lnTo>
                    <a:pt x="777" y="55"/>
                  </a:lnTo>
                  <a:lnTo>
                    <a:pt x="781" y="55"/>
                  </a:lnTo>
                  <a:lnTo>
                    <a:pt x="785" y="55"/>
                  </a:lnTo>
                  <a:lnTo>
                    <a:pt x="785" y="55"/>
                  </a:lnTo>
                  <a:lnTo>
                    <a:pt x="789" y="50"/>
                  </a:lnTo>
                  <a:lnTo>
                    <a:pt x="789" y="50"/>
                  </a:lnTo>
                  <a:lnTo>
                    <a:pt x="793" y="55"/>
                  </a:lnTo>
                  <a:lnTo>
                    <a:pt x="793" y="55"/>
                  </a:lnTo>
                  <a:lnTo>
                    <a:pt x="797" y="50"/>
                  </a:lnTo>
                  <a:lnTo>
                    <a:pt x="801" y="50"/>
                  </a:lnTo>
                  <a:lnTo>
                    <a:pt x="801" y="50"/>
                  </a:lnTo>
                  <a:lnTo>
                    <a:pt x="805" y="50"/>
                  </a:lnTo>
                  <a:lnTo>
                    <a:pt x="805" y="50"/>
                  </a:lnTo>
                  <a:lnTo>
                    <a:pt x="809" y="50"/>
                  </a:lnTo>
                  <a:lnTo>
                    <a:pt x="809" y="50"/>
                  </a:lnTo>
                  <a:lnTo>
                    <a:pt x="813" y="50"/>
                  </a:lnTo>
                  <a:lnTo>
                    <a:pt x="817" y="50"/>
                  </a:lnTo>
                  <a:lnTo>
                    <a:pt x="817" y="50"/>
                  </a:lnTo>
                  <a:lnTo>
                    <a:pt x="821" y="50"/>
                  </a:lnTo>
                  <a:lnTo>
                    <a:pt x="821" y="50"/>
                  </a:lnTo>
                  <a:lnTo>
                    <a:pt x="825" y="50"/>
                  </a:lnTo>
                  <a:lnTo>
                    <a:pt x="825" y="50"/>
                  </a:lnTo>
                  <a:lnTo>
                    <a:pt x="829" y="50"/>
                  </a:lnTo>
                  <a:lnTo>
                    <a:pt x="833" y="46"/>
                  </a:lnTo>
                  <a:lnTo>
                    <a:pt x="833" y="46"/>
                  </a:lnTo>
                  <a:lnTo>
                    <a:pt x="837" y="46"/>
                  </a:lnTo>
                  <a:lnTo>
                    <a:pt x="837" y="46"/>
                  </a:lnTo>
                  <a:lnTo>
                    <a:pt x="841" y="46"/>
                  </a:lnTo>
                  <a:lnTo>
                    <a:pt x="841" y="46"/>
                  </a:lnTo>
                  <a:lnTo>
                    <a:pt x="845" y="46"/>
                  </a:lnTo>
                  <a:lnTo>
                    <a:pt x="849" y="46"/>
                  </a:lnTo>
                  <a:lnTo>
                    <a:pt x="849" y="46"/>
                  </a:lnTo>
                  <a:lnTo>
                    <a:pt x="853" y="46"/>
                  </a:lnTo>
                  <a:lnTo>
                    <a:pt x="853" y="46"/>
                  </a:lnTo>
                  <a:lnTo>
                    <a:pt x="857" y="46"/>
                  </a:lnTo>
                  <a:lnTo>
                    <a:pt x="857" y="46"/>
                  </a:lnTo>
                  <a:lnTo>
                    <a:pt x="861" y="46"/>
                  </a:lnTo>
                  <a:lnTo>
                    <a:pt x="865" y="46"/>
                  </a:lnTo>
                  <a:lnTo>
                    <a:pt x="865" y="46"/>
                  </a:lnTo>
                  <a:lnTo>
                    <a:pt x="869" y="46"/>
                  </a:lnTo>
                  <a:lnTo>
                    <a:pt x="869" y="46"/>
                  </a:lnTo>
                  <a:lnTo>
                    <a:pt x="873" y="46"/>
                  </a:lnTo>
                  <a:lnTo>
                    <a:pt x="873" y="46"/>
                  </a:lnTo>
                  <a:lnTo>
                    <a:pt x="877" y="42"/>
                  </a:lnTo>
                  <a:lnTo>
                    <a:pt x="881" y="42"/>
                  </a:lnTo>
                  <a:lnTo>
                    <a:pt x="881" y="42"/>
                  </a:lnTo>
                  <a:lnTo>
                    <a:pt x="885" y="42"/>
                  </a:lnTo>
                  <a:lnTo>
                    <a:pt x="885" y="42"/>
                  </a:lnTo>
                  <a:lnTo>
                    <a:pt x="889" y="42"/>
                  </a:lnTo>
                  <a:lnTo>
                    <a:pt x="889" y="42"/>
                  </a:lnTo>
                  <a:lnTo>
                    <a:pt x="893" y="42"/>
                  </a:lnTo>
                  <a:lnTo>
                    <a:pt x="897" y="42"/>
                  </a:lnTo>
                  <a:lnTo>
                    <a:pt x="897" y="42"/>
                  </a:lnTo>
                  <a:lnTo>
                    <a:pt x="901" y="42"/>
                  </a:lnTo>
                  <a:lnTo>
                    <a:pt x="901" y="42"/>
                  </a:lnTo>
                  <a:lnTo>
                    <a:pt x="905" y="42"/>
                  </a:lnTo>
                  <a:lnTo>
                    <a:pt x="905" y="42"/>
                  </a:lnTo>
                  <a:lnTo>
                    <a:pt x="909" y="38"/>
                  </a:lnTo>
                  <a:lnTo>
                    <a:pt x="913" y="38"/>
                  </a:lnTo>
                  <a:lnTo>
                    <a:pt x="913" y="38"/>
                  </a:lnTo>
                  <a:lnTo>
                    <a:pt x="917" y="38"/>
                  </a:lnTo>
                  <a:lnTo>
                    <a:pt x="917" y="38"/>
                  </a:lnTo>
                  <a:lnTo>
                    <a:pt x="921" y="38"/>
                  </a:lnTo>
                  <a:lnTo>
                    <a:pt x="921" y="38"/>
                  </a:lnTo>
                  <a:lnTo>
                    <a:pt x="925" y="38"/>
                  </a:lnTo>
                  <a:lnTo>
                    <a:pt x="925" y="38"/>
                  </a:lnTo>
                  <a:lnTo>
                    <a:pt x="929" y="38"/>
                  </a:lnTo>
                  <a:lnTo>
                    <a:pt x="933" y="38"/>
                  </a:lnTo>
                  <a:lnTo>
                    <a:pt x="933" y="38"/>
                  </a:lnTo>
                  <a:lnTo>
                    <a:pt x="937" y="38"/>
                  </a:lnTo>
                  <a:lnTo>
                    <a:pt x="937" y="38"/>
                  </a:lnTo>
                  <a:lnTo>
                    <a:pt x="942" y="38"/>
                  </a:lnTo>
                  <a:lnTo>
                    <a:pt x="942" y="38"/>
                  </a:lnTo>
                  <a:lnTo>
                    <a:pt x="946" y="38"/>
                  </a:lnTo>
                  <a:lnTo>
                    <a:pt x="950" y="38"/>
                  </a:lnTo>
                  <a:lnTo>
                    <a:pt x="950" y="38"/>
                  </a:lnTo>
                  <a:lnTo>
                    <a:pt x="954" y="38"/>
                  </a:lnTo>
                  <a:lnTo>
                    <a:pt x="954" y="38"/>
                  </a:lnTo>
                  <a:lnTo>
                    <a:pt x="958" y="38"/>
                  </a:lnTo>
                  <a:lnTo>
                    <a:pt x="958" y="38"/>
                  </a:lnTo>
                  <a:lnTo>
                    <a:pt x="962" y="38"/>
                  </a:lnTo>
                  <a:lnTo>
                    <a:pt x="966" y="38"/>
                  </a:lnTo>
                  <a:lnTo>
                    <a:pt x="966" y="38"/>
                  </a:lnTo>
                  <a:lnTo>
                    <a:pt x="970" y="38"/>
                  </a:lnTo>
                  <a:lnTo>
                    <a:pt x="970" y="38"/>
                  </a:lnTo>
                  <a:lnTo>
                    <a:pt x="974" y="38"/>
                  </a:lnTo>
                  <a:lnTo>
                    <a:pt x="974" y="38"/>
                  </a:lnTo>
                  <a:lnTo>
                    <a:pt x="978" y="34"/>
                  </a:lnTo>
                  <a:lnTo>
                    <a:pt x="982" y="38"/>
                  </a:lnTo>
                  <a:lnTo>
                    <a:pt x="982" y="34"/>
                  </a:lnTo>
                  <a:lnTo>
                    <a:pt x="986" y="34"/>
                  </a:lnTo>
                  <a:lnTo>
                    <a:pt x="986" y="38"/>
                  </a:lnTo>
                  <a:lnTo>
                    <a:pt x="990" y="38"/>
                  </a:lnTo>
                  <a:lnTo>
                    <a:pt x="990" y="34"/>
                  </a:lnTo>
                  <a:lnTo>
                    <a:pt x="994" y="34"/>
                  </a:lnTo>
                  <a:lnTo>
                    <a:pt x="998" y="34"/>
                  </a:lnTo>
                  <a:lnTo>
                    <a:pt x="998" y="34"/>
                  </a:lnTo>
                  <a:lnTo>
                    <a:pt x="1002" y="34"/>
                  </a:lnTo>
                  <a:lnTo>
                    <a:pt x="1002" y="34"/>
                  </a:lnTo>
                  <a:lnTo>
                    <a:pt x="1006" y="34"/>
                  </a:lnTo>
                  <a:lnTo>
                    <a:pt x="1006" y="34"/>
                  </a:lnTo>
                  <a:lnTo>
                    <a:pt x="1010" y="34"/>
                  </a:lnTo>
                  <a:lnTo>
                    <a:pt x="1014" y="34"/>
                  </a:lnTo>
                  <a:lnTo>
                    <a:pt x="1014" y="34"/>
                  </a:lnTo>
                  <a:lnTo>
                    <a:pt x="1018" y="34"/>
                  </a:lnTo>
                  <a:lnTo>
                    <a:pt x="1018" y="34"/>
                  </a:lnTo>
                  <a:lnTo>
                    <a:pt x="1022" y="34"/>
                  </a:lnTo>
                  <a:lnTo>
                    <a:pt x="1022" y="34"/>
                  </a:lnTo>
                  <a:lnTo>
                    <a:pt x="1026" y="34"/>
                  </a:lnTo>
                  <a:lnTo>
                    <a:pt x="1030" y="34"/>
                  </a:lnTo>
                  <a:lnTo>
                    <a:pt x="1030" y="34"/>
                  </a:lnTo>
                  <a:lnTo>
                    <a:pt x="1034" y="34"/>
                  </a:lnTo>
                  <a:lnTo>
                    <a:pt x="1034" y="34"/>
                  </a:lnTo>
                  <a:lnTo>
                    <a:pt x="1038" y="30"/>
                  </a:lnTo>
                  <a:lnTo>
                    <a:pt x="1038" y="30"/>
                  </a:lnTo>
                  <a:lnTo>
                    <a:pt x="1042" y="30"/>
                  </a:lnTo>
                  <a:lnTo>
                    <a:pt x="1046" y="30"/>
                  </a:lnTo>
                  <a:lnTo>
                    <a:pt x="1046" y="30"/>
                  </a:lnTo>
                  <a:lnTo>
                    <a:pt x="1050" y="30"/>
                  </a:lnTo>
                  <a:lnTo>
                    <a:pt x="1050" y="30"/>
                  </a:lnTo>
                  <a:lnTo>
                    <a:pt x="1054" y="30"/>
                  </a:lnTo>
                  <a:lnTo>
                    <a:pt x="1054" y="30"/>
                  </a:lnTo>
                  <a:lnTo>
                    <a:pt x="1058" y="30"/>
                  </a:lnTo>
                  <a:lnTo>
                    <a:pt x="1062" y="34"/>
                  </a:lnTo>
                  <a:lnTo>
                    <a:pt x="1062" y="30"/>
                  </a:lnTo>
                  <a:lnTo>
                    <a:pt x="1066" y="30"/>
                  </a:lnTo>
                  <a:lnTo>
                    <a:pt x="1066" y="30"/>
                  </a:lnTo>
                  <a:lnTo>
                    <a:pt x="1070" y="30"/>
                  </a:lnTo>
                  <a:lnTo>
                    <a:pt x="1070" y="30"/>
                  </a:lnTo>
                  <a:lnTo>
                    <a:pt x="1074" y="30"/>
                  </a:lnTo>
                  <a:lnTo>
                    <a:pt x="1078" y="30"/>
                  </a:lnTo>
                  <a:lnTo>
                    <a:pt x="1078" y="30"/>
                  </a:lnTo>
                  <a:lnTo>
                    <a:pt x="1082" y="30"/>
                  </a:lnTo>
                  <a:lnTo>
                    <a:pt x="1082" y="30"/>
                  </a:lnTo>
                  <a:lnTo>
                    <a:pt x="1086" y="30"/>
                  </a:lnTo>
                  <a:lnTo>
                    <a:pt x="1086" y="30"/>
                  </a:lnTo>
                  <a:lnTo>
                    <a:pt x="1090" y="30"/>
                  </a:lnTo>
                  <a:lnTo>
                    <a:pt x="1094" y="30"/>
                  </a:lnTo>
                  <a:lnTo>
                    <a:pt x="1094" y="30"/>
                  </a:lnTo>
                  <a:lnTo>
                    <a:pt x="1098" y="30"/>
                  </a:lnTo>
                  <a:lnTo>
                    <a:pt x="1098" y="30"/>
                  </a:lnTo>
                  <a:lnTo>
                    <a:pt x="1102" y="30"/>
                  </a:lnTo>
                  <a:lnTo>
                    <a:pt x="1102" y="30"/>
                  </a:lnTo>
                  <a:lnTo>
                    <a:pt x="1106" y="30"/>
                  </a:lnTo>
                  <a:lnTo>
                    <a:pt x="1110" y="30"/>
                  </a:lnTo>
                  <a:lnTo>
                    <a:pt x="1110" y="30"/>
                  </a:lnTo>
                  <a:lnTo>
                    <a:pt x="1114" y="30"/>
                  </a:lnTo>
                  <a:lnTo>
                    <a:pt x="1114" y="30"/>
                  </a:lnTo>
                  <a:lnTo>
                    <a:pt x="1118" y="30"/>
                  </a:lnTo>
                  <a:lnTo>
                    <a:pt x="1118" y="30"/>
                  </a:lnTo>
                  <a:lnTo>
                    <a:pt x="1122" y="30"/>
                  </a:lnTo>
                  <a:lnTo>
                    <a:pt x="1126" y="30"/>
                  </a:lnTo>
                  <a:lnTo>
                    <a:pt x="1126" y="30"/>
                  </a:lnTo>
                  <a:lnTo>
                    <a:pt x="1130" y="30"/>
                  </a:lnTo>
                  <a:lnTo>
                    <a:pt x="1130" y="30"/>
                  </a:lnTo>
                  <a:lnTo>
                    <a:pt x="1134" y="30"/>
                  </a:lnTo>
                  <a:lnTo>
                    <a:pt x="1134" y="30"/>
                  </a:lnTo>
                  <a:lnTo>
                    <a:pt x="1138" y="30"/>
                  </a:lnTo>
                  <a:lnTo>
                    <a:pt x="1142" y="30"/>
                  </a:lnTo>
                  <a:lnTo>
                    <a:pt x="1142" y="0"/>
                  </a:lnTo>
                  <a:lnTo>
                    <a:pt x="1138" y="0"/>
                  </a:lnTo>
                  <a:lnTo>
                    <a:pt x="1134" y="0"/>
                  </a:lnTo>
                  <a:lnTo>
                    <a:pt x="1134" y="0"/>
                  </a:lnTo>
                  <a:lnTo>
                    <a:pt x="1130" y="0"/>
                  </a:lnTo>
                  <a:lnTo>
                    <a:pt x="1130" y="0"/>
                  </a:lnTo>
                  <a:lnTo>
                    <a:pt x="1126" y="0"/>
                  </a:lnTo>
                  <a:lnTo>
                    <a:pt x="1126" y="0"/>
                  </a:lnTo>
                  <a:lnTo>
                    <a:pt x="1122" y="0"/>
                  </a:lnTo>
                  <a:lnTo>
                    <a:pt x="1118" y="0"/>
                  </a:lnTo>
                  <a:lnTo>
                    <a:pt x="1118" y="0"/>
                  </a:lnTo>
                  <a:lnTo>
                    <a:pt x="1114" y="0"/>
                  </a:lnTo>
                  <a:lnTo>
                    <a:pt x="1114" y="0"/>
                  </a:lnTo>
                  <a:lnTo>
                    <a:pt x="1110" y="0"/>
                  </a:lnTo>
                  <a:lnTo>
                    <a:pt x="1110" y="0"/>
                  </a:lnTo>
                  <a:lnTo>
                    <a:pt x="1106" y="0"/>
                  </a:lnTo>
                  <a:lnTo>
                    <a:pt x="1102" y="0"/>
                  </a:lnTo>
                  <a:lnTo>
                    <a:pt x="1102" y="0"/>
                  </a:lnTo>
                  <a:lnTo>
                    <a:pt x="1098" y="0"/>
                  </a:lnTo>
                  <a:lnTo>
                    <a:pt x="1098" y="0"/>
                  </a:lnTo>
                  <a:lnTo>
                    <a:pt x="1094" y="0"/>
                  </a:lnTo>
                  <a:lnTo>
                    <a:pt x="1094" y="0"/>
                  </a:lnTo>
                  <a:lnTo>
                    <a:pt x="1090" y="0"/>
                  </a:lnTo>
                  <a:lnTo>
                    <a:pt x="1086" y="0"/>
                  </a:lnTo>
                  <a:lnTo>
                    <a:pt x="1086" y="0"/>
                  </a:lnTo>
                  <a:lnTo>
                    <a:pt x="1082" y="0"/>
                  </a:lnTo>
                  <a:lnTo>
                    <a:pt x="1082" y="0"/>
                  </a:lnTo>
                  <a:lnTo>
                    <a:pt x="1078" y="0"/>
                  </a:lnTo>
                  <a:lnTo>
                    <a:pt x="1078" y="0"/>
                  </a:lnTo>
                  <a:lnTo>
                    <a:pt x="1074" y="0"/>
                  </a:lnTo>
                  <a:lnTo>
                    <a:pt x="1070" y="0"/>
                  </a:lnTo>
                  <a:lnTo>
                    <a:pt x="1070" y="0"/>
                  </a:lnTo>
                  <a:lnTo>
                    <a:pt x="1066" y="0"/>
                  </a:lnTo>
                  <a:lnTo>
                    <a:pt x="1066" y="0"/>
                  </a:lnTo>
                  <a:lnTo>
                    <a:pt x="1062" y="0"/>
                  </a:lnTo>
                  <a:lnTo>
                    <a:pt x="1062" y="5"/>
                  </a:lnTo>
                  <a:lnTo>
                    <a:pt x="1058" y="0"/>
                  </a:lnTo>
                  <a:lnTo>
                    <a:pt x="1054" y="0"/>
                  </a:lnTo>
                  <a:lnTo>
                    <a:pt x="1054" y="0"/>
                  </a:lnTo>
                  <a:lnTo>
                    <a:pt x="1050" y="0"/>
                  </a:lnTo>
                  <a:lnTo>
                    <a:pt x="1050" y="0"/>
                  </a:lnTo>
                  <a:lnTo>
                    <a:pt x="1046" y="0"/>
                  </a:lnTo>
                  <a:lnTo>
                    <a:pt x="1046" y="5"/>
                  </a:lnTo>
                  <a:lnTo>
                    <a:pt x="1042" y="5"/>
                  </a:lnTo>
                  <a:lnTo>
                    <a:pt x="1038" y="5"/>
                  </a:lnTo>
                  <a:lnTo>
                    <a:pt x="1038" y="5"/>
                  </a:lnTo>
                  <a:lnTo>
                    <a:pt x="1034" y="5"/>
                  </a:lnTo>
                  <a:lnTo>
                    <a:pt x="1034" y="9"/>
                  </a:lnTo>
                  <a:lnTo>
                    <a:pt x="1030" y="5"/>
                  </a:lnTo>
                  <a:lnTo>
                    <a:pt x="1030" y="5"/>
                  </a:lnTo>
                  <a:lnTo>
                    <a:pt x="1026" y="5"/>
                  </a:lnTo>
                  <a:lnTo>
                    <a:pt x="1022" y="5"/>
                  </a:lnTo>
                  <a:lnTo>
                    <a:pt x="1022" y="5"/>
                  </a:lnTo>
                  <a:lnTo>
                    <a:pt x="1018" y="5"/>
                  </a:lnTo>
                  <a:lnTo>
                    <a:pt x="1018" y="5"/>
                  </a:lnTo>
                  <a:lnTo>
                    <a:pt x="1014" y="5"/>
                  </a:lnTo>
                  <a:lnTo>
                    <a:pt x="1014" y="9"/>
                  </a:lnTo>
                  <a:lnTo>
                    <a:pt x="1010" y="5"/>
                  </a:lnTo>
                  <a:lnTo>
                    <a:pt x="1006" y="5"/>
                  </a:lnTo>
                  <a:lnTo>
                    <a:pt x="1006" y="9"/>
                  </a:lnTo>
                  <a:lnTo>
                    <a:pt x="1002" y="9"/>
                  </a:lnTo>
                  <a:lnTo>
                    <a:pt x="1002" y="9"/>
                  </a:lnTo>
                  <a:lnTo>
                    <a:pt x="998" y="9"/>
                  </a:lnTo>
                  <a:lnTo>
                    <a:pt x="998" y="9"/>
                  </a:lnTo>
                  <a:lnTo>
                    <a:pt x="994" y="9"/>
                  </a:lnTo>
                  <a:lnTo>
                    <a:pt x="990" y="9"/>
                  </a:lnTo>
                  <a:lnTo>
                    <a:pt x="990" y="9"/>
                  </a:lnTo>
                  <a:lnTo>
                    <a:pt x="986" y="9"/>
                  </a:lnTo>
                  <a:lnTo>
                    <a:pt x="986" y="9"/>
                  </a:lnTo>
                  <a:lnTo>
                    <a:pt x="982" y="9"/>
                  </a:lnTo>
                  <a:lnTo>
                    <a:pt x="982" y="9"/>
                  </a:lnTo>
                  <a:lnTo>
                    <a:pt x="978" y="9"/>
                  </a:lnTo>
                  <a:lnTo>
                    <a:pt x="974" y="9"/>
                  </a:lnTo>
                  <a:lnTo>
                    <a:pt x="974" y="9"/>
                  </a:lnTo>
                  <a:lnTo>
                    <a:pt x="970" y="9"/>
                  </a:lnTo>
                  <a:lnTo>
                    <a:pt x="970" y="9"/>
                  </a:lnTo>
                  <a:lnTo>
                    <a:pt x="966" y="9"/>
                  </a:lnTo>
                  <a:lnTo>
                    <a:pt x="966" y="9"/>
                  </a:lnTo>
                  <a:lnTo>
                    <a:pt x="962" y="9"/>
                  </a:lnTo>
                  <a:lnTo>
                    <a:pt x="958" y="9"/>
                  </a:lnTo>
                  <a:lnTo>
                    <a:pt x="958" y="9"/>
                  </a:lnTo>
                  <a:lnTo>
                    <a:pt x="954" y="9"/>
                  </a:lnTo>
                  <a:lnTo>
                    <a:pt x="954" y="9"/>
                  </a:lnTo>
                  <a:lnTo>
                    <a:pt x="950" y="9"/>
                  </a:lnTo>
                  <a:lnTo>
                    <a:pt x="950" y="9"/>
                  </a:lnTo>
                  <a:lnTo>
                    <a:pt x="946" y="9"/>
                  </a:lnTo>
                  <a:lnTo>
                    <a:pt x="942" y="9"/>
                  </a:lnTo>
                  <a:lnTo>
                    <a:pt x="942" y="9"/>
                  </a:lnTo>
                  <a:lnTo>
                    <a:pt x="937" y="9"/>
                  </a:lnTo>
                  <a:lnTo>
                    <a:pt x="937" y="9"/>
                  </a:lnTo>
                  <a:lnTo>
                    <a:pt x="933" y="9"/>
                  </a:lnTo>
                  <a:lnTo>
                    <a:pt x="933" y="9"/>
                  </a:lnTo>
                  <a:lnTo>
                    <a:pt x="929" y="9"/>
                  </a:lnTo>
                  <a:lnTo>
                    <a:pt x="925" y="9"/>
                  </a:lnTo>
                  <a:lnTo>
                    <a:pt x="925" y="9"/>
                  </a:lnTo>
                  <a:lnTo>
                    <a:pt x="921" y="9"/>
                  </a:lnTo>
                  <a:lnTo>
                    <a:pt x="921" y="9"/>
                  </a:lnTo>
                  <a:lnTo>
                    <a:pt x="917" y="9"/>
                  </a:lnTo>
                  <a:lnTo>
                    <a:pt x="917" y="9"/>
                  </a:lnTo>
                  <a:lnTo>
                    <a:pt x="913" y="13"/>
                  </a:lnTo>
                  <a:lnTo>
                    <a:pt x="913" y="9"/>
                  </a:lnTo>
                  <a:lnTo>
                    <a:pt x="909" y="13"/>
                  </a:lnTo>
                  <a:lnTo>
                    <a:pt x="905" y="13"/>
                  </a:lnTo>
                  <a:lnTo>
                    <a:pt x="905" y="13"/>
                  </a:lnTo>
                  <a:lnTo>
                    <a:pt x="901" y="13"/>
                  </a:lnTo>
                  <a:lnTo>
                    <a:pt x="901" y="13"/>
                  </a:lnTo>
                  <a:lnTo>
                    <a:pt x="897" y="13"/>
                  </a:lnTo>
                  <a:lnTo>
                    <a:pt x="897" y="13"/>
                  </a:lnTo>
                  <a:lnTo>
                    <a:pt x="893" y="13"/>
                  </a:lnTo>
                  <a:lnTo>
                    <a:pt x="889" y="13"/>
                  </a:lnTo>
                  <a:lnTo>
                    <a:pt x="889" y="13"/>
                  </a:lnTo>
                  <a:lnTo>
                    <a:pt x="885" y="13"/>
                  </a:lnTo>
                  <a:lnTo>
                    <a:pt x="885" y="13"/>
                  </a:lnTo>
                  <a:lnTo>
                    <a:pt x="881" y="13"/>
                  </a:lnTo>
                  <a:lnTo>
                    <a:pt x="881" y="13"/>
                  </a:lnTo>
                  <a:lnTo>
                    <a:pt x="877" y="13"/>
                  </a:lnTo>
                  <a:lnTo>
                    <a:pt x="873" y="13"/>
                  </a:lnTo>
                  <a:lnTo>
                    <a:pt x="873" y="13"/>
                  </a:lnTo>
                  <a:lnTo>
                    <a:pt x="869" y="13"/>
                  </a:lnTo>
                  <a:lnTo>
                    <a:pt x="869" y="13"/>
                  </a:lnTo>
                  <a:lnTo>
                    <a:pt x="865" y="13"/>
                  </a:lnTo>
                  <a:lnTo>
                    <a:pt x="865" y="13"/>
                  </a:lnTo>
                  <a:lnTo>
                    <a:pt x="861" y="13"/>
                  </a:lnTo>
                  <a:lnTo>
                    <a:pt x="857" y="13"/>
                  </a:lnTo>
                  <a:lnTo>
                    <a:pt x="857" y="13"/>
                  </a:lnTo>
                  <a:lnTo>
                    <a:pt x="853" y="13"/>
                  </a:lnTo>
                  <a:lnTo>
                    <a:pt x="853" y="13"/>
                  </a:lnTo>
                  <a:lnTo>
                    <a:pt x="849" y="13"/>
                  </a:lnTo>
                  <a:lnTo>
                    <a:pt x="849" y="13"/>
                  </a:lnTo>
                  <a:lnTo>
                    <a:pt x="845" y="13"/>
                  </a:lnTo>
                  <a:lnTo>
                    <a:pt x="841" y="13"/>
                  </a:lnTo>
                  <a:lnTo>
                    <a:pt x="841" y="13"/>
                  </a:lnTo>
                  <a:lnTo>
                    <a:pt x="837" y="13"/>
                  </a:lnTo>
                  <a:lnTo>
                    <a:pt x="837" y="13"/>
                  </a:lnTo>
                  <a:lnTo>
                    <a:pt x="833" y="13"/>
                  </a:lnTo>
                  <a:lnTo>
                    <a:pt x="833" y="17"/>
                  </a:lnTo>
                  <a:lnTo>
                    <a:pt x="829" y="17"/>
                  </a:lnTo>
                  <a:lnTo>
                    <a:pt x="825" y="17"/>
                  </a:lnTo>
                  <a:lnTo>
                    <a:pt x="825" y="17"/>
                  </a:lnTo>
                  <a:lnTo>
                    <a:pt x="821" y="17"/>
                  </a:lnTo>
                  <a:lnTo>
                    <a:pt x="821" y="17"/>
                  </a:lnTo>
                  <a:lnTo>
                    <a:pt x="817" y="17"/>
                  </a:lnTo>
                  <a:lnTo>
                    <a:pt x="817" y="17"/>
                  </a:lnTo>
                  <a:lnTo>
                    <a:pt x="813" y="17"/>
                  </a:lnTo>
                  <a:lnTo>
                    <a:pt x="809" y="17"/>
                  </a:lnTo>
                  <a:lnTo>
                    <a:pt x="809" y="17"/>
                  </a:lnTo>
                  <a:lnTo>
                    <a:pt x="805" y="17"/>
                  </a:lnTo>
                  <a:lnTo>
                    <a:pt x="805" y="17"/>
                  </a:lnTo>
                  <a:lnTo>
                    <a:pt x="801" y="17"/>
                  </a:lnTo>
                  <a:lnTo>
                    <a:pt x="801" y="17"/>
                  </a:lnTo>
                  <a:lnTo>
                    <a:pt x="797" y="17"/>
                  </a:lnTo>
                  <a:lnTo>
                    <a:pt x="793" y="17"/>
                  </a:lnTo>
                  <a:lnTo>
                    <a:pt x="793" y="17"/>
                  </a:lnTo>
                  <a:lnTo>
                    <a:pt x="789" y="17"/>
                  </a:lnTo>
                  <a:lnTo>
                    <a:pt x="789" y="17"/>
                  </a:lnTo>
                  <a:lnTo>
                    <a:pt x="785" y="21"/>
                  </a:lnTo>
                  <a:lnTo>
                    <a:pt x="785" y="21"/>
                  </a:lnTo>
                  <a:lnTo>
                    <a:pt x="781" y="21"/>
                  </a:lnTo>
                  <a:lnTo>
                    <a:pt x="777" y="21"/>
                  </a:lnTo>
                  <a:lnTo>
                    <a:pt x="777" y="21"/>
                  </a:lnTo>
                  <a:lnTo>
                    <a:pt x="773" y="21"/>
                  </a:lnTo>
                  <a:lnTo>
                    <a:pt x="773" y="21"/>
                  </a:lnTo>
                  <a:lnTo>
                    <a:pt x="769" y="21"/>
                  </a:lnTo>
                  <a:lnTo>
                    <a:pt x="769" y="21"/>
                  </a:lnTo>
                  <a:lnTo>
                    <a:pt x="765" y="21"/>
                  </a:lnTo>
                  <a:lnTo>
                    <a:pt x="761" y="21"/>
                  </a:lnTo>
                  <a:lnTo>
                    <a:pt x="761" y="21"/>
                  </a:lnTo>
                  <a:lnTo>
                    <a:pt x="757" y="21"/>
                  </a:lnTo>
                  <a:lnTo>
                    <a:pt x="757" y="21"/>
                  </a:lnTo>
                  <a:lnTo>
                    <a:pt x="753" y="21"/>
                  </a:lnTo>
                  <a:lnTo>
                    <a:pt x="753" y="21"/>
                  </a:lnTo>
                  <a:lnTo>
                    <a:pt x="749" y="21"/>
                  </a:lnTo>
                  <a:lnTo>
                    <a:pt x="745" y="21"/>
                  </a:lnTo>
                  <a:lnTo>
                    <a:pt x="745" y="21"/>
                  </a:lnTo>
                  <a:lnTo>
                    <a:pt x="741" y="21"/>
                  </a:lnTo>
                  <a:lnTo>
                    <a:pt x="741" y="21"/>
                  </a:lnTo>
                  <a:lnTo>
                    <a:pt x="737" y="21"/>
                  </a:lnTo>
                  <a:lnTo>
                    <a:pt x="737" y="21"/>
                  </a:lnTo>
                  <a:lnTo>
                    <a:pt x="733" y="21"/>
                  </a:lnTo>
                  <a:lnTo>
                    <a:pt x="729" y="21"/>
                  </a:lnTo>
                  <a:lnTo>
                    <a:pt x="729" y="21"/>
                  </a:lnTo>
                  <a:lnTo>
                    <a:pt x="725" y="21"/>
                  </a:lnTo>
                  <a:lnTo>
                    <a:pt x="725" y="21"/>
                  </a:lnTo>
                  <a:lnTo>
                    <a:pt x="721" y="21"/>
                  </a:lnTo>
                  <a:lnTo>
                    <a:pt x="721" y="21"/>
                  </a:lnTo>
                  <a:lnTo>
                    <a:pt x="717" y="21"/>
                  </a:lnTo>
                  <a:lnTo>
                    <a:pt x="713" y="21"/>
                  </a:lnTo>
                  <a:lnTo>
                    <a:pt x="713" y="21"/>
                  </a:lnTo>
                  <a:lnTo>
                    <a:pt x="709" y="21"/>
                  </a:lnTo>
                  <a:lnTo>
                    <a:pt x="709" y="21"/>
                  </a:lnTo>
                  <a:lnTo>
                    <a:pt x="705" y="21"/>
                  </a:lnTo>
                  <a:lnTo>
                    <a:pt x="705" y="21"/>
                  </a:lnTo>
                  <a:lnTo>
                    <a:pt x="701" y="21"/>
                  </a:lnTo>
                  <a:lnTo>
                    <a:pt x="697" y="21"/>
                  </a:lnTo>
                  <a:lnTo>
                    <a:pt x="697" y="21"/>
                  </a:lnTo>
                  <a:lnTo>
                    <a:pt x="693" y="21"/>
                  </a:lnTo>
                  <a:lnTo>
                    <a:pt x="693" y="21"/>
                  </a:lnTo>
                  <a:lnTo>
                    <a:pt x="689" y="21"/>
                  </a:lnTo>
                  <a:lnTo>
                    <a:pt x="689" y="21"/>
                  </a:lnTo>
                  <a:lnTo>
                    <a:pt x="685" y="21"/>
                  </a:lnTo>
                  <a:lnTo>
                    <a:pt x="685" y="21"/>
                  </a:lnTo>
                  <a:lnTo>
                    <a:pt x="681" y="21"/>
                  </a:lnTo>
                  <a:lnTo>
                    <a:pt x="677" y="21"/>
                  </a:lnTo>
                  <a:lnTo>
                    <a:pt x="677" y="21"/>
                  </a:lnTo>
                  <a:lnTo>
                    <a:pt x="673" y="21"/>
                  </a:lnTo>
                  <a:lnTo>
                    <a:pt x="673" y="21"/>
                  </a:lnTo>
                  <a:lnTo>
                    <a:pt x="669" y="21"/>
                  </a:lnTo>
                  <a:lnTo>
                    <a:pt x="669" y="21"/>
                  </a:lnTo>
                  <a:lnTo>
                    <a:pt x="665" y="21"/>
                  </a:lnTo>
                  <a:lnTo>
                    <a:pt x="661" y="21"/>
                  </a:lnTo>
                  <a:lnTo>
                    <a:pt x="661" y="21"/>
                  </a:lnTo>
                  <a:lnTo>
                    <a:pt x="657" y="21"/>
                  </a:lnTo>
                  <a:lnTo>
                    <a:pt x="657" y="21"/>
                  </a:lnTo>
                  <a:lnTo>
                    <a:pt x="653" y="21"/>
                  </a:lnTo>
                  <a:lnTo>
                    <a:pt x="653" y="21"/>
                  </a:lnTo>
                  <a:lnTo>
                    <a:pt x="649" y="21"/>
                  </a:lnTo>
                  <a:lnTo>
                    <a:pt x="645" y="21"/>
                  </a:lnTo>
                  <a:lnTo>
                    <a:pt x="645" y="21"/>
                  </a:lnTo>
                  <a:lnTo>
                    <a:pt x="641" y="21"/>
                  </a:lnTo>
                  <a:lnTo>
                    <a:pt x="641" y="21"/>
                  </a:lnTo>
                  <a:lnTo>
                    <a:pt x="637" y="21"/>
                  </a:lnTo>
                  <a:lnTo>
                    <a:pt x="637" y="21"/>
                  </a:lnTo>
                  <a:lnTo>
                    <a:pt x="633" y="21"/>
                  </a:lnTo>
                  <a:lnTo>
                    <a:pt x="629" y="21"/>
                  </a:lnTo>
                  <a:lnTo>
                    <a:pt x="629" y="21"/>
                  </a:lnTo>
                  <a:lnTo>
                    <a:pt x="625" y="21"/>
                  </a:lnTo>
                  <a:lnTo>
                    <a:pt x="625" y="21"/>
                  </a:lnTo>
                  <a:lnTo>
                    <a:pt x="621" y="21"/>
                  </a:lnTo>
                  <a:lnTo>
                    <a:pt x="621" y="21"/>
                  </a:lnTo>
                  <a:lnTo>
                    <a:pt x="617" y="21"/>
                  </a:lnTo>
                  <a:lnTo>
                    <a:pt x="613" y="21"/>
                  </a:lnTo>
                  <a:lnTo>
                    <a:pt x="613" y="21"/>
                  </a:lnTo>
                  <a:lnTo>
                    <a:pt x="609" y="21"/>
                  </a:lnTo>
                  <a:lnTo>
                    <a:pt x="609" y="21"/>
                  </a:lnTo>
                  <a:lnTo>
                    <a:pt x="605" y="21"/>
                  </a:lnTo>
                  <a:lnTo>
                    <a:pt x="605" y="21"/>
                  </a:lnTo>
                  <a:lnTo>
                    <a:pt x="601" y="21"/>
                  </a:lnTo>
                  <a:lnTo>
                    <a:pt x="597" y="21"/>
                  </a:lnTo>
                  <a:lnTo>
                    <a:pt x="597" y="21"/>
                  </a:lnTo>
                  <a:lnTo>
                    <a:pt x="593" y="21"/>
                  </a:lnTo>
                  <a:lnTo>
                    <a:pt x="593" y="21"/>
                  </a:lnTo>
                  <a:lnTo>
                    <a:pt x="589" y="21"/>
                  </a:lnTo>
                  <a:lnTo>
                    <a:pt x="589" y="21"/>
                  </a:lnTo>
                  <a:lnTo>
                    <a:pt x="585" y="21"/>
                  </a:lnTo>
                  <a:lnTo>
                    <a:pt x="581" y="21"/>
                  </a:lnTo>
                  <a:lnTo>
                    <a:pt x="581" y="21"/>
                  </a:lnTo>
                  <a:lnTo>
                    <a:pt x="577" y="21"/>
                  </a:lnTo>
                  <a:lnTo>
                    <a:pt x="577" y="21"/>
                  </a:lnTo>
                  <a:lnTo>
                    <a:pt x="573" y="21"/>
                  </a:lnTo>
                  <a:lnTo>
                    <a:pt x="573" y="21"/>
                  </a:lnTo>
                  <a:lnTo>
                    <a:pt x="569" y="21"/>
                  </a:lnTo>
                  <a:lnTo>
                    <a:pt x="565" y="25"/>
                  </a:lnTo>
                  <a:lnTo>
                    <a:pt x="565" y="25"/>
                  </a:lnTo>
                  <a:lnTo>
                    <a:pt x="561" y="25"/>
                  </a:lnTo>
                  <a:lnTo>
                    <a:pt x="561" y="25"/>
                  </a:lnTo>
                  <a:lnTo>
                    <a:pt x="557" y="25"/>
                  </a:lnTo>
                  <a:lnTo>
                    <a:pt x="557" y="25"/>
                  </a:lnTo>
                  <a:lnTo>
                    <a:pt x="553" y="25"/>
                  </a:lnTo>
                  <a:lnTo>
                    <a:pt x="549" y="25"/>
                  </a:lnTo>
                  <a:lnTo>
                    <a:pt x="549" y="25"/>
                  </a:lnTo>
                  <a:lnTo>
                    <a:pt x="545" y="25"/>
                  </a:lnTo>
                  <a:lnTo>
                    <a:pt x="545" y="25"/>
                  </a:lnTo>
                  <a:lnTo>
                    <a:pt x="541" y="25"/>
                  </a:lnTo>
                  <a:lnTo>
                    <a:pt x="541" y="21"/>
                  </a:lnTo>
                  <a:lnTo>
                    <a:pt x="537" y="21"/>
                  </a:lnTo>
                  <a:lnTo>
                    <a:pt x="533" y="25"/>
                  </a:lnTo>
                  <a:lnTo>
                    <a:pt x="533" y="25"/>
                  </a:lnTo>
                  <a:lnTo>
                    <a:pt x="529" y="25"/>
                  </a:lnTo>
                  <a:lnTo>
                    <a:pt x="529" y="25"/>
                  </a:lnTo>
                  <a:lnTo>
                    <a:pt x="525" y="25"/>
                  </a:lnTo>
                  <a:lnTo>
                    <a:pt x="525" y="25"/>
                  </a:lnTo>
                  <a:lnTo>
                    <a:pt x="521" y="25"/>
                  </a:lnTo>
                  <a:lnTo>
                    <a:pt x="517" y="30"/>
                  </a:lnTo>
                  <a:lnTo>
                    <a:pt x="517" y="30"/>
                  </a:lnTo>
                  <a:lnTo>
                    <a:pt x="513" y="30"/>
                  </a:lnTo>
                  <a:lnTo>
                    <a:pt x="513" y="30"/>
                  </a:lnTo>
                  <a:lnTo>
                    <a:pt x="509" y="30"/>
                  </a:lnTo>
                  <a:lnTo>
                    <a:pt x="509" y="30"/>
                  </a:lnTo>
                  <a:lnTo>
                    <a:pt x="505" y="30"/>
                  </a:lnTo>
                  <a:lnTo>
                    <a:pt x="501" y="30"/>
                  </a:lnTo>
                  <a:lnTo>
                    <a:pt x="501" y="30"/>
                  </a:lnTo>
                  <a:lnTo>
                    <a:pt x="497" y="30"/>
                  </a:lnTo>
                  <a:lnTo>
                    <a:pt x="497" y="30"/>
                  </a:lnTo>
                  <a:lnTo>
                    <a:pt x="493" y="30"/>
                  </a:lnTo>
                  <a:lnTo>
                    <a:pt x="493" y="30"/>
                  </a:lnTo>
                  <a:lnTo>
                    <a:pt x="489" y="30"/>
                  </a:lnTo>
                  <a:lnTo>
                    <a:pt x="485" y="30"/>
                  </a:lnTo>
                  <a:lnTo>
                    <a:pt x="485" y="30"/>
                  </a:lnTo>
                  <a:lnTo>
                    <a:pt x="481" y="34"/>
                  </a:lnTo>
                  <a:lnTo>
                    <a:pt x="481" y="34"/>
                  </a:lnTo>
                  <a:lnTo>
                    <a:pt x="477" y="34"/>
                  </a:lnTo>
                  <a:lnTo>
                    <a:pt x="477" y="34"/>
                  </a:lnTo>
                  <a:lnTo>
                    <a:pt x="473" y="34"/>
                  </a:lnTo>
                  <a:lnTo>
                    <a:pt x="469" y="34"/>
                  </a:lnTo>
                  <a:lnTo>
                    <a:pt x="469" y="34"/>
                  </a:lnTo>
                  <a:lnTo>
                    <a:pt x="465" y="34"/>
                  </a:lnTo>
                  <a:lnTo>
                    <a:pt x="465" y="34"/>
                  </a:lnTo>
                  <a:lnTo>
                    <a:pt x="461" y="34"/>
                  </a:lnTo>
                  <a:lnTo>
                    <a:pt x="461" y="34"/>
                  </a:lnTo>
                  <a:lnTo>
                    <a:pt x="456" y="34"/>
                  </a:lnTo>
                  <a:lnTo>
                    <a:pt x="456" y="34"/>
                  </a:lnTo>
                  <a:lnTo>
                    <a:pt x="452" y="34"/>
                  </a:lnTo>
                  <a:lnTo>
                    <a:pt x="448" y="34"/>
                  </a:lnTo>
                  <a:lnTo>
                    <a:pt x="448" y="34"/>
                  </a:lnTo>
                  <a:lnTo>
                    <a:pt x="444" y="34"/>
                  </a:lnTo>
                  <a:lnTo>
                    <a:pt x="444" y="34"/>
                  </a:lnTo>
                  <a:lnTo>
                    <a:pt x="440" y="34"/>
                  </a:lnTo>
                  <a:lnTo>
                    <a:pt x="440" y="38"/>
                  </a:lnTo>
                  <a:lnTo>
                    <a:pt x="436" y="38"/>
                  </a:lnTo>
                  <a:lnTo>
                    <a:pt x="432" y="38"/>
                  </a:lnTo>
                  <a:lnTo>
                    <a:pt x="432" y="38"/>
                  </a:lnTo>
                  <a:lnTo>
                    <a:pt x="428" y="38"/>
                  </a:lnTo>
                  <a:lnTo>
                    <a:pt x="428" y="38"/>
                  </a:lnTo>
                  <a:lnTo>
                    <a:pt x="424" y="38"/>
                  </a:lnTo>
                  <a:lnTo>
                    <a:pt x="424" y="38"/>
                  </a:lnTo>
                  <a:lnTo>
                    <a:pt x="420" y="38"/>
                  </a:lnTo>
                  <a:lnTo>
                    <a:pt x="416" y="38"/>
                  </a:lnTo>
                  <a:lnTo>
                    <a:pt x="416" y="42"/>
                  </a:lnTo>
                  <a:lnTo>
                    <a:pt x="412" y="38"/>
                  </a:lnTo>
                  <a:lnTo>
                    <a:pt x="412" y="38"/>
                  </a:lnTo>
                  <a:lnTo>
                    <a:pt x="408" y="42"/>
                  </a:lnTo>
                  <a:lnTo>
                    <a:pt x="408" y="42"/>
                  </a:lnTo>
                  <a:lnTo>
                    <a:pt x="404" y="42"/>
                  </a:lnTo>
                  <a:lnTo>
                    <a:pt x="400" y="42"/>
                  </a:lnTo>
                  <a:lnTo>
                    <a:pt x="400" y="42"/>
                  </a:lnTo>
                  <a:lnTo>
                    <a:pt x="396" y="42"/>
                  </a:lnTo>
                  <a:lnTo>
                    <a:pt x="396" y="42"/>
                  </a:lnTo>
                  <a:lnTo>
                    <a:pt x="392" y="42"/>
                  </a:lnTo>
                  <a:lnTo>
                    <a:pt x="392" y="42"/>
                  </a:lnTo>
                  <a:lnTo>
                    <a:pt x="388" y="42"/>
                  </a:lnTo>
                  <a:lnTo>
                    <a:pt x="384" y="42"/>
                  </a:lnTo>
                  <a:lnTo>
                    <a:pt x="384" y="46"/>
                  </a:lnTo>
                  <a:lnTo>
                    <a:pt x="380" y="46"/>
                  </a:lnTo>
                  <a:lnTo>
                    <a:pt x="380" y="46"/>
                  </a:lnTo>
                  <a:lnTo>
                    <a:pt x="376" y="46"/>
                  </a:lnTo>
                  <a:lnTo>
                    <a:pt x="376" y="46"/>
                  </a:lnTo>
                  <a:lnTo>
                    <a:pt x="372" y="46"/>
                  </a:lnTo>
                  <a:lnTo>
                    <a:pt x="368" y="46"/>
                  </a:lnTo>
                  <a:lnTo>
                    <a:pt x="368" y="46"/>
                  </a:lnTo>
                  <a:lnTo>
                    <a:pt x="364" y="46"/>
                  </a:lnTo>
                  <a:lnTo>
                    <a:pt x="364" y="46"/>
                  </a:lnTo>
                  <a:lnTo>
                    <a:pt x="360" y="50"/>
                  </a:lnTo>
                  <a:lnTo>
                    <a:pt x="360" y="50"/>
                  </a:lnTo>
                  <a:lnTo>
                    <a:pt x="356" y="50"/>
                  </a:lnTo>
                  <a:lnTo>
                    <a:pt x="352" y="50"/>
                  </a:lnTo>
                  <a:lnTo>
                    <a:pt x="352" y="46"/>
                  </a:lnTo>
                  <a:lnTo>
                    <a:pt x="348" y="50"/>
                  </a:lnTo>
                  <a:lnTo>
                    <a:pt x="348" y="55"/>
                  </a:lnTo>
                  <a:lnTo>
                    <a:pt x="344" y="55"/>
                  </a:lnTo>
                  <a:lnTo>
                    <a:pt x="344" y="55"/>
                  </a:lnTo>
                  <a:lnTo>
                    <a:pt x="340" y="55"/>
                  </a:lnTo>
                  <a:lnTo>
                    <a:pt x="336" y="55"/>
                  </a:lnTo>
                  <a:lnTo>
                    <a:pt x="336" y="55"/>
                  </a:lnTo>
                  <a:lnTo>
                    <a:pt x="332" y="55"/>
                  </a:lnTo>
                  <a:lnTo>
                    <a:pt x="332" y="55"/>
                  </a:lnTo>
                  <a:lnTo>
                    <a:pt x="328" y="55"/>
                  </a:lnTo>
                  <a:lnTo>
                    <a:pt x="328" y="55"/>
                  </a:lnTo>
                  <a:lnTo>
                    <a:pt x="324" y="59"/>
                  </a:lnTo>
                  <a:lnTo>
                    <a:pt x="320" y="59"/>
                  </a:lnTo>
                  <a:lnTo>
                    <a:pt x="320" y="59"/>
                  </a:lnTo>
                  <a:lnTo>
                    <a:pt x="316" y="59"/>
                  </a:lnTo>
                  <a:lnTo>
                    <a:pt x="316" y="59"/>
                  </a:lnTo>
                  <a:lnTo>
                    <a:pt x="312" y="59"/>
                  </a:lnTo>
                  <a:lnTo>
                    <a:pt x="312" y="63"/>
                  </a:lnTo>
                  <a:lnTo>
                    <a:pt x="308" y="63"/>
                  </a:lnTo>
                  <a:lnTo>
                    <a:pt x="304" y="67"/>
                  </a:lnTo>
                  <a:lnTo>
                    <a:pt x="304" y="67"/>
                  </a:lnTo>
                  <a:lnTo>
                    <a:pt x="300" y="67"/>
                  </a:lnTo>
                  <a:lnTo>
                    <a:pt x="300" y="67"/>
                  </a:lnTo>
                  <a:lnTo>
                    <a:pt x="296" y="71"/>
                  </a:lnTo>
                  <a:lnTo>
                    <a:pt x="296" y="71"/>
                  </a:lnTo>
                  <a:lnTo>
                    <a:pt x="292" y="71"/>
                  </a:lnTo>
                  <a:lnTo>
                    <a:pt x="288" y="75"/>
                  </a:lnTo>
                  <a:lnTo>
                    <a:pt x="288" y="75"/>
                  </a:lnTo>
                  <a:lnTo>
                    <a:pt x="284" y="75"/>
                  </a:lnTo>
                  <a:lnTo>
                    <a:pt x="284" y="75"/>
                  </a:lnTo>
                  <a:lnTo>
                    <a:pt x="280" y="75"/>
                  </a:lnTo>
                  <a:lnTo>
                    <a:pt x="280" y="75"/>
                  </a:lnTo>
                  <a:lnTo>
                    <a:pt x="276" y="75"/>
                  </a:lnTo>
                  <a:lnTo>
                    <a:pt x="272" y="80"/>
                  </a:lnTo>
                  <a:lnTo>
                    <a:pt x="272" y="80"/>
                  </a:lnTo>
                  <a:lnTo>
                    <a:pt x="268" y="84"/>
                  </a:lnTo>
                  <a:lnTo>
                    <a:pt x="268" y="88"/>
                  </a:lnTo>
                  <a:lnTo>
                    <a:pt x="264" y="88"/>
                  </a:lnTo>
                  <a:lnTo>
                    <a:pt x="264" y="88"/>
                  </a:lnTo>
                  <a:lnTo>
                    <a:pt x="260" y="92"/>
                  </a:lnTo>
                  <a:lnTo>
                    <a:pt x="256" y="88"/>
                  </a:lnTo>
                  <a:lnTo>
                    <a:pt x="256" y="92"/>
                  </a:lnTo>
                  <a:lnTo>
                    <a:pt x="252" y="92"/>
                  </a:lnTo>
                  <a:lnTo>
                    <a:pt x="252" y="92"/>
                  </a:lnTo>
                  <a:lnTo>
                    <a:pt x="248" y="96"/>
                  </a:lnTo>
                  <a:lnTo>
                    <a:pt x="248" y="96"/>
                  </a:lnTo>
                  <a:lnTo>
                    <a:pt x="244" y="101"/>
                  </a:lnTo>
                  <a:lnTo>
                    <a:pt x="240" y="101"/>
                  </a:lnTo>
                  <a:lnTo>
                    <a:pt x="240" y="101"/>
                  </a:lnTo>
                  <a:lnTo>
                    <a:pt x="236" y="105"/>
                  </a:lnTo>
                  <a:lnTo>
                    <a:pt x="236" y="105"/>
                  </a:lnTo>
                  <a:lnTo>
                    <a:pt x="232" y="105"/>
                  </a:lnTo>
                  <a:lnTo>
                    <a:pt x="232" y="109"/>
                  </a:lnTo>
                  <a:lnTo>
                    <a:pt x="228" y="109"/>
                  </a:lnTo>
                  <a:lnTo>
                    <a:pt x="228" y="109"/>
                  </a:lnTo>
                  <a:lnTo>
                    <a:pt x="224" y="113"/>
                  </a:lnTo>
                  <a:lnTo>
                    <a:pt x="220" y="113"/>
                  </a:lnTo>
                  <a:lnTo>
                    <a:pt x="220" y="117"/>
                  </a:lnTo>
                  <a:lnTo>
                    <a:pt x="216" y="117"/>
                  </a:lnTo>
                  <a:lnTo>
                    <a:pt x="216" y="117"/>
                  </a:lnTo>
                  <a:lnTo>
                    <a:pt x="212" y="117"/>
                  </a:lnTo>
                  <a:lnTo>
                    <a:pt x="212" y="121"/>
                  </a:lnTo>
                  <a:lnTo>
                    <a:pt x="208" y="121"/>
                  </a:lnTo>
                  <a:lnTo>
                    <a:pt x="204" y="121"/>
                  </a:lnTo>
                  <a:lnTo>
                    <a:pt x="204" y="126"/>
                  </a:lnTo>
                  <a:lnTo>
                    <a:pt x="200" y="130"/>
                  </a:lnTo>
                  <a:lnTo>
                    <a:pt x="200" y="134"/>
                  </a:lnTo>
                  <a:lnTo>
                    <a:pt x="196" y="134"/>
                  </a:lnTo>
                  <a:lnTo>
                    <a:pt x="196" y="134"/>
                  </a:lnTo>
                  <a:lnTo>
                    <a:pt x="192" y="134"/>
                  </a:lnTo>
                  <a:lnTo>
                    <a:pt x="188" y="138"/>
                  </a:lnTo>
                  <a:lnTo>
                    <a:pt x="188" y="138"/>
                  </a:lnTo>
                  <a:lnTo>
                    <a:pt x="184" y="138"/>
                  </a:lnTo>
                  <a:lnTo>
                    <a:pt x="184" y="142"/>
                  </a:lnTo>
                  <a:lnTo>
                    <a:pt x="180" y="142"/>
                  </a:lnTo>
                  <a:lnTo>
                    <a:pt x="180" y="146"/>
                  </a:lnTo>
                  <a:lnTo>
                    <a:pt x="176" y="151"/>
                  </a:lnTo>
                  <a:lnTo>
                    <a:pt x="172" y="151"/>
                  </a:lnTo>
                  <a:lnTo>
                    <a:pt x="172" y="155"/>
                  </a:lnTo>
                  <a:lnTo>
                    <a:pt x="168" y="155"/>
                  </a:lnTo>
                  <a:lnTo>
                    <a:pt x="168" y="159"/>
                  </a:lnTo>
                  <a:lnTo>
                    <a:pt x="164" y="159"/>
                  </a:lnTo>
                  <a:lnTo>
                    <a:pt x="164" y="163"/>
                  </a:lnTo>
                  <a:lnTo>
                    <a:pt x="160" y="163"/>
                  </a:lnTo>
                  <a:lnTo>
                    <a:pt x="156" y="163"/>
                  </a:lnTo>
                  <a:lnTo>
                    <a:pt x="156" y="167"/>
                  </a:lnTo>
                  <a:lnTo>
                    <a:pt x="152" y="167"/>
                  </a:lnTo>
                  <a:lnTo>
                    <a:pt x="152" y="167"/>
                  </a:lnTo>
                  <a:lnTo>
                    <a:pt x="148" y="167"/>
                  </a:lnTo>
                  <a:lnTo>
                    <a:pt x="148" y="171"/>
                  </a:lnTo>
                  <a:lnTo>
                    <a:pt x="144" y="171"/>
                  </a:lnTo>
                  <a:lnTo>
                    <a:pt x="140" y="171"/>
                  </a:lnTo>
                  <a:lnTo>
                    <a:pt x="140" y="171"/>
                  </a:lnTo>
                  <a:lnTo>
                    <a:pt x="136" y="176"/>
                  </a:lnTo>
                  <a:lnTo>
                    <a:pt x="136" y="176"/>
                  </a:lnTo>
                  <a:lnTo>
                    <a:pt x="132" y="180"/>
                  </a:lnTo>
                  <a:lnTo>
                    <a:pt x="132" y="184"/>
                  </a:lnTo>
                  <a:lnTo>
                    <a:pt x="128" y="180"/>
                  </a:lnTo>
                  <a:lnTo>
                    <a:pt x="124" y="184"/>
                  </a:lnTo>
                  <a:lnTo>
                    <a:pt x="124" y="188"/>
                  </a:lnTo>
                  <a:lnTo>
                    <a:pt x="120" y="188"/>
                  </a:lnTo>
                  <a:lnTo>
                    <a:pt x="120" y="197"/>
                  </a:lnTo>
                  <a:lnTo>
                    <a:pt x="116" y="197"/>
                  </a:lnTo>
                  <a:lnTo>
                    <a:pt x="116" y="197"/>
                  </a:lnTo>
                  <a:lnTo>
                    <a:pt x="112" y="197"/>
                  </a:lnTo>
                  <a:lnTo>
                    <a:pt x="108" y="201"/>
                  </a:lnTo>
                  <a:lnTo>
                    <a:pt x="108" y="201"/>
                  </a:lnTo>
                  <a:lnTo>
                    <a:pt x="104" y="205"/>
                  </a:lnTo>
                  <a:lnTo>
                    <a:pt x="104" y="205"/>
                  </a:lnTo>
                  <a:lnTo>
                    <a:pt x="100" y="205"/>
                  </a:lnTo>
                  <a:lnTo>
                    <a:pt x="100" y="205"/>
                  </a:lnTo>
                  <a:lnTo>
                    <a:pt x="96" y="209"/>
                  </a:lnTo>
                  <a:lnTo>
                    <a:pt x="92" y="209"/>
                  </a:lnTo>
                  <a:lnTo>
                    <a:pt x="92" y="209"/>
                  </a:lnTo>
                  <a:lnTo>
                    <a:pt x="88" y="209"/>
                  </a:lnTo>
                  <a:lnTo>
                    <a:pt x="88" y="209"/>
                  </a:lnTo>
                  <a:lnTo>
                    <a:pt x="84" y="209"/>
                  </a:lnTo>
                  <a:lnTo>
                    <a:pt x="84" y="209"/>
                  </a:lnTo>
                  <a:lnTo>
                    <a:pt x="80" y="213"/>
                  </a:lnTo>
                  <a:lnTo>
                    <a:pt x="76" y="213"/>
                  </a:lnTo>
                  <a:lnTo>
                    <a:pt x="76" y="217"/>
                  </a:lnTo>
                  <a:lnTo>
                    <a:pt x="72" y="217"/>
                  </a:lnTo>
                  <a:lnTo>
                    <a:pt x="72" y="222"/>
                  </a:lnTo>
                  <a:lnTo>
                    <a:pt x="68" y="222"/>
                  </a:lnTo>
                  <a:lnTo>
                    <a:pt x="68" y="222"/>
                  </a:lnTo>
                  <a:lnTo>
                    <a:pt x="64" y="226"/>
                  </a:lnTo>
                  <a:lnTo>
                    <a:pt x="60" y="230"/>
                  </a:lnTo>
                  <a:lnTo>
                    <a:pt x="60" y="234"/>
                  </a:lnTo>
                  <a:lnTo>
                    <a:pt x="56" y="234"/>
                  </a:lnTo>
                  <a:lnTo>
                    <a:pt x="56" y="234"/>
                  </a:lnTo>
                  <a:lnTo>
                    <a:pt x="52" y="242"/>
                  </a:lnTo>
                  <a:lnTo>
                    <a:pt x="52" y="238"/>
                  </a:lnTo>
                  <a:lnTo>
                    <a:pt x="48" y="247"/>
                  </a:lnTo>
                  <a:lnTo>
                    <a:pt x="44" y="255"/>
                  </a:lnTo>
                  <a:lnTo>
                    <a:pt x="44" y="255"/>
                  </a:lnTo>
                  <a:lnTo>
                    <a:pt x="40" y="255"/>
                  </a:lnTo>
                  <a:lnTo>
                    <a:pt x="40" y="259"/>
                  </a:lnTo>
                  <a:lnTo>
                    <a:pt x="36" y="263"/>
                  </a:lnTo>
                  <a:lnTo>
                    <a:pt x="36" y="272"/>
                  </a:lnTo>
                  <a:lnTo>
                    <a:pt x="32" y="280"/>
                  </a:lnTo>
                  <a:lnTo>
                    <a:pt x="28" y="280"/>
                  </a:lnTo>
                  <a:lnTo>
                    <a:pt x="28" y="288"/>
                  </a:lnTo>
                  <a:lnTo>
                    <a:pt x="24" y="284"/>
                  </a:lnTo>
                  <a:lnTo>
                    <a:pt x="24" y="293"/>
                  </a:lnTo>
                  <a:lnTo>
                    <a:pt x="20" y="293"/>
                  </a:lnTo>
                  <a:lnTo>
                    <a:pt x="20" y="293"/>
                  </a:lnTo>
                  <a:lnTo>
                    <a:pt x="16" y="297"/>
                  </a:lnTo>
                  <a:lnTo>
                    <a:pt x="12" y="301"/>
                  </a:lnTo>
                  <a:lnTo>
                    <a:pt x="12" y="297"/>
                  </a:lnTo>
                  <a:lnTo>
                    <a:pt x="8" y="297"/>
                  </a:lnTo>
                  <a:lnTo>
                    <a:pt x="8" y="301"/>
                  </a:lnTo>
                  <a:lnTo>
                    <a:pt x="4" y="313"/>
                  </a:lnTo>
                  <a:lnTo>
                    <a:pt x="4" y="338"/>
                  </a:lnTo>
                  <a:lnTo>
                    <a:pt x="0" y="338"/>
                  </a:lnTo>
                  <a:lnTo>
                    <a:pt x="0" y="343"/>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39" name="Freeform 203"/>
            <p:cNvSpPr>
              <a:spLocks/>
            </p:cNvSpPr>
            <p:nvPr/>
          </p:nvSpPr>
          <p:spPr bwMode="auto">
            <a:xfrm>
              <a:off x="649" y="3222"/>
              <a:ext cx="477" cy="293"/>
            </a:xfrm>
            <a:custGeom>
              <a:avLst/>
              <a:gdLst>
                <a:gd name="T0" fmla="*/ 4 w 477"/>
                <a:gd name="T1" fmla="*/ 268 h 293"/>
                <a:gd name="T2" fmla="*/ 12 w 477"/>
                <a:gd name="T3" fmla="*/ 259 h 293"/>
                <a:gd name="T4" fmla="*/ 24 w 477"/>
                <a:gd name="T5" fmla="*/ 251 h 293"/>
                <a:gd name="T6" fmla="*/ 28 w 477"/>
                <a:gd name="T7" fmla="*/ 238 h 293"/>
                <a:gd name="T8" fmla="*/ 36 w 477"/>
                <a:gd name="T9" fmla="*/ 226 h 293"/>
                <a:gd name="T10" fmla="*/ 44 w 477"/>
                <a:gd name="T11" fmla="*/ 213 h 293"/>
                <a:gd name="T12" fmla="*/ 56 w 477"/>
                <a:gd name="T13" fmla="*/ 197 h 293"/>
                <a:gd name="T14" fmla="*/ 68 w 477"/>
                <a:gd name="T15" fmla="*/ 188 h 293"/>
                <a:gd name="T16" fmla="*/ 80 w 477"/>
                <a:gd name="T17" fmla="*/ 176 h 293"/>
                <a:gd name="T18" fmla="*/ 92 w 477"/>
                <a:gd name="T19" fmla="*/ 172 h 293"/>
                <a:gd name="T20" fmla="*/ 104 w 477"/>
                <a:gd name="T21" fmla="*/ 163 h 293"/>
                <a:gd name="T22" fmla="*/ 116 w 477"/>
                <a:gd name="T23" fmla="*/ 155 h 293"/>
                <a:gd name="T24" fmla="*/ 124 w 477"/>
                <a:gd name="T25" fmla="*/ 142 h 293"/>
                <a:gd name="T26" fmla="*/ 132 w 477"/>
                <a:gd name="T27" fmla="*/ 138 h 293"/>
                <a:gd name="T28" fmla="*/ 144 w 477"/>
                <a:gd name="T29" fmla="*/ 130 h 293"/>
                <a:gd name="T30" fmla="*/ 156 w 477"/>
                <a:gd name="T31" fmla="*/ 121 h 293"/>
                <a:gd name="T32" fmla="*/ 168 w 477"/>
                <a:gd name="T33" fmla="*/ 113 h 293"/>
                <a:gd name="T34" fmla="*/ 180 w 477"/>
                <a:gd name="T35" fmla="*/ 101 h 293"/>
                <a:gd name="T36" fmla="*/ 192 w 477"/>
                <a:gd name="T37" fmla="*/ 96 h 293"/>
                <a:gd name="T38" fmla="*/ 204 w 477"/>
                <a:gd name="T39" fmla="*/ 84 h 293"/>
                <a:gd name="T40" fmla="*/ 216 w 477"/>
                <a:gd name="T41" fmla="*/ 80 h 293"/>
                <a:gd name="T42" fmla="*/ 228 w 477"/>
                <a:gd name="T43" fmla="*/ 71 h 293"/>
                <a:gd name="T44" fmla="*/ 240 w 477"/>
                <a:gd name="T45" fmla="*/ 63 h 293"/>
                <a:gd name="T46" fmla="*/ 252 w 477"/>
                <a:gd name="T47" fmla="*/ 59 h 293"/>
                <a:gd name="T48" fmla="*/ 264 w 477"/>
                <a:gd name="T49" fmla="*/ 55 h 293"/>
                <a:gd name="T50" fmla="*/ 276 w 477"/>
                <a:gd name="T51" fmla="*/ 42 h 293"/>
                <a:gd name="T52" fmla="*/ 288 w 477"/>
                <a:gd name="T53" fmla="*/ 42 h 293"/>
                <a:gd name="T54" fmla="*/ 300 w 477"/>
                <a:gd name="T55" fmla="*/ 34 h 293"/>
                <a:gd name="T56" fmla="*/ 312 w 477"/>
                <a:gd name="T57" fmla="*/ 30 h 293"/>
                <a:gd name="T58" fmla="*/ 324 w 477"/>
                <a:gd name="T59" fmla="*/ 25 h 293"/>
                <a:gd name="T60" fmla="*/ 336 w 477"/>
                <a:gd name="T61" fmla="*/ 25 h 293"/>
                <a:gd name="T62" fmla="*/ 348 w 477"/>
                <a:gd name="T63" fmla="*/ 17 h 293"/>
                <a:gd name="T64" fmla="*/ 360 w 477"/>
                <a:gd name="T65" fmla="*/ 21 h 293"/>
                <a:gd name="T66" fmla="*/ 372 w 477"/>
                <a:gd name="T67" fmla="*/ 17 h 293"/>
                <a:gd name="T68" fmla="*/ 384 w 477"/>
                <a:gd name="T69" fmla="*/ 13 h 293"/>
                <a:gd name="T70" fmla="*/ 396 w 477"/>
                <a:gd name="T71" fmla="*/ 13 h 293"/>
                <a:gd name="T72" fmla="*/ 408 w 477"/>
                <a:gd name="T73" fmla="*/ 13 h 293"/>
                <a:gd name="T74" fmla="*/ 420 w 477"/>
                <a:gd name="T75" fmla="*/ 9 h 293"/>
                <a:gd name="T76" fmla="*/ 432 w 477"/>
                <a:gd name="T77" fmla="*/ 5 h 293"/>
                <a:gd name="T78" fmla="*/ 444 w 477"/>
                <a:gd name="T79" fmla="*/ 5 h 293"/>
                <a:gd name="T80" fmla="*/ 456 w 477"/>
                <a:gd name="T81" fmla="*/ 5 h 293"/>
                <a:gd name="T82" fmla="*/ 469 w 477"/>
                <a:gd name="T83" fmla="*/ 0 h 2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477" h="293">
                  <a:moveTo>
                    <a:pt x="0" y="293"/>
                  </a:moveTo>
                  <a:lnTo>
                    <a:pt x="4" y="288"/>
                  </a:lnTo>
                  <a:lnTo>
                    <a:pt x="4" y="268"/>
                  </a:lnTo>
                  <a:lnTo>
                    <a:pt x="12" y="255"/>
                  </a:lnTo>
                  <a:lnTo>
                    <a:pt x="8" y="255"/>
                  </a:lnTo>
                  <a:lnTo>
                    <a:pt x="12" y="259"/>
                  </a:lnTo>
                  <a:lnTo>
                    <a:pt x="16" y="255"/>
                  </a:lnTo>
                  <a:lnTo>
                    <a:pt x="20" y="251"/>
                  </a:lnTo>
                  <a:lnTo>
                    <a:pt x="24" y="251"/>
                  </a:lnTo>
                  <a:lnTo>
                    <a:pt x="24" y="243"/>
                  </a:lnTo>
                  <a:lnTo>
                    <a:pt x="28" y="247"/>
                  </a:lnTo>
                  <a:lnTo>
                    <a:pt x="28" y="238"/>
                  </a:lnTo>
                  <a:lnTo>
                    <a:pt x="32" y="238"/>
                  </a:lnTo>
                  <a:lnTo>
                    <a:pt x="36" y="230"/>
                  </a:lnTo>
                  <a:lnTo>
                    <a:pt x="36" y="226"/>
                  </a:lnTo>
                  <a:lnTo>
                    <a:pt x="40" y="222"/>
                  </a:lnTo>
                  <a:lnTo>
                    <a:pt x="40" y="213"/>
                  </a:lnTo>
                  <a:lnTo>
                    <a:pt x="44" y="213"/>
                  </a:lnTo>
                  <a:lnTo>
                    <a:pt x="48" y="209"/>
                  </a:lnTo>
                  <a:lnTo>
                    <a:pt x="52" y="205"/>
                  </a:lnTo>
                  <a:lnTo>
                    <a:pt x="56" y="197"/>
                  </a:lnTo>
                  <a:lnTo>
                    <a:pt x="60" y="192"/>
                  </a:lnTo>
                  <a:lnTo>
                    <a:pt x="64" y="192"/>
                  </a:lnTo>
                  <a:lnTo>
                    <a:pt x="68" y="188"/>
                  </a:lnTo>
                  <a:lnTo>
                    <a:pt x="72" y="184"/>
                  </a:lnTo>
                  <a:lnTo>
                    <a:pt x="76" y="180"/>
                  </a:lnTo>
                  <a:lnTo>
                    <a:pt x="80" y="176"/>
                  </a:lnTo>
                  <a:lnTo>
                    <a:pt x="84" y="176"/>
                  </a:lnTo>
                  <a:lnTo>
                    <a:pt x="88" y="172"/>
                  </a:lnTo>
                  <a:lnTo>
                    <a:pt x="92" y="172"/>
                  </a:lnTo>
                  <a:lnTo>
                    <a:pt x="96" y="167"/>
                  </a:lnTo>
                  <a:lnTo>
                    <a:pt x="100" y="167"/>
                  </a:lnTo>
                  <a:lnTo>
                    <a:pt x="104" y="163"/>
                  </a:lnTo>
                  <a:lnTo>
                    <a:pt x="108" y="159"/>
                  </a:lnTo>
                  <a:lnTo>
                    <a:pt x="112" y="159"/>
                  </a:lnTo>
                  <a:lnTo>
                    <a:pt x="116" y="155"/>
                  </a:lnTo>
                  <a:lnTo>
                    <a:pt x="120" y="151"/>
                  </a:lnTo>
                  <a:lnTo>
                    <a:pt x="124" y="151"/>
                  </a:lnTo>
                  <a:lnTo>
                    <a:pt x="124" y="142"/>
                  </a:lnTo>
                  <a:lnTo>
                    <a:pt x="128" y="142"/>
                  </a:lnTo>
                  <a:lnTo>
                    <a:pt x="132" y="147"/>
                  </a:lnTo>
                  <a:lnTo>
                    <a:pt x="132" y="138"/>
                  </a:lnTo>
                  <a:lnTo>
                    <a:pt x="136" y="138"/>
                  </a:lnTo>
                  <a:lnTo>
                    <a:pt x="140" y="134"/>
                  </a:lnTo>
                  <a:lnTo>
                    <a:pt x="144" y="130"/>
                  </a:lnTo>
                  <a:lnTo>
                    <a:pt x="148" y="130"/>
                  </a:lnTo>
                  <a:lnTo>
                    <a:pt x="152" y="126"/>
                  </a:lnTo>
                  <a:lnTo>
                    <a:pt x="156" y="121"/>
                  </a:lnTo>
                  <a:lnTo>
                    <a:pt x="160" y="121"/>
                  </a:lnTo>
                  <a:lnTo>
                    <a:pt x="164" y="117"/>
                  </a:lnTo>
                  <a:lnTo>
                    <a:pt x="168" y="113"/>
                  </a:lnTo>
                  <a:lnTo>
                    <a:pt x="172" y="109"/>
                  </a:lnTo>
                  <a:lnTo>
                    <a:pt x="176" y="105"/>
                  </a:lnTo>
                  <a:lnTo>
                    <a:pt x="180" y="101"/>
                  </a:lnTo>
                  <a:lnTo>
                    <a:pt x="184" y="96"/>
                  </a:lnTo>
                  <a:lnTo>
                    <a:pt x="188" y="96"/>
                  </a:lnTo>
                  <a:lnTo>
                    <a:pt x="192" y="96"/>
                  </a:lnTo>
                  <a:lnTo>
                    <a:pt x="196" y="92"/>
                  </a:lnTo>
                  <a:lnTo>
                    <a:pt x="200" y="88"/>
                  </a:lnTo>
                  <a:lnTo>
                    <a:pt x="204" y="84"/>
                  </a:lnTo>
                  <a:lnTo>
                    <a:pt x="208" y="84"/>
                  </a:lnTo>
                  <a:lnTo>
                    <a:pt x="212" y="80"/>
                  </a:lnTo>
                  <a:lnTo>
                    <a:pt x="216" y="80"/>
                  </a:lnTo>
                  <a:lnTo>
                    <a:pt x="220" y="76"/>
                  </a:lnTo>
                  <a:lnTo>
                    <a:pt x="224" y="76"/>
                  </a:lnTo>
                  <a:lnTo>
                    <a:pt x="228" y="71"/>
                  </a:lnTo>
                  <a:lnTo>
                    <a:pt x="232" y="67"/>
                  </a:lnTo>
                  <a:lnTo>
                    <a:pt x="236" y="67"/>
                  </a:lnTo>
                  <a:lnTo>
                    <a:pt x="240" y="63"/>
                  </a:lnTo>
                  <a:lnTo>
                    <a:pt x="244" y="63"/>
                  </a:lnTo>
                  <a:lnTo>
                    <a:pt x="248" y="59"/>
                  </a:lnTo>
                  <a:lnTo>
                    <a:pt x="252" y="59"/>
                  </a:lnTo>
                  <a:lnTo>
                    <a:pt x="256" y="55"/>
                  </a:lnTo>
                  <a:lnTo>
                    <a:pt x="260" y="55"/>
                  </a:lnTo>
                  <a:lnTo>
                    <a:pt x="264" y="55"/>
                  </a:lnTo>
                  <a:lnTo>
                    <a:pt x="268" y="51"/>
                  </a:lnTo>
                  <a:lnTo>
                    <a:pt x="272" y="46"/>
                  </a:lnTo>
                  <a:lnTo>
                    <a:pt x="276" y="42"/>
                  </a:lnTo>
                  <a:lnTo>
                    <a:pt x="280" y="42"/>
                  </a:lnTo>
                  <a:lnTo>
                    <a:pt x="284" y="42"/>
                  </a:lnTo>
                  <a:lnTo>
                    <a:pt x="288" y="42"/>
                  </a:lnTo>
                  <a:lnTo>
                    <a:pt x="292" y="38"/>
                  </a:lnTo>
                  <a:lnTo>
                    <a:pt x="296" y="38"/>
                  </a:lnTo>
                  <a:lnTo>
                    <a:pt x="300" y="34"/>
                  </a:lnTo>
                  <a:lnTo>
                    <a:pt x="304" y="34"/>
                  </a:lnTo>
                  <a:lnTo>
                    <a:pt x="308" y="30"/>
                  </a:lnTo>
                  <a:lnTo>
                    <a:pt x="312" y="30"/>
                  </a:lnTo>
                  <a:lnTo>
                    <a:pt x="316" y="30"/>
                  </a:lnTo>
                  <a:lnTo>
                    <a:pt x="320" y="30"/>
                  </a:lnTo>
                  <a:lnTo>
                    <a:pt x="324" y="25"/>
                  </a:lnTo>
                  <a:lnTo>
                    <a:pt x="328" y="25"/>
                  </a:lnTo>
                  <a:lnTo>
                    <a:pt x="332" y="21"/>
                  </a:lnTo>
                  <a:lnTo>
                    <a:pt x="336" y="25"/>
                  </a:lnTo>
                  <a:lnTo>
                    <a:pt x="340" y="21"/>
                  </a:lnTo>
                  <a:lnTo>
                    <a:pt x="344" y="21"/>
                  </a:lnTo>
                  <a:lnTo>
                    <a:pt x="348" y="17"/>
                  </a:lnTo>
                  <a:lnTo>
                    <a:pt x="352" y="21"/>
                  </a:lnTo>
                  <a:lnTo>
                    <a:pt x="356" y="21"/>
                  </a:lnTo>
                  <a:lnTo>
                    <a:pt x="360" y="21"/>
                  </a:lnTo>
                  <a:lnTo>
                    <a:pt x="364" y="17"/>
                  </a:lnTo>
                  <a:lnTo>
                    <a:pt x="368" y="17"/>
                  </a:lnTo>
                  <a:lnTo>
                    <a:pt x="372" y="17"/>
                  </a:lnTo>
                  <a:lnTo>
                    <a:pt x="376" y="13"/>
                  </a:lnTo>
                  <a:lnTo>
                    <a:pt x="380" y="17"/>
                  </a:lnTo>
                  <a:lnTo>
                    <a:pt x="384" y="13"/>
                  </a:lnTo>
                  <a:lnTo>
                    <a:pt x="388" y="13"/>
                  </a:lnTo>
                  <a:lnTo>
                    <a:pt x="392" y="13"/>
                  </a:lnTo>
                  <a:lnTo>
                    <a:pt x="396" y="13"/>
                  </a:lnTo>
                  <a:lnTo>
                    <a:pt x="400" y="13"/>
                  </a:lnTo>
                  <a:lnTo>
                    <a:pt x="404" y="13"/>
                  </a:lnTo>
                  <a:lnTo>
                    <a:pt x="408" y="13"/>
                  </a:lnTo>
                  <a:lnTo>
                    <a:pt x="412" y="9"/>
                  </a:lnTo>
                  <a:lnTo>
                    <a:pt x="416" y="9"/>
                  </a:lnTo>
                  <a:lnTo>
                    <a:pt x="420" y="9"/>
                  </a:lnTo>
                  <a:lnTo>
                    <a:pt x="424" y="9"/>
                  </a:lnTo>
                  <a:lnTo>
                    <a:pt x="428" y="5"/>
                  </a:lnTo>
                  <a:lnTo>
                    <a:pt x="432" y="5"/>
                  </a:lnTo>
                  <a:lnTo>
                    <a:pt x="436" y="5"/>
                  </a:lnTo>
                  <a:lnTo>
                    <a:pt x="440" y="5"/>
                  </a:lnTo>
                  <a:lnTo>
                    <a:pt x="444" y="5"/>
                  </a:lnTo>
                  <a:lnTo>
                    <a:pt x="448" y="5"/>
                  </a:lnTo>
                  <a:lnTo>
                    <a:pt x="452" y="5"/>
                  </a:lnTo>
                  <a:lnTo>
                    <a:pt x="456" y="5"/>
                  </a:lnTo>
                  <a:lnTo>
                    <a:pt x="461" y="0"/>
                  </a:lnTo>
                  <a:lnTo>
                    <a:pt x="465" y="0"/>
                  </a:lnTo>
                  <a:lnTo>
                    <a:pt x="469" y="0"/>
                  </a:lnTo>
                  <a:lnTo>
                    <a:pt x="473" y="0"/>
                  </a:lnTo>
                  <a:lnTo>
                    <a:pt x="477" y="0"/>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40" name="Freeform 204"/>
            <p:cNvSpPr>
              <a:spLocks/>
            </p:cNvSpPr>
            <p:nvPr/>
          </p:nvSpPr>
          <p:spPr bwMode="auto">
            <a:xfrm>
              <a:off x="1126" y="3193"/>
              <a:ext cx="505" cy="29"/>
            </a:xfrm>
            <a:custGeom>
              <a:avLst/>
              <a:gdLst>
                <a:gd name="T0" fmla="*/ 8 w 505"/>
                <a:gd name="T1" fmla="*/ 29 h 29"/>
                <a:gd name="T2" fmla="*/ 24 w 505"/>
                <a:gd name="T3" fmla="*/ 25 h 29"/>
                <a:gd name="T4" fmla="*/ 28 w 505"/>
                <a:gd name="T5" fmla="*/ 25 h 29"/>
                <a:gd name="T6" fmla="*/ 40 w 505"/>
                <a:gd name="T7" fmla="*/ 25 h 29"/>
                <a:gd name="T8" fmla="*/ 52 w 505"/>
                <a:gd name="T9" fmla="*/ 21 h 29"/>
                <a:gd name="T10" fmla="*/ 64 w 505"/>
                <a:gd name="T11" fmla="*/ 21 h 29"/>
                <a:gd name="T12" fmla="*/ 76 w 505"/>
                <a:gd name="T13" fmla="*/ 21 h 29"/>
                <a:gd name="T14" fmla="*/ 88 w 505"/>
                <a:gd name="T15" fmla="*/ 21 h 29"/>
                <a:gd name="T16" fmla="*/ 100 w 505"/>
                <a:gd name="T17" fmla="*/ 17 h 29"/>
                <a:gd name="T18" fmla="*/ 112 w 505"/>
                <a:gd name="T19" fmla="*/ 17 h 29"/>
                <a:gd name="T20" fmla="*/ 124 w 505"/>
                <a:gd name="T21" fmla="*/ 17 h 29"/>
                <a:gd name="T22" fmla="*/ 136 w 505"/>
                <a:gd name="T23" fmla="*/ 17 h 29"/>
                <a:gd name="T24" fmla="*/ 148 w 505"/>
                <a:gd name="T25" fmla="*/ 17 h 29"/>
                <a:gd name="T26" fmla="*/ 160 w 505"/>
                <a:gd name="T27" fmla="*/ 17 h 29"/>
                <a:gd name="T28" fmla="*/ 172 w 505"/>
                <a:gd name="T29" fmla="*/ 17 h 29"/>
                <a:gd name="T30" fmla="*/ 184 w 505"/>
                <a:gd name="T31" fmla="*/ 17 h 29"/>
                <a:gd name="T32" fmla="*/ 196 w 505"/>
                <a:gd name="T33" fmla="*/ 17 h 29"/>
                <a:gd name="T34" fmla="*/ 208 w 505"/>
                <a:gd name="T35" fmla="*/ 17 h 29"/>
                <a:gd name="T36" fmla="*/ 220 w 505"/>
                <a:gd name="T37" fmla="*/ 17 h 29"/>
                <a:gd name="T38" fmla="*/ 232 w 505"/>
                <a:gd name="T39" fmla="*/ 17 h 29"/>
                <a:gd name="T40" fmla="*/ 244 w 505"/>
                <a:gd name="T41" fmla="*/ 17 h 29"/>
                <a:gd name="T42" fmla="*/ 256 w 505"/>
                <a:gd name="T43" fmla="*/ 17 h 29"/>
                <a:gd name="T44" fmla="*/ 268 w 505"/>
                <a:gd name="T45" fmla="*/ 17 h 29"/>
                <a:gd name="T46" fmla="*/ 280 w 505"/>
                <a:gd name="T47" fmla="*/ 17 h 29"/>
                <a:gd name="T48" fmla="*/ 292 w 505"/>
                <a:gd name="T49" fmla="*/ 17 h 29"/>
                <a:gd name="T50" fmla="*/ 304 w 505"/>
                <a:gd name="T51" fmla="*/ 17 h 29"/>
                <a:gd name="T52" fmla="*/ 316 w 505"/>
                <a:gd name="T53" fmla="*/ 17 h 29"/>
                <a:gd name="T54" fmla="*/ 328 w 505"/>
                <a:gd name="T55" fmla="*/ 13 h 29"/>
                <a:gd name="T56" fmla="*/ 340 w 505"/>
                <a:gd name="T57" fmla="*/ 13 h 29"/>
                <a:gd name="T58" fmla="*/ 352 w 505"/>
                <a:gd name="T59" fmla="*/ 13 h 29"/>
                <a:gd name="T60" fmla="*/ 364 w 505"/>
                <a:gd name="T61" fmla="*/ 9 h 29"/>
                <a:gd name="T62" fmla="*/ 376 w 505"/>
                <a:gd name="T63" fmla="*/ 9 h 29"/>
                <a:gd name="T64" fmla="*/ 388 w 505"/>
                <a:gd name="T65" fmla="*/ 9 h 29"/>
                <a:gd name="T66" fmla="*/ 400 w 505"/>
                <a:gd name="T67" fmla="*/ 9 h 29"/>
                <a:gd name="T68" fmla="*/ 412 w 505"/>
                <a:gd name="T69" fmla="*/ 9 h 29"/>
                <a:gd name="T70" fmla="*/ 424 w 505"/>
                <a:gd name="T71" fmla="*/ 4 h 29"/>
                <a:gd name="T72" fmla="*/ 436 w 505"/>
                <a:gd name="T73" fmla="*/ 4 h 29"/>
                <a:gd name="T74" fmla="*/ 448 w 505"/>
                <a:gd name="T75" fmla="*/ 4 h 29"/>
                <a:gd name="T76" fmla="*/ 460 w 505"/>
                <a:gd name="T77" fmla="*/ 4 h 29"/>
                <a:gd name="T78" fmla="*/ 473 w 505"/>
                <a:gd name="T79" fmla="*/ 0 h 29"/>
                <a:gd name="T80" fmla="*/ 485 w 505"/>
                <a:gd name="T81" fmla="*/ 0 h 29"/>
                <a:gd name="T82" fmla="*/ 497 w 505"/>
                <a:gd name="T83"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505" h="29">
                  <a:moveTo>
                    <a:pt x="0" y="29"/>
                  </a:moveTo>
                  <a:lnTo>
                    <a:pt x="4" y="29"/>
                  </a:lnTo>
                  <a:lnTo>
                    <a:pt x="8" y="29"/>
                  </a:lnTo>
                  <a:lnTo>
                    <a:pt x="12" y="25"/>
                  </a:lnTo>
                  <a:lnTo>
                    <a:pt x="16" y="25"/>
                  </a:lnTo>
                  <a:lnTo>
                    <a:pt x="24" y="25"/>
                  </a:lnTo>
                  <a:lnTo>
                    <a:pt x="20" y="25"/>
                  </a:lnTo>
                  <a:lnTo>
                    <a:pt x="24" y="25"/>
                  </a:lnTo>
                  <a:lnTo>
                    <a:pt x="28" y="25"/>
                  </a:lnTo>
                  <a:lnTo>
                    <a:pt x="32" y="25"/>
                  </a:lnTo>
                  <a:lnTo>
                    <a:pt x="36" y="25"/>
                  </a:lnTo>
                  <a:lnTo>
                    <a:pt x="40" y="25"/>
                  </a:lnTo>
                  <a:lnTo>
                    <a:pt x="44" y="21"/>
                  </a:lnTo>
                  <a:lnTo>
                    <a:pt x="48" y="21"/>
                  </a:lnTo>
                  <a:lnTo>
                    <a:pt x="52" y="21"/>
                  </a:lnTo>
                  <a:lnTo>
                    <a:pt x="56" y="21"/>
                  </a:lnTo>
                  <a:lnTo>
                    <a:pt x="60" y="21"/>
                  </a:lnTo>
                  <a:lnTo>
                    <a:pt x="64" y="21"/>
                  </a:lnTo>
                  <a:lnTo>
                    <a:pt x="68" y="21"/>
                  </a:lnTo>
                  <a:lnTo>
                    <a:pt x="72" y="21"/>
                  </a:lnTo>
                  <a:lnTo>
                    <a:pt x="76" y="21"/>
                  </a:lnTo>
                  <a:lnTo>
                    <a:pt x="80" y="21"/>
                  </a:lnTo>
                  <a:lnTo>
                    <a:pt x="84" y="21"/>
                  </a:lnTo>
                  <a:lnTo>
                    <a:pt x="88" y="21"/>
                  </a:lnTo>
                  <a:lnTo>
                    <a:pt x="92" y="21"/>
                  </a:lnTo>
                  <a:lnTo>
                    <a:pt x="96" y="21"/>
                  </a:lnTo>
                  <a:lnTo>
                    <a:pt x="100" y="17"/>
                  </a:lnTo>
                  <a:lnTo>
                    <a:pt x="104" y="17"/>
                  </a:lnTo>
                  <a:lnTo>
                    <a:pt x="108" y="17"/>
                  </a:lnTo>
                  <a:lnTo>
                    <a:pt x="112" y="17"/>
                  </a:lnTo>
                  <a:lnTo>
                    <a:pt x="116" y="17"/>
                  </a:lnTo>
                  <a:lnTo>
                    <a:pt x="120" y="17"/>
                  </a:lnTo>
                  <a:lnTo>
                    <a:pt x="124" y="17"/>
                  </a:lnTo>
                  <a:lnTo>
                    <a:pt x="128" y="17"/>
                  </a:lnTo>
                  <a:lnTo>
                    <a:pt x="132" y="17"/>
                  </a:lnTo>
                  <a:lnTo>
                    <a:pt x="136" y="17"/>
                  </a:lnTo>
                  <a:lnTo>
                    <a:pt x="140" y="17"/>
                  </a:lnTo>
                  <a:lnTo>
                    <a:pt x="144" y="17"/>
                  </a:lnTo>
                  <a:lnTo>
                    <a:pt x="148" y="17"/>
                  </a:lnTo>
                  <a:lnTo>
                    <a:pt x="152" y="17"/>
                  </a:lnTo>
                  <a:lnTo>
                    <a:pt x="156" y="17"/>
                  </a:lnTo>
                  <a:lnTo>
                    <a:pt x="160" y="17"/>
                  </a:lnTo>
                  <a:lnTo>
                    <a:pt x="164" y="17"/>
                  </a:lnTo>
                  <a:lnTo>
                    <a:pt x="168" y="17"/>
                  </a:lnTo>
                  <a:lnTo>
                    <a:pt x="172" y="17"/>
                  </a:lnTo>
                  <a:lnTo>
                    <a:pt x="176" y="17"/>
                  </a:lnTo>
                  <a:lnTo>
                    <a:pt x="180" y="17"/>
                  </a:lnTo>
                  <a:lnTo>
                    <a:pt x="184" y="17"/>
                  </a:lnTo>
                  <a:lnTo>
                    <a:pt x="188" y="17"/>
                  </a:lnTo>
                  <a:lnTo>
                    <a:pt x="192" y="17"/>
                  </a:lnTo>
                  <a:lnTo>
                    <a:pt x="196" y="17"/>
                  </a:lnTo>
                  <a:lnTo>
                    <a:pt x="200" y="17"/>
                  </a:lnTo>
                  <a:lnTo>
                    <a:pt x="204" y="17"/>
                  </a:lnTo>
                  <a:lnTo>
                    <a:pt x="208" y="17"/>
                  </a:lnTo>
                  <a:lnTo>
                    <a:pt x="212" y="17"/>
                  </a:lnTo>
                  <a:lnTo>
                    <a:pt x="216" y="17"/>
                  </a:lnTo>
                  <a:lnTo>
                    <a:pt x="220" y="17"/>
                  </a:lnTo>
                  <a:lnTo>
                    <a:pt x="224" y="17"/>
                  </a:lnTo>
                  <a:lnTo>
                    <a:pt x="228" y="17"/>
                  </a:lnTo>
                  <a:lnTo>
                    <a:pt x="232" y="17"/>
                  </a:lnTo>
                  <a:lnTo>
                    <a:pt x="236" y="17"/>
                  </a:lnTo>
                  <a:lnTo>
                    <a:pt x="240" y="17"/>
                  </a:lnTo>
                  <a:lnTo>
                    <a:pt x="244" y="17"/>
                  </a:lnTo>
                  <a:lnTo>
                    <a:pt x="248" y="17"/>
                  </a:lnTo>
                  <a:lnTo>
                    <a:pt x="252" y="17"/>
                  </a:lnTo>
                  <a:lnTo>
                    <a:pt x="256" y="17"/>
                  </a:lnTo>
                  <a:lnTo>
                    <a:pt x="260" y="17"/>
                  </a:lnTo>
                  <a:lnTo>
                    <a:pt x="264" y="17"/>
                  </a:lnTo>
                  <a:lnTo>
                    <a:pt x="268" y="17"/>
                  </a:lnTo>
                  <a:lnTo>
                    <a:pt x="272" y="17"/>
                  </a:lnTo>
                  <a:lnTo>
                    <a:pt x="276" y="17"/>
                  </a:lnTo>
                  <a:lnTo>
                    <a:pt x="280" y="17"/>
                  </a:lnTo>
                  <a:lnTo>
                    <a:pt x="284" y="17"/>
                  </a:lnTo>
                  <a:lnTo>
                    <a:pt x="288" y="17"/>
                  </a:lnTo>
                  <a:lnTo>
                    <a:pt x="292" y="17"/>
                  </a:lnTo>
                  <a:lnTo>
                    <a:pt x="296" y="17"/>
                  </a:lnTo>
                  <a:lnTo>
                    <a:pt x="300" y="17"/>
                  </a:lnTo>
                  <a:lnTo>
                    <a:pt x="304" y="17"/>
                  </a:lnTo>
                  <a:lnTo>
                    <a:pt x="308" y="17"/>
                  </a:lnTo>
                  <a:lnTo>
                    <a:pt x="312" y="13"/>
                  </a:lnTo>
                  <a:lnTo>
                    <a:pt x="316" y="17"/>
                  </a:lnTo>
                  <a:lnTo>
                    <a:pt x="320" y="13"/>
                  </a:lnTo>
                  <a:lnTo>
                    <a:pt x="324" y="13"/>
                  </a:lnTo>
                  <a:lnTo>
                    <a:pt x="328" y="13"/>
                  </a:lnTo>
                  <a:lnTo>
                    <a:pt x="332" y="13"/>
                  </a:lnTo>
                  <a:lnTo>
                    <a:pt x="336" y="13"/>
                  </a:lnTo>
                  <a:lnTo>
                    <a:pt x="340" y="13"/>
                  </a:lnTo>
                  <a:lnTo>
                    <a:pt x="344" y="13"/>
                  </a:lnTo>
                  <a:lnTo>
                    <a:pt x="348" y="13"/>
                  </a:lnTo>
                  <a:lnTo>
                    <a:pt x="352" y="13"/>
                  </a:lnTo>
                  <a:lnTo>
                    <a:pt x="356" y="9"/>
                  </a:lnTo>
                  <a:lnTo>
                    <a:pt x="360" y="9"/>
                  </a:lnTo>
                  <a:lnTo>
                    <a:pt x="364" y="9"/>
                  </a:lnTo>
                  <a:lnTo>
                    <a:pt x="368" y="9"/>
                  </a:lnTo>
                  <a:lnTo>
                    <a:pt x="372" y="9"/>
                  </a:lnTo>
                  <a:lnTo>
                    <a:pt x="376" y="9"/>
                  </a:lnTo>
                  <a:lnTo>
                    <a:pt x="380" y="9"/>
                  </a:lnTo>
                  <a:lnTo>
                    <a:pt x="384" y="9"/>
                  </a:lnTo>
                  <a:lnTo>
                    <a:pt x="388" y="9"/>
                  </a:lnTo>
                  <a:lnTo>
                    <a:pt x="392" y="9"/>
                  </a:lnTo>
                  <a:lnTo>
                    <a:pt x="396" y="9"/>
                  </a:lnTo>
                  <a:lnTo>
                    <a:pt x="400" y="9"/>
                  </a:lnTo>
                  <a:lnTo>
                    <a:pt x="404" y="9"/>
                  </a:lnTo>
                  <a:lnTo>
                    <a:pt x="408" y="9"/>
                  </a:lnTo>
                  <a:lnTo>
                    <a:pt x="412" y="9"/>
                  </a:lnTo>
                  <a:lnTo>
                    <a:pt x="416" y="4"/>
                  </a:lnTo>
                  <a:lnTo>
                    <a:pt x="420" y="4"/>
                  </a:lnTo>
                  <a:lnTo>
                    <a:pt x="424" y="4"/>
                  </a:lnTo>
                  <a:lnTo>
                    <a:pt x="428" y="4"/>
                  </a:lnTo>
                  <a:lnTo>
                    <a:pt x="432" y="4"/>
                  </a:lnTo>
                  <a:lnTo>
                    <a:pt x="436" y="4"/>
                  </a:lnTo>
                  <a:lnTo>
                    <a:pt x="440" y="4"/>
                  </a:lnTo>
                  <a:lnTo>
                    <a:pt x="444" y="4"/>
                  </a:lnTo>
                  <a:lnTo>
                    <a:pt x="448" y="4"/>
                  </a:lnTo>
                  <a:lnTo>
                    <a:pt x="452" y="4"/>
                  </a:lnTo>
                  <a:lnTo>
                    <a:pt x="456" y="4"/>
                  </a:lnTo>
                  <a:lnTo>
                    <a:pt x="460" y="4"/>
                  </a:lnTo>
                  <a:lnTo>
                    <a:pt x="465" y="0"/>
                  </a:lnTo>
                  <a:lnTo>
                    <a:pt x="469" y="0"/>
                  </a:lnTo>
                  <a:lnTo>
                    <a:pt x="473" y="0"/>
                  </a:lnTo>
                  <a:lnTo>
                    <a:pt x="477" y="0"/>
                  </a:lnTo>
                  <a:lnTo>
                    <a:pt x="481" y="0"/>
                  </a:lnTo>
                  <a:lnTo>
                    <a:pt x="485" y="0"/>
                  </a:lnTo>
                  <a:lnTo>
                    <a:pt x="489" y="0"/>
                  </a:lnTo>
                  <a:lnTo>
                    <a:pt x="493" y="0"/>
                  </a:lnTo>
                  <a:lnTo>
                    <a:pt x="497" y="0"/>
                  </a:lnTo>
                  <a:lnTo>
                    <a:pt x="501" y="0"/>
                  </a:lnTo>
                  <a:lnTo>
                    <a:pt x="505" y="0"/>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41" name="Freeform 205"/>
            <p:cNvSpPr>
              <a:spLocks/>
            </p:cNvSpPr>
            <p:nvPr/>
          </p:nvSpPr>
          <p:spPr bwMode="auto">
            <a:xfrm>
              <a:off x="1631" y="3189"/>
              <a:ext cx="160" cy="4"/>
            </a:xfrm>
            <a:custGeom>
              <a:avLst/>
              <a:gdLst>
                <a:gd name="T0" fmla="*/ 0 w 160"/>
                <a:gd name="T1" fmla="*/ 4 h 4"/>
                <a:gd name="T2" fmla="*/ 4 w 160"/>
                <a:gd name="T3" fmla="*/ 4 h 4"/>
                <a:gd name="T4" fmla="*/ 8 w 160"/>
                <a:gd name="T5" fmla="*/ 4 h 4"/>
                <a:gd name="T6" fmla="*/ 12 w 160"/>
                <a:gd name="T7" fmla="*/ 4 h 4"/>
                <a:gd name="T8" fmla="*/ 16 w 160"/>
                <a:gd name="T9" fmla="*/ 4 h 4"/>
                <a:gd name="T10" fmla="*/ 20 w 160"/>
                <a:gd name="T11" fmla="*/ 4 h 4"/>
                <a:gd name="T12" fmla="*/ 24 w 160"/>
                <a:gd name="T13" fmla="*/ 4 h 4"/>
                <a:gd name="T14" fmla="*/ 28 w 160"/>
                <a:gd name="T15" fmla="*/ 4 h 4"/>
                <a:gd name="T16" fmla="*/ 32 w 160"/>
                <a:gd name="T17" fmla="*/ 4 h 4"/>
                <a:gd name="T18" fmla="*/ 36 w 160"/>
                <a:gd name="T19" fmla="*/ 4 h 4"/>
                <a:gd name="T20" fmla="*/ 40 w 160"/>
                <a:gd name="T21" fmla="*/ 4 h 4"/>
                <a:gd name="T22" fmla="*/ 44 w 160"/>
                <a:gd name="T23" fmla="*/ 4 h 4"/>
                <a:gd name="T24" fmla="*/ 48 w 160"/>
                <a:gd name="T25" fmla="*/ 4 h 4"/>
                <a:gd name="T26" fmla="*/ 52 w 160"/>
                <a:gd name="T27" fmla="*/ 4 h 4"/>
                <a:gd name="T28" fmla="*/ 56 w 160"/>
                <a:gd name="T29" fmla="*/ 0 h 4"/>
                <a:gd name="T30" fmla="*/ 60 w 160"/>
                <a:gd name="T31" fmla="*/ 0 h 4"/>
                <a:gd name="T32" fmla="*/ 64 w 160"/>
                <a:gd name="T33" fmla="*/ 0 h 4"/>
                <a:gd name="T34" fmla="*/ 68 w 160"/>
                <a:gd name="T35" fmla="*/ 0 h 4"/>
                <a:gd name="T36" fmla="*/ 72 w 160"/>
                <a:gd name="T37" fmla="*/ 0 h 4"/>
                <a:gd name="T38" fmla="*/ 76 w 160"/>
                <a:gd name="T39" fmla="*/ 0 h 4"/>
                <a:gd name="T40" fmla="*/ 80 w 160"/>
                <a:gd name="T41" fmla="*/ 0 h 4"/>
                <a:gd name="T42" fmla="*/ 84 w 160"/>
                <a:gd name="T43" fmla="*/ 0 h 4"/>
                <a:gd name="T44" fmla="*/ 88 w 160"/>
                <a:gd name="T45" fmla="*/ 0 h 4"/>
                <a:gd name="T46" fmla="*/ 92 w 160"/>
                <a:gd name="T47" fmla="*/ 0 h 4"/>
                <a:gd name="T48" fmla="*/ 96 w 160"/>
                <a:gd name="T49" fmla="*/ 0 h 4"/>
                <a:gd name="T50" fmla="*/ 100 w 160"/>
                <a:gd name="T51" fmla="*/ 0 h 4"/>
                <a:gd name="T52" fmla="*/ 104 w 160"/>
                <a:gd name="T53" fmla="*/ 0 h 4"/>
                <a:gd name="T54" fmla="*/ 108 w 160"/>
                <a:gd name="T55" fmla="*/ 0 h 4"/>
                <a:gd name="T56" fmla="*/ 112 w 160"/>
                <a:gd name="T57" fmla="*/ 0 h 4"/>
                <a:gd name="T58" fmla="*/ 116 w 160"/>
                <a:gd name="T59" fmla="*/ 0 h 4"/>
                <a:gd name="T60" fmla="*/ 120 w 160"/>
                <a:gd name="T61" fmla="*/ 0 h 4"/>
                <a:gd name="T62" fmla="*/ 124 w 160"/>
                <a:gd name="T63" fmla="*/ 0 h 4"/>
                <a:gd name="T64" fmla="*/ 128 w 160"/>
                <a:gd name="T65" fmla="*/ 0 h 4"/>
                <a:gd name="T66" fmla="*/ 132 w 160"/>
                <a:gd name="T67" fmla="*/ 0 h 4"/>
                <a:gd name="T68" fmla="*/ 136 w 160"/>
                <a:gd name="T69" fmla="*/ 0 h 4"/>
                <a:gd name="T70" fmla="*/ 140 w 160"/>
                <a:gd name="T71" fmla="*/ 0 h 4"/>
                <a:gd name="T72" fmla="*/ 144 w 160"/>
                <a:gd name="T73" fmla="*/ 0 h 4"/>
                <a:gd name="T74" fmla="*/ 148 w 160"/>
                <a:gd name="T75" fmla="*/ 0 h 4"/>
                <a:gd name="T76" fmla="*/ 152 w 160"/>
                <a:gd name="T77" fmla="*/ 0 h 4"/>
                <a:gd name="T78" fmla="*/ 156 w 160"/>
                <a:gd name="T79" fmla="*/ 0 h 4"/>
                <a:gd name="T80" fmla="*/ 160 w 160"/>
                <a:gd name="T81" fmla="*/ 0 h 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60" h="4">
                  <a:moveTo>
                    <a:pt x="0" y="4"/>
                  </a:moveTo>
                  <a:lnTo>
                    <a:pt x="4" y="4"/>
                  </a:lnTo>
                  <a:lnTo>
                    <a:pt x="8" y="4"/>
                  </a:lnTo>
                  <a:lnTo>
                    <a:pt x="12" y="4"/>
                  </a:lnTo>
                  <a:lnTo>
                    <a:pt x="16" y="4"/>
                  </a:lnTo>
                  <a:lnTo>
                    <a:pt x="20" y="4"/>
                  </a:lnTo>
                  <a:lnTo>
                    <a:pt x="24" y="4"/>
                  </a:lnTo>
                  <a:lnTo>
                    <a:pt x="28" y="4"/>
                  </a:lnTo>
                  <a:lnTo>
                    <a:pt x="32" y="4"/>
                  </a:lnTo>
                  <a:lnTo>
                    <a:pt x="36" y="4"/>
                  </a:lnTo>
                  <a:lnTo>
                    <a:pt x="40" y="4"/>
                  </a:lnTo>
                  <a:lnTo>
                    <a:pt x="44" y="4"/>
                  </a:lnTo>
                  <a:lnTo>
                    <a:pt x="48" y="4"/>
                  </a:lnTo>
                  <a:lnTo>
                    <a:pt x="52" y="4"/>
                  </a:lnTo>
                  <a:lnTo>
                    <a:pt x="56" y="0"/>
                  </a:lnTo>
                  <a:lnTo>
                    <a:pt x="60" y="0"/>
                  </a:lnTo>
                  <a:lnTo>
                    <a:pt x="64" y="0"/>
                  </a:lnTo>
                  <a:lnTo>
                    <a:pt x="68" y="0"/>
                  </a:lnTo>
                  <a:lnTo>
                    <a:pt x="72" y="0"/>
                  </a:lnTo>
                  <a:lnTo>
                    <a:pt x="76" y="0"/>
                  </a:lnTo>
                  <a:lnTo>
                    <a:pt x="80" y="0"/>
                  </a:lnTo>
                  <a:lnTo>
                    <a:pt x="84" y="0"/>
                  </a:lnTo>
                  <a:lnTo>
                    <a:pt x="88" y="0"/>
                  </a:lnTo>
                  <a:lnTo>
                    <a:pt x="92" y="0"/>
                  </a:lnTo>
                  <a:lnTo>
                    <a:pt x="96" y="0"/>
                  </a:lnTo>
                  <a:lnTo>
                    <a:pt x="100" y="0"/>
                  </a:lnTo>
                  <a:lnTo>
                    <a:pt x="104" y="0"/>
                  </a:lnTo>
                  <a:lnTo>
                    <a:pt x="108" y="0"/>
                  </a:lnTo>
                  <a:lnTo>
                    <a:pt x="112" y="0"/>
                  </a:lnTo>
                  <a:lnTo>
                    <a:pt x="116" y="0"/>
                  </a:lnTo>
                  <a:lnTo>
                    <a:pt x="120" y="0"/>
                  </a:lnTo>
                  <a:lnTo>
                    <a:pt x="124" y="0"/>
                  </a:lnTo>
                  <a:lnTo>
                    <a:pt x="128" y="0"/>
                  </a:lnTo>
                  <a:lnTo>
                    <a:pt x="132" y="0"/>
                  </a:lnTo>
                  <a:lnTo>
                    <a:pt x="136" y="0"/>
                  </a:lnTo>
                  <a:lnTo>
                    <a:pt x="140" y="0"/>
                  </a:lnTo>
                  <a:lnTo>
                    <a:pt x="144" y="0"/>
                  </a:lnTo>
                  <a:lnTo>
                    <a:pt x="148" y="0"/>
                  </a:lnTo>
                  <a:lnTo>
                    <a:pt x="152" y="0"/>
                  </a:lnTo>
                  <a:lnTo>
                    <a:pt x="156" y="0"/>
                  </a:lnTo>
                  <a:lnTo>
                    <a:pt x="160" y="0"/>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42" name="Line 206"/>
            <p:cNvSpPr>
              <a:spLocks noChangeShapeType="1"/>
            </p:cNvSpPr>
            <p:nvPr/>
          </p:nvSpPr>
          <p:spPr bwMode="auto">
            <a:xfrm>
              <a:off x="649" y="3552"/>
              <a:ext cx="1142" cy="0"/>
            </a:xfrm>
            <a:prstGeom prst="line">
              <a:avLst/>
            </a:prstGeom>
            <a:noFill/>
            <a:ln w="0">
              <a:solidFill>
                <a:srgbClr val="000000"/>
              </a:solidFill>
              <a:prstDash val="sysDash"/>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43" name="Line 207"/>
            <p:cNvSpPr>
              <a:spLocks noChangeShapeType="1"/>
            </p:cNvSpPr>
            <p:nvPr/>
          </p:nvSpPr>
          <p:spPr bwMode="auto">
            <a:xfrm>
              <a:off x="649" y="3152"/>
              <a:ext cx="1142" cy="0"/>
            </a:xfrm>
            <a:prstGeom prst="line">
              <a:avLst/>
            </a:prstGeom>
            <a:noFill/>
            <a:ln w="0">
              <a:solidFill>
                <a:srgbClr val="000000"/>
              </a:solidFill>
              <a:prstDash val="sysDash"/>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44" name="Rectangle 208"/>
            <p:cNvSpPr>
              <a:spLocks noChangeArrowheads="1"/>
            </p:cNvSpPr>
            <p:nvPr/>
          </p:nvSpPr>
          <p:spPr bwMode="auto">
            <a:xfrm>
              <a:off x="1065" y="4074"/>
              <a:ext cx="341"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smtClean="0">
                  <a:ln>
                    <a:noFill/>
                  </a:ln>
                  <a:solidFill>
                    <a:srgbClr val="000000"/>
                  </a:solidFill>
                  <a:effectLst/>
                  <a:latin typeface="Calibri" panose="020F0502020204030204" pitchFamily="34" charset="0"/>
                </a:rPr>
                <a:t>Iteration</a:t>
              </a: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sp>
          <p:nvSpPr>
            <p:cNvPr id="345" name="Rectangle 209"/>
            <p:cNvSpPr>
              <a:spLocks noChangeArrowheads="1"/>
            </p:cNvSpPr>
            <p:nvPr/>
          </p:nvSpPr>
          <p:spPr bwMode="auto">
            <a:xfrm rot="16200000">
              <a:off x="100" y="3508"/>
              <a:ext cx="683" cy="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smtClean="0">
                  <a:ln>
                    <a:noFill/>
                  </a:ln>
                  <a:solidFill>
                    <a:srgbClr val="000000"/>
                  </a:solidFill>
                  <a:effectLst/>
                  <a:latin typeface="Calibri" panose="020F0502020204030204" pitchFamily="34" charset="0"/>
                </a:rPr>
                <a:t>Period (time steps)</a:t>
              </a: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grpSp>
      <p:grpSp>
        <p:nvGrpSpPr>
          <p:cNvPr id="346" name="Group 212"/>
          <p:cNvGrpSpPr>
            <a:grpSpLocks noChangeAspect="1"/>
          </p:cNvGrpSpPr>
          <p:nvPr/>
        </p:nvGrpSpPr>
        <p:grpSpPr bwMode="auto">
          <a:xfrm>
            <a:off x="466527" y="2693758"/>
            <a:ext cx="2360613" cy="1771650"/>
            <a:chOff x="2305" y="3092"/>
            <a:chExt cx="1487" cy="1116"/>
          </a:xfrm>
        </p:grpSpPr>
        <p:sp>
          <p:nvSpPr>
            <p:cNvPr id="348" name="Rectangle 213"/>
            <p:cNvSpPr>
              <a:spLocks noChangeArrowheads="1"/>
            </p:cNvSpPr>
            <p:nvPr/>
          </p:nvSpPr>
          <p:spPr bwMode="auto">
            <a:xfrm>
              <a:off x="2558" y="3152"/>
              <a:ext cx="1122" cy="80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49" name="Rectangle 214"/>
            <p:cNvSpPr>
              <a:spLocks noChangeArrowheads="1"/>
            </p:cNvSpPr>
            <p:nvPr/>
          </p:nvSpPr>
          <p:spPr bwMode="auto">
            <a:xfrm>
              <a:off x="2558" y="3152"/>
              <a:ext cx="1122" cy="805"/>
            </a:xfrm>
            <a:prstGeom prst="rect">
              <a:avLst/>
            </a:prstGeom>
            <a:noFill/>
            <a:ln w="0">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50" name="Line 215"/>
            <p:cNvSpPr>
              <a:spLocks noChangeShapeType="1"/>
            </p:cNvSpPr>
            <p:nvPr/>
          </p:nvSpPr>
          <p:spPr bwMode="auto">
            <a:xfrm>
              <a:off x="2558" y="3957"/>
              <a:ext cx="1122" cy="0"/>
            </a:xfrm>
            <a:prstGeom prst="line">
              <a:avLst/>
            </a:prstGeom>
            <a:noFill/>
            <a:ln w="0">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51" name="Line 216"/>
            <p:cNvSpPr>
              <a:spLocks noChangeShapeType="1"/>
            </p:cNvSpPr>
            <p:nvPr/>
          </p:nvSpPr>
          <p:spPr bwMode="auto">
            <a:xfrm flipV="1">
              <a:off x="2558" y="3152"/>
              <a:ext cx="0" cy="805"/>
            </a:xfrm>
            <a:prstGeom prst="line">
              <a:avLst/>
            </a:prstGeom>
            <a:noFill/>
            <a:ln w="0">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52" name="Line 217"/>
            <p:cNvSpPr>
              <a:spLocks noChangeShapeType="1"/>
            </p:cNvSpPr>
            <p:nvPr/>
          </p:nvSpPr>
          <p:spPr bwMode="auto">
            <a:xfrm>
              <a:off x="2558" y="3957"/>
              <a:ext cx="0" cy="8"/>
            </a:xfrm>
            <a:prstGeom prst="line">
              <a:avLst/>
            </a:prstGeom>
            <a:noFill/>
            <a:ln w="0">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53" name="Rectangle 218"/>
            <p:cNvSpPr>
              <a:spLocks noChangeArrowheads="1"/>
            </p:cNvSpPr>
            <p:nvPr/>
          </p:nvSpPr>
          <p:spPr bwMode="auto">
            <a:xfrm>
              <a:off x="2538" y="3982"/>
              <a:ext cx="88"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smtClean="0">
                  <a:ln>
                    <a:noFill/>
                  </a:ln>
                  <a:solidFill>
                    <a:srgbClr val="000000"/>
                  </a:solidFill>
                  <a:effectLst/>
                  <a:latin typeface="Calibri" panose="020F0502020204030204" pitchFamily="34" charset="0"/>
                </a:rPr>
                <a:t>0</a:t>
              </a: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sp>
          <p:nvSpPr>
            <p:cNvPr id="354" name="Line 219"/>
            <p:cNvSpPr>
              <a:spLocks noChangeShapeType="1"/>
            </p:cNvSpPr>
            <p:nvPr/>
          </p:nvSpPr>
          <p:spPr bwMode="auto">
            <a:xfrm>
              <a:off x="2782" y="3957"/>
              <a:ext cx="0" cy="8"/>
            </a:xfrm>
            <a:prstGeom prst="line">
              <a:avLst/>
            </a:prstGeom>
            <a:noFill/>
            <a:ln w="0">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55" name="Rectangle 220"/>
            <p:cNvSpPr>
              <a:spLocks noChangeArrowheads="1"/>
            </p:cNvSpPr>
            <p:nvPr/>
          </p:nvSpPr>
          <p:spPr bwMode="auto">
            <a:xfrm>
              <a:off x="2722" y="3982"/>
              <a:ext cx="172"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smtClean="0">
                  <a:ln>
                    <a:noFill/>
                  </a:ln>
                  <a:solidFill>
                    <a:srgbClr val="000000"/>
                  </a:solidFill>
                  <a:effectLst/>
                  <a:latin typeface="Calibri" panose="020F0502020204030204" pitchFamily="34" charset="0"/>
                </a:rPr>
                <a:t>100</a:t>
              </a: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sp>
          <p:nvSpPr>
            <p:cNvPr id="356" name="Line 221"/>
            <p:cNvSpPr>
              <a:spLocks noChangeShapeType="1"/>
            </p:cNvSpPr>
            <p:nvPr/>
          </p:nvSpPr>
          <p:spPr bwMode="auto">
            <a:xfrm>
              <a:off x="3007" y="3957"/>
              <a:ext cx="0" cy="8"/>
            </a:xfrm>
            <a:prstGeom prst="line">
              <a:avLst/>
            </a:prstGeom>
            <a:noFill/>
            <a:ln w="0">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57" name="Rectangle 222"/>
            <p:cNvSpPr>
              <a:spLocks noChangeArrowheads="1"/>
            </p:cNvSpPr>
            <p:nvPr/>
          </p:nvSpPr>
          <p:spPr bwMode="auto">
            <a:xfrm>
              <a:off x="2946" y="3982"/>
              <a:ext cx="172"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smtClean="0">
                  <a:ln>
                    <a:noFill/>
                  </a:ln>
                  <a:solidFill>
                    <a:srgbClr val="000000"/>
                  </a:solidFill>
                  <a:effectLst/>
                  <a:latin typeface="Calibri" panose="020F0502020204030204" pitchFamily="34" charset="0"/>
                </a:rPr>
                <a:t>200</a:t>
              </a: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sp>
          <p:nvSpPr>
            <p:cNvPr id="358" name="Line 223"/>
            <p:cNvSpPr>
              <a:spLocks noChangeShapeType="1"/>
            </p:cNvSpPr>
            <p:nvPr/>
          </p:nvSpPr>
          <p:spPr bwMode="auto">
            <a:xfrm>
              <a:off x="3231" y="3957"/>
              <a:ext cx="0" cy="8"/>
            </a:xfrm>
            <a:prstGeom prst="line">
              <a:avLst/>
            </a:prstGeom>
            <a:noFill/>
            <a:ln w="0">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59" name="Rectangle 224"/>
            <p:cNvSpPr>
              <a:spLocks noChangeArrowheads="1"/>
            </p:cNvSpPr>
            <p:nvPr/>
          </p:nvSpPr>
          <p:spPr bwMode="auto">
            <a:xfrm>
              <a:off x="3171" y="3982"/>
              <a:ext cx="172"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smtClean="0">
                  <a:ln>
                    <a:noFill/>
                  </a:ln>
                  <a:solidFill>
                    <a:srgbClr val="000000"/>
                  </a:solidFill>
                  <a:effectLst/>
                  <a:latin typeface="Calibri" panose="020F0502020204030204" pitchFamily="34" charset="0"/>
                </a:rPr>
                <a:t>300</a:t>
              </a: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sp>
          <p:nvSpPr>
            <p:cNvPr id="360" name="Line 225"/>
            <p:cNvSpPr>
              <a:spLocks noChangeShapeType="1"/>
            </p:cNvSpPr>
            <p:nvPr/>
          </p:nvSpPr>
          <p:spPr bwMode="auto">
            <a:xfrm>
              <a:off x="3455" y="3957"/>
              <a:ext cx="0" cy="8"/>
            </a:xfrm>
            <a:prstGeom prst="line">
              <a:avLst/>
            </a:prstGeom>
            <a:noFill/>
            <a:ln w="0">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61" name="Rectangle 226"/>
            <p:cNvSpPr>
              <a:spLocks noChangeArrowheads="1"/>
            </p:cNvSpPr>
            <p:nvPr/>
          </p:nvSpPr>
          <p:spPr bwMode="auto">
            <a:xfrm>
              <a:off x="3395" y="3982"/>
              <a:ext cx="172"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smtClean="0">
                  <a:ln>
                    <a:noFill/>
                  </a:ln>
                  <a:solidFill>
                    <a:srgbClr val="000000"/>
                  </a:solidFill>
                  <a:effectLst/>
                  <a:latin typeface="Calibri" panose="020F0502020204030204" pitchFamily="34" charset="0"/>
                </a:rPr>
                <a:t>400</a:t>
              </a: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sp>
          <p:nvSpPr>
            <p:cNvPr id="362" name="Line 227"/>
            <p:cNvSpPr>
              <a:spLocks noChangeShapeType="1"/>
            </p:cNvSpPr>
            <p:nvPr/>
          </p:nvSpPr>
          <p:spPr bwMode="auto">
            <a:xfrm>
              <a:off x="3680" y="3957"/>
              <a:ext cx="0" cy="8"/>
            </a:xfrm>
            <a:prstGeom prst="line">
              <a:avLst/>
            </a:prstGeom>
            <a:noFill/>
            <a:ln w="0">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63" name="Rectangle 228"/>
            <p:cNvSpPr>
              <a:spLocks noChangeArrowheads="1"/>
            </p:cNvSpPr>
            <p:nvPr/>
          </p:nvSpPr>
          <p:spPr bwMode="auto">
            <a:xfrm>
              <a:off x="3620" y="3982"/>
              <a:ext cx="172"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smtClean="0">
                  <a:ln>
                    <a:noFill/>
                  </a:ln>
                  <a:solidFill>
                    <a:srgbClr val="000000"/>
                  </a:solidFill>
                  <a:effectLst/>
                  <a:latin typeface="Calibri" panose="020F0502020204030204" pitchFamily="34" charset="0"/>
                </a:rPr>
                <a:t>500</a:t>
              </a: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sp>
          <p:nvSpPr>
            <p:cNvPr id="364" name="Line 229"/>
            <p:cNvSpPr>
              <a:spLocks noChangeShapeType="1"/>
            </p:cNvSpPr>
            <p:nvPr/>
          </p:nvSpPr>
          <p:spPr bwMode="auto">
            <a:xfrm flipH="1">
              <a:off x="2546" y="3957"/>
              <a:ext cx="12" cy="0"/>
            </a:xfrm>
            <a:prstGeom prst="line">
              <a:avLst/>
            </a:prstGeom>
            <a:noFill/>
            <a:ln w="0">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65" name="Rectangle 230"/>
            <p:cNvSpPr>
              <a:spLocks noChangeArrowheads="1"/>
            </p:cNvSpPr>
            <p:nvPr/>
          </p:nvSpPr>
          <p:spPr bwMode="auto">
            <a:xfrm>
              <a:off x="2489" y="3907"/>
              <a:ext cx="88"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smtClean="0">
                  <a:ln>
                    <a:noFill/>
                  </a:ln>
                  <a:solidFill>
                    <a:srgbClr val="000000"/>
                  </a:solidFill>
                  <a:effectLst/>
                  <a:latin typeface="Calibri" panose="020F0502020204030204" pitchFamily="34" charset="0"/>
                </a:rPr>
                <a:t>0</a:t>
              </a: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sp>
          <p:nvSpPr>
            <p:cNvPr id="366" name="Line 231"/>
            <p:cNvSpPr>
              <a:spLocks noChangeShapeType="1"/>
            </p:cNvSpPr>
            <p:nvPr/>
          </p:nvSpPr>
          <p:spPr bwMode="auto">
            <a:xfrm flipH="1">
              <a:off x="2546" y="3552"/>
              <a:ext cx="12" cy="0"/>
            </a:xfrm>
            <a:prstGeom prst="line">
              <a:avLst/>
            </a:prstGeom>
            <a:noFill/>
            <a:ln w="0">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67" name="Rectangle 232"/>
            <p:cNvSpPr>
              <a:spLocks noChangeArrowheads="1"/>
            </p:cNvSpPr>
            <p:nvPr/>
          </p:nvSpPr>
          <p:spPr bwMode="auto">
            <a:xfrm>
              <a:off x="2429" y="3502"/>
              <a:ext cx="152"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smtClean="0">
                  <a:ln>
                    <a:noFill/>
                  </a:ln>
                  <a:solidFill>
                    <a:srgbClr val="000000"/>
                  </a:solidFill>
                  <a:effectLst/>
                  <a:latin typeface="Calibri" panose="020F0502020204030204" pitchFamily="34" charset="0"/>
                </a:rPr>
                <a:t>0.5</a:t>
              </a: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sp>
          <p:nvSpPr>
            <p:cNvPr id="368" name="Line 233"/>
            <p:cNvSpPr>
              <a:spLocks noChangeShapeType="1"/>
            </p:cNvSpPr>
            <p:nvPr/>
          </p:nvSpPr>
          <p:spPr bwMode="auto">
            <a:xfrm flipH="1">
              <a:off x="2546" y="3152"/>
              <a:ext cx="12" cy="0"/>
            </a:xfrm>
            <a:prstGeom prst="line">
              <a:avLst/>
            </a:prstGeom>
            <a:noFill/>
            <a:ln w="0">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69" name="Rectangle 234"/>
            <p:cNvSpPr>
              <a:spLocks noChangeArrowheads="1"/>
            </p:cNvSpPr>
            <p:nvPr/>
          </p:nvSpPr>
          <p:spPr bwMode="auto">
            <a:xfrm>
              <a:off x="2489" y="3101"/>
              <a:ext cx="88"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smtClean="0">
                  <a:ln>
                    <a:noFill/>
                  </a:ln>
                  <a:solidFill>
                    <a:srgbClr val="000000"/>
                  </a:solidFill>
                  <a:effectLst/>
                  <a:latin typeface="Calibri" panose="020F0502020204030204" pitchFamily="34" charset="0"/>
                </a:rPr>
                <a:t>1</a:t>
              </a: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sp>
          <p:nvSpPr>
            <p:cNvPr id="370" name="Freeform 235"/>
            <p:cNvSpPr>
              <a:spLocks/>
            </p:cNvSpPr>
            <p:nvPr/>
          </p:nvSpPr>
          <p:spPr bwMode="auto">
            <a:xfrm>
              <a:off x="2558" y="3193"/>
              <a:ext cx="1122" cy="685"/>
            </a:xfrm>
            <a:custGeom>
              <a:avLst/>
              <a:gdLst>
                <a:gd name="T0" fmla="*/ 32 w 1122"/>
                <a:gd name="T1" fmla="*/ 576 h 685"/>
                <a:gd name="T2" fmla="*/ 68 w 1122"/>
                <a:gd name="T3" fmla="*/ 497 h 685"/>
                <a:gd name="T4" fmla="*/ 104 w 1122"/>
                <a:gd name="T5" fmla="*/ 451 h 685"/>
                <a:gd name="T6" fmla="*/ 140 w 1122"/>
                <a:gd name="T7" fmla="*/ 380 h 685"/>
                <a:gd name="T8" fmla="*/ 176 w 1122"/>
                <a:gd name="T9" fmla="*/ 322 h 685"/>
                <a:gd name="T10" fmla="*/ 212 w 1122"/>
                <a:gd name="T11" fmla="*/ 284 h 685"/>
                <a:gd name="T12" fmla="*/ 248 w 1122"/>
                <a:gd name="T13" fmla="*/ 246 h 685"/>
                <a:gd name="T14" fmla="*/ 284 w 1122"/>
                <a:gd name="T15" fmla="*/ 213 h 685"/>
                <a:gd name="T16" fmla="*/ 320 w 1122"/>
                <a:gd name="T17" fmla="*/ 188 h 685"/>
                <a:gd name="T18" fmla="*/ 356 w 1122"/>
                <a:gd name="T19" fmla="*/ 176 h 685"/>
                <a:gd name="T20" fmla="*/ 392 w 1122"/>
                <a:gd name="T21" fmla="*/ 167 h 685"/>
                <a:gd name="T22" fmla="*/ 428 w 1122"/>
                <a:gd name="T23" fmla="*/ 146 h 685"/>
                <a:gd name="T24" fmla="*/ 465 w 1122"/>
                <a:gd name="T25" fmla="*/ 138 h 685"/>
                <a:gd name="T26" fmla="*/ 501 w 1122"/>
                <a:gd name="T27" fmla="*/ 130 h 685"/>
                <a:gd name="T28" fmla="*/ 537 w 1122"/>
                <a:gd name="T29" fmla="*/ 117 h 685"/>
                <a:gd name="T30" fmla="*/ 573 w 1122"/>
                <a:gd name="T31" fmla="*/ 113 h 685"/>
                <a:gd name="T32" fmla="*/ 609 w 1122"/>
                <a:gd name="T33" fmla="*/ 113 h 685"/>
                <a:gd name="T34" fmla="*/ 645 w 1122"/>
                <a:gd name="T35" fmla="*/ 113 h 685"/>
                <a:gd name="T36" fmla="*/ 681 w 1122"/>
                <a:gd name="T37" fmla="*/ 113 h 685"/>
                <a:gd name="T38" fmla="*/ 717 w 1122"/>
                <a:gd name="T39" fmla="*/ 109 h 685"/>
                <a:gd name="T40" fmla="*/ 753 w 1122"/>
                <a:gd name="T41" fmla="*/ 109 h 685"/>
                <a:gd name="T42" fmla="*/ 789 w 1122"/>
                <a:gd name="T43" fmla="*/ 105 h 685"/>
                <a:gd name="T44" fmla="*/ 825 w 1122"/>
                <a:gd name="T45" fmla="*/ 92 h 685"/>
                <a:gd name="T46" fmla="*/ 861 w 1122"/>
                <a:gd name="T47" fmla="*/ 92 h 685"/>
                <a:gd name="T48" fmla="*/ 897 w 1122"/>
                <a:gd name="T49" fmla="*/ 80 h 685"/>
                <a:gd name="T50" fmla="*/ 930 w 1122"/>
                <a:gd name="T51" fmla="*/ 75 h 685"/>
                <a:gd name="T52" fmla="*/ 966 w 1122"/>
                <a:gd name="T53" fmla="*/ 71 h 685"/>
                <a:gd name="T54" fmla="*/ 1002 w 1122"/>
                <a:gd name="T55" fmla="*/ 71 h 685"/>
                <a:gd name="T56" fmla="*/ 1038 w 1122"/>
                <a:gd name="T57" fmla="*/ 59 h 685"/>
                <a:gd name="T58" fmla="*/ 1074 w 1122"/>
                <a:gd name="T59" fmla="*/ 63 h 685"/>
                <a:gd name="T60" fmla="*/ 1110 w 1122"/>
                <a:gd name="T61" fmla="*/ 63 h 685"/>
                <a:gd name="T62" fmla="*/ 1094 w 1122"/>
                <a:gd name="T63" fmla="*/ 4 h 685"/>
                <a:gd name="T64" fmla="*/ 1058 w 1122"/>
                <a:gd name="T65" fmla="*/ 4 h 685"/>
                <a:gd name="T66" fmla="*/ 1022 w 1122"/>
                <a:gd name="T67" fmla="*/ 9 h 685"/>
                <a:gd name="T68" fmla="*/ 986 w 1122"/>
                <a:gd name="T69" fmla="*/ 17 h 685"/>
                <a:gd name="T70" fmla="*/ 954 w 1122"/>
                <a:gd name="T71" fmla="*/ 17 h 685"/>
                <a:gd name="T72" fmla="*/ 917 w 1122"/>
                <a:gd name="T73" fmla="*/ 21 h 685"/>
                <a:gd name="T74" fmla="*/ 881 w 1122"/>
                <a:gd name="T75" fmla="*/ 25 h 685"/>
                <a:gd name="T76" fmla="*/ 845 w 1122"/>
                <a:gd name="T77" fmla="*/ 29 h 685"/>
                <a:gd name="T78" fmla="*/ 809 w 1122"/>
                <a:gd name="T79" fmla="*/ 38 h 685"/>
                <a:gd name="T80" fmla="*/ 773 w 1122"/>
                <a:gd name="T81" fmla="*/ 38 h 685"/>
                <a:gd name="T82" fmla="*/ 737 w 1122"/>
                <a:gd name="T83" fmla="*/ 42 h 685"/>
                <a:gd name="T84" fmla="*/ 701 w 1122"/>
                <a:gd name="T85" fmla="*/ 46 h 685"/>
                <a:gd name="T86" fmla="*/ 665 w 1122"/>
                <a:gd name="T87" fmla="*/ 46 h 685"/>
                <a:gd name="T88" fmla="*/ 629 w 1122"/>
                <a:gd name="T89" fmla="*/ 46 h 685"/>
                <a:gd name="T90" fmla="*/ 593 w 1122"/>
                <a:gd name="T91" fmla="*/ 46 h 685"/>
                <a:gd name="T92" fmla="*/ 557 w 1122"/>
                <a:gd name="T93" fmla="*/ 50 h 685"/>
                <a:gd name="T94" fmla="*/ 521 w 1122"/>
                <a:gd name="T95" fmla="*/ 46 h 685"/>
                <a:gd name="T96" fmla="*/ 485 w 1122"/>
                <a:gd name="T97" fmla="*/ 63 h 685"/>
                <a:gd name="T98" fmla="*/ 449 w 1122"/>
                <a:gd name="T99" fmla="*/ 71 h 685"/>
                <a:gd name="T100" fmla="*/ 412 w 1122"/>
                <a:gd name="T101" fmla="*/ 80 h 685"/>
                <a:gd name="T102" fmla="*/ 376 w 1122"/>
                <a:gd name="T103" fmla="*/ 88 h 685"/>
                <a:gd name="T104" fmla="*/ 340 w 1122"/>
                <a:gd name="T105" fmla="*/ 109 h 685"/>
                <a:gd name="T106" fmla="*/ 304 w 1122"/>
                <a:gd name="T107" fmla="*/ 130 h 685"/>
                <a:gd name="T108" fmla="*/ 268 w 1122"/>
                <a:gd name="T109" fmla="*/ 155 h 685"/>
                <a:gd name="T110" fmla="*/ 232 w 1122"/>
                <a:gd name="T111" fmla="*/ 209 h 685"/>
                <a:gd name="T112" fmla="*/ 196 w 1122"/>
                <a:gd name="T113" fmla="*/ 259 h 685"/>
                <a:gd name="T114" fmla="*/ 160 w 1122"/>
                <a:gd name="T115" fmla="*/ 317 h 685"/>
                <a:gd name="T116" fmla="*/ 124 w 1122"/>
                <a:gd name="T117" fmla="*/ 363 h 685"/>
                <a:gd name="T118" fmla="*/ 88 w 1122"/>
                <a:gd name="T119" fmla="*/ 418 h 685"/>
                <a:gd name="T120" fmla="*/ 56 w 1122"/>
                <a:gd name="T121" fmla="*/ 468 h 685"/>
                <a:gd name="T122" fmla="*/ 20 w 1122"/>
                <a:gd name="T123" fmla="*/ 585 h 6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122" h="685">
                  <a:moveTo>
                    <a:pt x="0" y="685"/>
                  </a:moveTo>
                  <a:lnTo>
                    <a:pt x="4" y="681"/>
                  </a:lnTo>
                  <a:lnTo>
                    <a:pt x="4" y="651"/>
                  </a:lnTo>
                  <a:lnTo>
                    <a:pt x="8" y="635"/>
                  </a:lnTo>
                  <a:lnTo>
                    <a:pt x="8" y="630"/>
                  </a:lnTo>
                  <a:lnTo>
                    <a:pt x="12" y="630"/>
                  </a:lnTo>
                  <a:lnTo>
                    <a:pt x="12" y="635"/>
                  </a:lnTo>
                  <a:lnTo>
                    <a:pt x="16" y="626"/>
                  </a:lnTo>
                  <a:lnTo>
                    <a:pt x="20" y="618"/>
                  </a:lnTo>
                  <a:lnTo>
                    <a:pt x="20" y="618"/>
                  </a:lnTo>
                  <a:lnTo>
                    <a:pt x="24" y="618"/>
                  </a:lnTo>
                  <a:lnTo>
                    <a:pt x="24" y="601"/>
                  </a:lnTo>
                  <a:lnTo>
                    <a:pt x="28" y="614"/>
                  </a:lnTo>
                  <a:lnTo>
                    <a:pt x="28" y="593"/>
                  </a:lnTo>
                  <a:lnTo>
                    <a:pt x="32" y="593"/>
                  </a:lnTo>
                  <a:lnTo>
                    <a:pt x="32" y="576"/>
                  </a:lnTo>
                  <a:lnTo>
                    <a:pt x="36" y="572"/>
                  </a:lnTo>
                  <a:lnTo>
                    <a:pt x="40" y="564"/>
                  </a:lnTo>
                  <a:lnTo>
                    <a:pt x="40" y="551"/>
                  </a:lnTo>
                  <a:lnTo>
                    <a:pt x="44" y="551"/>
                  </a:lnTo>
                  <a:lnTo>
                    <a:pt x="44" y="551"/>
                  </a:lnTo>
                  <a:lnTo>
                    <a:pt x="48" y="547"/>
                  </a:lnTo>
                  <a:lnTo>
                    <a:pt x="48" y="539"/>
                  </a:lnTo>
                  <a:lnTo>
                    <a:pt x="52" y="539"/>
                  </a:lnTo>
                  <a:lnTo>
                    <a:pt x="56" y="522"/>
                  </a:lnTo>
                  <a:lnTo>
                    <a:pt x="56" y="522"/>
                  </a:lnTo>
                  <a:lnTo>
                    <a:pt x="60" y="522"/>
                  </a:lnTo>
                  <a:lnTo>
                    <a:pt x="60" y="514"/>
                  </a:lnTo>
                  <a:lnTo>
                    <a:pt x="64" y="509"/>
                  </a:lnTo>
                  <a:lnTo>
                    <a:pt x="64" y="501"/>
                  </a:lnTo>
                  <a:lnTo>
                    <a:pt x="68" y="505"/>
                  </a:lnTo>
                  <a:lnTo>
                    <a:pt x="68" y="497"/>
                  </a:lnTo>
                  <a:lnTo>
                    <a:pt x="72" y="497"/>
                  </a:lnTo>
                  <a:lnTo>
                    <a:pt x="76" y="489"/>
                  </a:lnTo>
                  <a:lnTo>
                    <a:pt x="76" y="480"/>
                  </a:lnTo>
                  <a:lnTo>
                    <a:pt x="80" y="480"/>
                  </a:lnTo>
                  <a:lnTo>
                    <a:pt x="80" y="476"/>
                  </a:lnTo>
                  <a:lnTo>
                    <a:pt x="84" y="476"/>
                  </a:lnTo>
                  <a:lnTo>
                    <a:pt x="84" y="476"/>
                  </a:lnTo>
                  <a:lnTo>
                    <a:pt x="88" y="468"/>
                  </a:lnTo>
                  <a:lnTo>
                    <a:pt x="88" y="464"/>
                  </a:lnTo>
                  <a:lnTo>
                    <a:pt x="92" y="464"/>
                  </a:lnTo>
                  <a:lnTo>
                    <a:pt x="96" y="459"/>
                  </a:lnTo>
                  <a:lnTo>
                    <a:pt x="96" y="459"/>
                  </a:lnTo>
                  <a:lnTo>
                    <a:pt x="100" y="459"/>
                  </a:lnTo>
                  <a:lnTo>
                    <a:pt x="100" y="455"/>
                  </a:lnTo>
                  <a:lnTo>
                    <a:pt x="104" y="451"/>
                  </a:lnTo>
                  <a:lnTo>
                    <a:pt x="104" y="451"/>
                  </a:lnTo>
                  <a:lnTo>
                    <a:pt x="108" y="447"/>
                  </a:lnTo>
                  <a:lnTo>
                    <a:pt x="112" y="434"/>
                  </a:lnTo>
                  <a:lnTo>
                    <a:pt x="112" y="434"/>
                  </a:lnTo>
                  <a:lnTo>
                    <a:pt x="116" y="434"/>
                  </a:lnTo>
                  <a:lnTo>
                    <a:pt x="116" y="430"/>
                  </a:lnTo>
                  <a:lnTo>
                    <a:pt x="120" y="426"/>
                  </a:lnTo>
                  <a:lnTo>
                    <a:pt x="120" y="422"/>
                  </a:lnTo>
                  <a:lnTo>
                    <a:pt x="124" y="409"/>
                  </a:lnTo>
                  <a:lnTo>
                    <a:pt x="124" y="401"/>
                  </a:lnTo>
                  <a:lnTo>
                    <a:pt x="128" y="409"/>
                  </a:lnTo>
                  <a:lnTo>
                    <a:pt x="132" y="397"/>
                  </a:lnTo>
                  <a:lnTo>
                    <a:pt x="132" y="393"/>
                  </a:lnTo>
                  <a:lnTo>
                    <a:pt x="136" y="393"/>
                  </a:lnTo>
                  <a:lnTo>
                    <a:pt x="136" y="384"/>
                  </a:lnTo>
                  <a:lnTo>
                    <a:pt x="140" y="380"/>
                  </a:lnTo>
                  <a:lnTo>
                    <a:pt x="140" y="380"/>
                  </a:lnTo>
                  <a:lnTo>
                    <a:pt x="144" y="376"/>
                  </a:lnTo>
                  <a:lnTo>
                    <a:pt x="144" y="376"/>
                  </a:lnTo>
                  <a:lnTo>
                    <a:pt x="148" y="376"/>
                  </a:lnTo>
                  <a:lnTo>
                    <a:pt x="152" y="372"/>
                  </a:lnTo>
                  <a:lnTo>
                    <a:pt x="152" y="368"/>
                  </a:lnTo>
                  <a:lnTo>
                    <a:pt x="156" y="363"/>
                  </a:lnTo>
                  <a:lnTo>
                    <a:pt x="156" y="363"/>
                  </a:lnTo>
                  <a:lnTo>
                    <a:pt x="160" y="363"/>
                  </a:lnTo>
                  <a:lnTo>
                    <a:pt x="160" y="355"/>
                  </a:lnTo>
                  <a:lnTo>
                    <a:pt x="164" y="355"/>
                  </a:lnTo>
                  <a:lnTo>
                    <a:pt x="168" y="342"/>
                  </a:lnTo>
                  <a:lnTo>
                    <a:pt x="168" y="347"/>
                  </a:lnTo>
                  <a:lnTo>
                    <a:pt x="172" y="338"/>
                  </a:lnTo>
                  <a:lnTo>
                    <a:pt x="172" y="326"/>
                  </a:lnTo>
                  <a:lnTo>
                    <a:pt x="176" y="326"/>
                  </a:lnTo>
                  <a:lnTo>
                    <a:pt x="176" y="322"/>
                  </a:lnTo>
                  <a:lnTo>
                    <a:pt x="180" y="317"/>
                  </a:lnTo>
                  <a:lnTo>
                    <a:pt x="180" y="309"/>
                  </a:lnTo>
                  <a:lnTo>
                    <a:pt x="184" y="313"/>
                  </a:lnTo>
                  <a:lnTo>
                    <a:pt x="188" y="313"/>
                  </a:lnTo>
                  <a:lnTo>
                    <a:pt x="188" y="309"/>
                  </a:lnTo>
                  <a:lnTo>
                    <a:pt x="192" y="309"/>
                  </a:lnTo>
                  <a:lnTo>
                    <a:pt x="192" y="305"/>
                  </a:lnTo>
                  <a:lnTo>
                    <a:pt x="196" y="305"/>
                  </a:lnTo>
                  <a:lnTo>
                    <a:pt x="196" y="301"/>
                  </a:lnTo>
                  <a:lnTo>
                    <a:pt x="200" y="297"/>
                  </a:lnTo>
                  <a:lnTo>
                    <a:pt x="200" y="292"/>
                  </a:lnTo>
                  <a:lnTo>
                    <a:pt x="204" y="288"/>
                  </a:lnTo>
                  <a:lnTo>
                    <a:pt x="208" y="288"/>
                  </a:lnTo>
                  <a:lnTo>
                    <a:pt x="208" y="288"/>
                  </a:lnTo>
                  <a:lnTo>
                    <a:pt x="212" y="284"/>
                  </a:lnTo>
                  <a:lnTo>
                    <a:pt x="212" y="284"/>
                  </a:lnTo>
                  <a:lnTo>
                    <a:pt x="216" y="280"/>
                  </a:lnTo>
                  <a:lnTo>
                    <a:pt x="216" y="276"/>
                  </a:lnTo>
                  <a:lnTo>
                    <a:pt x="220" y="272"/>
                  </a:lnTo>
                  <a:lnTo>
                    <a:pt x="224" y="272"/>
                  </a:lnTo>
                  <a:lnTo>
                    <a:pt x="224" y="272"/>
                  </a:lnTo>
                  <a:lnTo>
                    <a:pt x="228" y="272"/>
                  </a:lnTo>
                  <a:lnTo>
                    <a:pt x="228" y="263"/>
                  </a:lnTo>
                  <a:lnTo>
                    <a:pt x="232" y="263"/>
                  </a:lnTo>
                  <a:lnTo>
                    <a:pt x="232" y="259"/>
                  </a:lnTo>
                  <a:lnTo>
                    <a:pt x="236" y="255"/>
                  </a:lnTo>
                  <a:lnTo>
                    <a:pt x="236" y="255"/>
                  </a:lnTo>
                  <a:lnTo>
                    <a:pt x="240" y="255"/>
                  </a:lnTo>
                  <a:lnTo>
                    <a:pt x="244" y="251"/>
                  </a:lnTo>
                  <a:lnTo>
                    <a:pt x="244" y="251"/>
                  </a:lnTo>
                  <a:lnTo>
                    <a:pt x="248" y="246"/>
                  </a:lnTo>
                  <a:lnTo>
                    <a:pt x="248" y="246"/>
                  </a:lnTo>
                  <a:lnTo>
                    <a:pt x="252" y="242"/>
                  </a:lnTo>
                  <a:lnTo>
                    <a:pt x="252" y="242"/>
                  </a:lnTo>
                  <a:lnTo>
                    <a:pt x="256" y="242"/>
                  </a:lnTo>
                  <a:lnTo>
                    <a:pt x="256" y="238"/>
                  </a:lnTo>
                  <a:lnTo>
                    <a:pt x="260" y="238"/>
                  </a:lnTo>
                  <a:lnTo>
                    <a:pt x="264" y="238"/>
                  </a:lnTo>
                  <a:lnTo>
                    <a:pt x="264" y="234"/>
                  </a:lnTo>
                  <a:lnTo>
                    <a:pt x="268" y="226"/>
                  </a:lnTo>
                  <a:lnTo>
                    <a:pt x="268" y="221"/>
                  </a:lnTo>
                  <a:lnTo>
                    <a:pt x="272" y="217"/>
                  </a:lnTo>
                  <a:lnTo>
                    <a:pt x="272" y="217"/>
                  </a:lnTo>
                  <a:lnTo>
                    <a:pt x="276" y="213"/>
                  </a:lnTo>
                  <a:lnTo>
                    <a:pt x="280" y="217"/>
                  </a:lnTo>
                  <a:lnTo>
                    <a:pt x="280" y="217"/>
                  </a:lnTo>
                  <a:lnTo>
                    <a:pt x="284" y="217"/>
                  </a:lnTo>
                  <a:lnTo>
                    <a:pt x="284" y="213"/>
                  </a:lnTo>
                  <a:lnTo>
                    <a:pt x="288" y="213"/>
                  </a:lnTo>
                  <a:lnTo>
                    <a:pt x="288" y="209"/>
                  </a:lnTo>
                  <a:lnTo>
                    <a:pt x="292" y="209"/>
                  </a:lnTo>
                  <a:lnTo>
                    <a:pt x="292" y="201"/>
                  </a:lnTo>
                  <a:lnTo>
                    <a:pt x="296" y="201"/>
                  </a:lnTo>
                  <a:lnTo>
                    <a:pt x="300" y="201"/>
                  </a:lnTo>
                  <a:lnTo>
                    <a:pt x="300" y="201"/>
                  </a:lnTo>
                  <a:lnTo>
                    <a:pt x="304" y="201"/>
                  </a:lnTo>
                  <a:lnTo>
                    <a:pt x="304" y="196"/>
                  </a:lnTo>
                  <a:lnTo>
                    <a:pt x="308" y="192"/>
                  </a:lnTo>
                  <a:lnTo>
                    <a:pt x="308" y="192"/>
                  </a:lnTo>
                  <a:lnTo>
                    <a:pt x="312" y="192"/>
                  </a:lnTo>
                  <a:lnTo>
                    <a:pt x="312" y="192"/>
                  </a:lnTo>
                  <a:lnTo>
                    <a:pt x="316" y="192"/>
                  </a:lnTo>
                  <a:lnTo>
                    <a:pt x="320" y="192"/>
                  </a:lnTo>
                  <a:lnTo>
                    <a:pt x="320" y="188"/>
                  </a:lnTo>
                  <a:lnTo>
                    <a:pt x="324" y="188"/>
                  </a:lnTo>
                  <a:lnTo>
                    <a:pt x="324" y="188"/>
                  </a:lnTo>
                  <a:lnTo>
                    <a:pt x="328" y="184"/>
                  </a:lnTo>
                  <a:lnTo>
                    <a:pt x="328" y="184"/>
                  </a:lnTo>
                  <a:lnTo>
                    <a:pt x="332" y="188"/>
                  </a:lnTo>
                  <a:lnTo>
                    <a:pt x="336" y="184"/>
                  </a:lnTo>
                  <a:lnTo>
                    <a:pt x="336" y="184"/>
                  </a:lnTo>
                  <a:lnTo>
                    <a:pt x="340" y="184"/>
                  </a:lnTo>
                  <a:lnTo>
                    <a:pt x="340" y="184"/>
                  </a:lnTo>
                  <a:lnTo>
                    <a:pt x="344" y="180"/>
                  </a:lnTo>
                  <a:lnTo>
                    <a:pt x="344" y="180"/>
                  </a:lnTo>
                  <a:lnTo>
                    <a:pt x="348" y="184"/>
                  </a:lnTo>
                  <a:lnTo>
                    <a:pt x="348" y="180"/>
                  </a:lnTo>
                  <a:lnTo>
                    <a:pt x="352" y="176"/>
                  </a:lnTo>
                  <a:lnTo>
                    <a:pt x="356" y="176"/>
                  </a:lnTo>
                  <a:lnTo>
                    <a:pt x="356" y="176"/>
                  </a:lnTo>
                  <a:lnTo>
                    <a:pt x="360" y="171"/>
                  </a:lnTo>
                  <a:lnTo>
                    <a:pt x="360" y="171"/>
                  </a:lnTo>
                  <a:lnTo>
                    <a:pt x="364" y="176"/>
                  </a:lnTo>
                  <a:lnTo>
                    <a:pt x="364" y="171"/>
                  </a:lnTo>
                  <a:lnTo>
                    <a:pt x="368" y="171"/>
                  </a:lnTo>
                  <a:lnTo>
                    <a:pt x="368" y="167"/>
                  </a:lnTo>
                  <a:lnTo>
                    <a:pt x="372" y="167"/>
                  </a:lnTo>
                  <a:lnTo>
                    <a:pt x="376" y="171"/>
                  </a:lnTo>
                  <a:lnTo>
                    <a:pt x="376" y="171"/>
                  </a:lnTo>
                  <a:lnTo>
                    <a:pt x="380" y="167"/>
                  </a:lnTo>
                  <a:lnTo>
                    <a:pt x="380" y="167"/>
                  </a:lnTo>
                  <a:lnTo>
                    <a:pt x="384" y="167"/>
                  </a:lnTo>
                  <a:lnTo>
                    <a:pt x="384" y="167"/>
                  </a:lnTo>
                  <a:lnTo>
                    <a:pt x="388" y="167"/>
                  </a:lnTo>
                  <a:lnTo>
                    <a:pt x="392" y="167"/>
                  </a:lnTo>
                  <a:lnTo>
                    <a:pt x="392" y="167"/>
                  </a:lnTo>
                  <a:lnTo>
                    <a:pt x="396" y="163"/>
                  </a:lnTo>
                  <a:lnTo>
                    <a:pt x="396" y="163"/>
                  </a:lnTo>
                  <a:lnTo>
                    <a:pt x="400" y="163"/>
                  </a:lnTo>
                  <a:lnTo>
                    <a:pt x="400" y="163"/>
                  </a:lnTo>
                  <a:lnTo>
                    <a:pt x="404" y="155"/>
                  </a:lnTo>
                  <a:lnTo>
                    <a:pt x="404" y="155"/>
                  </a:lnTo>
                  <a:lnTo>
                    <a:pt x="408" y="159"/>
                  </a:lnTo>
                  <a:lnTo>
                    <a:pt x="412" y="155"/>
                  </a:lnTo>
                  <a:lnTo>
                    <a:pt x="412" y="155"/>
                  </a:lnTo>
                  <a:lnTo>
                    <a:pt x="416" y="155"/>
                  </a:lnTo>
                  <a:lnTo>
                    <a:pt x="416" y="155"/>
                  </a:lnTo>
                  <a:lnTo>
                    <a:pt x="420" y="155"/>
                  </a:lnTo>
                  <a:lnTo>
                    <a:pt x="420" y="150"/>
                  </a:lnTo>
                  <a:lnTo>
                    <a:pt x="424" y="150"/>
                  </a:lnTo>
                  <a:lnTo>
                    <a:pt x="424" y="146"/>
                  </a:lnTo>
                  <a:lnTo>
                    <a:pt x="428" y="146"/>
                  </a:lnTo>
                  <a:lnTo>
                    <a:pt x="432" y="146"/>
                  </a:lnTo>
                  <a:lnTo>
                    <a:pt x="432" y="146"/>
                  </a:lnTo>
                  <a:lnTo>
                    <a:pt x="436" y="142"/>
                  </a:lnTo>
                  <a:lnTo>
                    <a:pt x="436" y="142"/>
                  </a:lnTo>
                  <a:lnTo>
                    <a:pt x="441" y="142"/>
                  </a:lnTo>
                  <a:lnTo>
                    <a:pt x="441" y="142"/>
                  </a:lnTo>
                  <a:lnTo>
                    <a:pt x="445" y="142"/>
                  </a:lnTo>
                  <a:lnTo>
                    <a:pt x="449" y="142"/>
                  </a:lnTo>
                  <a:lnTo>
                    <a:pt x="449" y="142"/>
                  </a:lnTo>
                  <a:lnTo>
                    <a:pt x="453" y="142"/>
                  </a:lnTo>
                  <a:lnTo>
                    <a:pt x="453" y="142"/>
                  </a:lnTo>
                  <a:lnTo>
                    <a:pt x="457" y="142"/>
                  </a:lnTo>
                  <a:lnTo>
                    <a:pt x="457" y="142"/>
                  </a:lnTo>
                  <a:lnTo>
                    <a:pt x="461" y="138"/>
                  </a:lnTo>
                  <a:lnTo>
                    <a:pt x="461" y="138"/>
                  </a:lnTo>
                  <a:lnTo>
                    <a:pt x="465" y="138"/>
                  </a:lnTo>
                  <a:lnTo>
                    <a:pt x="469" y="138"/>
                  </a:lnTo>
                  <a:lnTo>
                    <a:pt x="469" y="138"/>
                  </a:lnTo>
                  <a:lnTo>
                    <a:pt x="473" y="138"/>
                  </a:lnTo>
                  <a:lnTo>
                    <a:pt x="473" y="138"/>
                  </a:lnTo>
                  <a:lnTo>
                    <a:pt x="477" y="134"/>
                  </a:lnTo>
                  <a:lnTo>
                    <a:pt x="477" y="138"/>
                  </a:lnTo>
                  <a:lnTo>
                    <a:pt x="481" y="134"/>
                  </a:lnTo>
                  <a:lnTo>
                    <a:pt x="481" y="134"/>
                  </a:lnTo>
                  <a:lnTo>
                    <a:pt x="485" y="130"/>
                  </a:lnTo>
                  <a:lnTo>
                    <a:pt x="489" y="134"/>
                  </a:lnTo>
                  <a:lnTo>
                    <a:pt x="489" y="130"/>
                  </a:lnTo>
                  <a:lnTo>
                    <a:pt x="493" y="130"/>
                  </a:lnTo>
                  <a:lnTo>
                    <a:pt x="493" y="130"/>
                  </a:lnTo>
                  <a:lnTo>
                    <a:pt x="497" y="130"/>
                  </a:lnTo>
                  <a:lnTo>
                    <a:pt x="497" y="130"/>
                  </a:lnTo>
                  <a:lnTo>
                    <a:pt x="501" y="130"/>
                  </a:lnTo>
                  <a:lnTo>
                    <a:pt x="505" y="130"/>
                  </a:lnTo>
                  <a:lnTo>
                    <a:pt x="505" y="125"/>
                  </a:lnTo>
                  <a:lnTo>
                    <a:pt x="509" y="125"/>
                  </a:lnTo>
                  <a:lnTo>
                    <a:pt x="509" y="125"/>
                  </a:lnTo>
                  <a:lnTo>
                    <a:pt x="513" y="121"/>
                  </a:lnTo>
                  <a:lnTo>
                    <a:pt x="513" y="121"/>
                  </a:lnTo>
                  <a:lnTo>
                    <a:pt x="517" y="117"/>
                  </a:lnTo>
                  <a:lnTo>
                    <a:pt x="517" y="117"/>
                  </a:lnTo>
                  <a:lnTo>
                    <a:pt x="521" y="117"/>
                  </a:lnTo>
                  <a:lnTo>
                    <a:pt x="525" y="117"/>
                  </a:lnTo>
                  <a:lnTo>
                    <a:pt x="525" y="117"/>
                  </a:lnTo>
                  <a:lnTo>
                    <a:pt x="529" y="117"/>
                  </a:lnTo>
                  <a:lnTo>
                    <a:pt x="529" y="117"/>
                  </a:lnTo>
                  <a:lnTo>
                    <a:pt x="533" y="117"/>
                  </a:lnTo>
                  <a:lnTo>
                    <a:pt x="533" y="117"/>
                  </a:lnTo>
                  <a:lnTo>
                    <a:pt x="537" y="117"/>
                  </a:lnTo>
                  <a:lnTo>
                    <a:pt x="537" y="117"/>
                  </a:lnTo>
                  <a:lnTo>
                    <a:pt x="541" y="117"/>
                  </a:lnTo>
                  <a:lnTo>
                    <a:pt x="545" y="117"/>
                  </a:lnTo>
                  <a:lnTo>
                    <a:pt x="545" y="117"/>
                  </a:lnTo>
                  <a:lnTo>
                    <a:pt x="549" y="117"/>
                  </a:lnTo>
                  <a:lnTo>
                    <a:pt x="549" y="117"/>
                  </a:lnTo>
                  <a:lnTo>
                    <a:pt x="553" y="117"/>
                  </a:lnTo>
                  <a:lnTo>
                    <a:pt x="553" y="117"/>
                  </a:lnTo>
                  <a:lnTo>
                    <a:pt x="557" y="117"/>
                  </a:lnTo>
                  <a:lnTo>
                    <a:pt x="561" y="117"/>
                  </a:lnTo>
                  <a:lnTo>
                    <a:pt x="561" y="117"/>
                  </a:lnTo>
                  <a:lnTo>
                    <a:pt x="565" y="117"/>
                  </a:lnTo>
                  <a:lnTo>
                    <a:pt x="565" y="113"/>
                  </a:lnTo>
                  <a:lnTo>
                    <a:pt x="569" y="113"/>
                  </a:lnTo>
                  <a:lnTo>
                    <a:pt x="569" y="113"/>
                  </a:lnTo>
                  <a:lnTo>
                    <a:pt x="573" y="113"/>
                  </a:lnTo>
                  <a:lnTo>
                    <a:pt x="573" y="113"/>
                  </a:lnTo>
                  <a:lnTo>
                    <a:pt x="577" y="113"/>
                  </a:lnTo>
                  <a:lnTo>
                    <a:pt x="581" y="113"/>
                  </a:lnTo>
                  <a:lnTo>
                    <a:pt x="581" y="113"/>
                  </a:lnTo>
                  <a:lnTo>
                    <a:pt x="585" y="113"/>
                  </a:lnTo>
                  <a:lnTo>
                    <a:pt x="585" y="113"/>
                  </a:lnTo>
                  <a:lnTo>
                    <a:pt x="589" y="113"/>
                  </a:lnTo>
                  <a:lnTo>
                    <a:pt x="589" y="113"/>
                  </a:lnTo>
                  <a:lnTo>
                    <a:pt x="593" y="113"/>
                  </a:lnTo>
                  <a:lnTo>
                    <a:pt x="593" y="113"/>
                  </a:lnTo>
                  <a:lnTo>
                    <a:pt x="597" y="113"/>
                  </a:lnTo>
                  <a:lnTo>
                    <a:pt x="601" y="113"/>
                  </a:lnTo>
                  <a:lnTo>
                    <a:pt x="601" y="113"/>
                  </a:lnTo>
                  <a:lnTo>
                    <a:pt x="605" y="113"/>
                  </a:lnTo>
                  <a:lnTo>
                    <a:pt x="605" y="113"/>
                  </a:lnTo>
                  <a:lnTo>
                    <a:pt x="609" y="113"/>
                  </a:lnTo>
                  <a:lnTo>
                    <a:pt x="609" y="113"/>
                  </a:lnTo>
                  <a:lnTo>
                    <a:pt x="613" y="113"/>
                  </a:lnTo>
                  <a:lnTo>
                    <a:pt x="617" y="113"/>
                  </a:lnTo>
                  <a:lnTo>
                    <a:pt x="617" y="113"/>
                  </a:lnTo>
                  <a:lnTo>
                    <a:pt x="621" y="113"/>
                  </a:lnTo>
                  <a:lnTo>
                    <a:pt x="621" y="113"/>
                  </a:lnTo>
                  <a:lnTo>
                    <a:pt x="625" y="113"/>
                  </a:lnTo>
                  <a:lnTo>
                    <a:pt x="625" y="113"/>
                  </a:lnTo>
                  <a:lnTo>
                    <a:pt x="629" y="113"/>
                  </a:lnTo>
                  <a:lnTo>
                    <a:pt x="629" y="113"/>
                  </a:lnTo>
                  <a:lnTo>
                    <a:pt x="633" y="113"/>
                  </a:lnTo>
                  <a:lnTo>
                    <a:pt x="637" y="113"/>
                  </a:lnTo>
                  <a:lnTo>
                    <a:pt x="637" y="113"/>
                  </a:lnTo>
                  <a:lnTo>
                    <a:pt x="641" y="113"/>
                  </a:lnTo>
                  <a:lnTo>
                    <a:pt x="641" y="113"/>
                  </a:lnTo>
                  <a:lnTo>
                    <a:pt x="645" y="113"/>
                  </a:lnTo>
                  <a:lnTo>
                    <a:pt x="645" y="113"/>
                  </a:lnTo>
                  <a:lnTo>
                    <a:pt x="649" y="113"/>
                  </a:lnTo>
                  <a:lnTo>
                    <a:pt x="649" y="113"/>
                  </a:lnTo>
                  <a:lnTo>
                    <a:pt x="653" y="113"/>
                  </a:lnTo>
                  <a:lnTo>
                    <a:pt x="657" y="113"/>
                  </a:lnTo>
                  <a:lnTo>
                    <a:pt x="657" y="113"/>
                  </a:lnTo>
                  <a:lnTo>
                    <a:pt x="661" y="113"/>
                  </a:lnTo>
                  <a:lnTo>
                    <a:pt x="661" y="113"/>
                  </a:lnTo>
                  <a:lnTo>
                    <a:pt x="665" y="113"/>
                  </a:lnTo>
                  <a:lnTo>
                    <a:pt x="665" y="113"/>
                  </a:lnTo>
                  <a:lnTo>
                    <a:pt x="669" y="113"/>
                  </a:lnTo>
                  <a:lnTo>
                    <a:pt x="673" y="113"/>
                  </a:lnTo>
                  <a:lnTo>
                    <a:pt x="673" y="113"/>
                  </a:lnTo>
                  <a:lnTo>
                    <a:pt x="677" y="113"/>
                  </a:lnTo>
                  <a:lnTo>
                    <a:pt x="677" y="113"/>
                  </a:lnTo>
                  <a:lnTo>
                    <a:pt x="681" y="113"/>
                  </a:lnTo>
                  <a:lnTo>
                    <a:pt x="681" y="113"/>
                  </a:lnTo>
                  <a:lnTo>
                    <a:pt x="685" y="113"/>
                  </a:lnTo>
                  <a:lnTo>
                    <a:pt x="685" y="113"/>
                  </a:lnTo>
                  <a:lnTo>
                    <a:pt x="689" y="113"/>
                  </a:lnTo>
                  <a:lnTo>
                    <a:pt x="693" y="113"/>
                  </a:lnTo>
                  <a:lnTo>
                    <a:pt x="693" y="113"/>
                  </a:lnTo>
                  <a:lnTo>
                    <a:pt x="697" y="113"/>
                  </a:lnTo>
                  <a:lnTo>
                    <a:pt x="697" y="113"/>
                  </a:lnTo>
                  <a:lnTo>
                    <a:pt x="701" y="113"/>
                  </a:lnTo>
                  <a:lnTo>
                    <a:pt x="701" y="113"/>
                  </a:lnTo>
                  <a:lnTo>
                    <a:pt x="705" y="113"/>
                  </a:lnTo>
                  <a:lnTo>
                    <a:pt x="705" y="113"/>
                  </a:lnTo>
                  <a:lnTo>
                    <a:pt x="709" y="113"/>
                  </a:lnTo>
                  <a:lnTo>
                    <a:pt x="713" y="113"/>
                  </a:lnTo>
                  <a:lnTo>
                    <a:pt x="713" y="113"/>
                  </a:lnTo>
                  <a:lnTo>
                    <a:pt x="717" y="109"/>
                  </a:lnTo>
                  <a:lnTo>
                    <a:pt x="717" y="109"/>
                  </a:lnTo>
                  <a:lnTo>
                    <a:pt x="721" y="109"/>
                  </a:lnTo>
                  <a:lnTo>
                    <a:pt x="721" y="109"/>
                  </a:lnTo>
                  <a:lnTo>
                    <a:pt x="725" y="109"/>
                  </a:lnTo>
                  <a:lnTo>
                    <a:pt x="729" y="109"/>
                  </a:lnTo>
                  <a:lnTo>
                    <a:pt x="729" y="109"/>
                  </a:lnTo>
                  <a:lnTo>
                    <a:pt x="733" y="109"/>
                  </a:lnTo>
                  <a:lnTo>
                    <a:pt x="733" y="109"/>
                  </a:lnTo>
                  <a:lnTo>
                    <a:pt x="737" y="109"/>
                  </a:lnTo>
                  <a:lnTo>
                    <a:pt x="737" y="109"/>
                  </a:lnTo>
                  <a:lnTo>
                    <a:pt x="741" y="109"/>
                  </a:lnTo>
                  <a:lnTo>
                    <a:pt x="741" y="109"/>
                  </a:lnTo>
                  <a:lnTo>
                    <a:pt x="745" y="109"/>
                  </a:lnTo>
                  <a:lnTo>
                    <a:pt x="749" y="109"/>
                  </a:lnTo>
                  <a:lnTo>
                    <a:pt x="749" y="109"/>
                  </a:lnTo>
                  <a:lnTo>
                    <a:pt x="753" y="109"/>
                  </a:lnTo>
                  <a:lnTo>
                    <a:pt x="753" y="109"/>
                  </a:lnTo>
                  <a:lnTo>
                    <a:pt x="757" y="109"/>
                  </a:lnTo>
                  <a:lnTo>
                    <a:pt x="757" y="109"/>
                  </a:lnTo>
                  <a:lnTo>
                    <a:pt x="761" y="109"/>
                  </a:lnTo>
                  <a:lnTo>
                    <a:pt x="761" y="109"/>
                  </a:lnTo>
                  <a:lnTo>
                    <a:pt x="765" y="109"/>
                  </a:lnTo>
                  <a:lnTo>
                    <a:pt x="769" y="109"/>
                  </a:lnTo>
                  <a:lnTo>
                    <a:pt x="769" y="109"/>
                  </a:lnTo>
                  <a:lnTo>
                    <a:pt x="773" y="109"/>
                  </a:lnTo>
                  <a:lnTo>
                    <a:pt x="773" y="109"/>
                  </a:lnTo>
                  <a:lnTo>
                    <a:pt x="777" y="109"/>
                  </a:lnTo>
                  <a:lnTo>
                    <a:pt x="777" y="105"/>
                  </a:lnTo>
                  <a:lnTo>
                    <a:pt x="781" y="105"/>
                  </a:lnTo>
                  <a:lnTo>
                    <a:pt x="785" y="105"/>
                  </a:lnTo>
                  <a:lnTo>
                    <a:pt x="785" y="105"/>
                  </a:lnTo>
                  <a:lnTo>
                    <a:pt x="789" y="105"/>
                  </a:lnTo>
                  <a:lnTo>
                    <a:pt x="789" y="105"/>
                  </a:lnTo>
                  <a:lnTo>
                    <a:pt x="793" y="105"/>
                  </a:lnTo>
                  <a:lnTo>
                    <a:pt x="793" y="105"/>
                  </a:lnTo>
                  <a:lnTo>
                    <a:pt x="797" y="105"/>
                  </a:lnTo>
                  <a:lnTo>
                    <a:pt x="797" y="105"/>
                  </a:lnTo>
                  <a:lnTo>
                    <a:pt x="801" y="105"/>
                  </a:lnTo>
                  <a:lnTo>
                    <a:pt x="805" y="105"/>
                  </a:lnTo>
                  <a:lnTo>
                    <a:pt x="805" y="105"/>
                  </a:lnTo>
                  <a:lnTo>
                    <a:pt x="809" y="105"/>
                  </a:lnTo>
                  <a:lnTo>
                    <a:pt x="809" y="105"/>
                  </a:lnTo>
                  <a:lnTo>
                    <a:pt x="813" y="105"/>
                  </a:lnTo>
                  <a:lnTo>
                    <a:pt x="813" y="100"/>
                  </a:lnTo>
                  <a:lnTo>
                    <a:pt x="817" y="96"/>
                  </a:lnTo>
                  <a:lnTo>
                    <a:pt x="817" y="96"/>
                  </a:lnTo>
                  <a:lnTo>
                    <a:pt x="821" y="96"/>
                  </a:lnTo>
                  <a:lnTo>
                    <a:pt x="825" y="92"/>
                  </a:lnTo>
                  <a:lnTo>
                    <a:pt x="825" y="92"/>
                  </a:lnTo>
                  <a:lnTo>
                    <a:pt x="829" y="92"/>
                  </a:lnTo>
                  <a:lnTo>
                    <a:pt x="829" y="92"/>
                  </a:lnTo>
                  <a:lnTo>
                    <a:pt x="833" y="92"/>
                  </a:lnTo>
                  <a:lnTo>
                    <a:pt x="833" y="92"/>
                  </a:lnTo>
                  <a:lnTo>
                    <a:pt x="837" y="92"/>
                  </a:lnTo>
                  <a:lnTo>
                    <a:pt x="841" y="92"/>
                  </a:lnTo>
                  <a:lnTo>
                    <a:pt x="841" y="92"/>
                  </a:lnTo>
                  <a:lnTo>
                    <a:pt x="845" y="92"/>
                  </a:lnTo>
                  <a:lnTo>
                    <a:pt x="845" y="92"/>
                  </a:lnTo>
                  <a:lnTo>
                    <a:pt x="849" y="92"/>
                  </a:lnTo>
                  <a:lnTo>
                    <a:pt x="849" y="92"/>
                  </a:lnTo>
                  <a:lnTo>
                    <a:pt x="853" y="92"/>
                  </a:lnTo>
                  <a:lnTo>
                    <a:pt x="853" y="92"/>
                  </a:lnTo>
                  <a:lnTo>
                    <a:pt x="857" y="92"/>
                  </a:lnTo>
                  <a:lnTo>
                    <a:pt x="861" y="92"/>
                  </a:lnTo>
                  <a:lnTo>
                    <a:pt x="861" y="88"/>
                  </a:lnTo>
                  <a:lnTo>
                    <a:pt x="865" y="88"/>
                  </a:lnTo>
                  <a:lnTo>
                    <a:pt x="865" y="88"/>
                  </a:lnTo>
                  <a:lnTo>
                    <a:pt x="869" y="88"/>
                  </a:lnTo>
                  <a:lnTo>
                    <a:pt x="869" y="88"/>
                  </a:lnTo>
                  <a:lnTo>
                    <a:pt x="873" y="88"/>
                  </a:lnTo>
                  <a:lnTo>
                    <a:pt x="873" y="88"/>
                  </a:lnTo>
                  <a:lnTo>
                    <a:pt x="877" y="84"/>
                  </a:lnTo>
                  <a:lnTo>
                    <a:pt x="881" y="84"/>
                  </a:lnTo>
                  <a:lnTo>
                    <a:pt x="881" y="84"/>
                  </a:lnTo>
                  <a:lnTo>
                    <a:pt x="885" y="84"/>
                  </a:lnTo>
                  <a:lnTo>
                    <a:pt x="885" y="80"/>
                  </a:lnTo>
                  <a:lnTo>
                    <a:pt x="889" y="84"/>
                  </a:lnTo>
                  <a:lnTo>
                    <a:pt x="889" y="80"/>
                  </a:lnTo>
                  <a:lnTo>
                    <a:pt x="893" y="80"/>
                  </a:lnTo>
                  <a:lnTo>
                    <a:pt x="897" y="80"/>
                  </a:lnTo>
                  <a:lnTo>
                    <a:pt x="897" y="80"/>
                  </a:lnTo>
                  <a:lnTo>
                    <a:pt x="901" y="80"/>
                  </a:lnTo>
                  <a:lnTo>
                    <a:pt x="901" y="80"/>
                  </a:lnTo>
                  <a:lnTo>
                    <a:pt x="905" y="80"/>
                  </a:lnTo>
                  <a:lnTo>
                    <a:pt x="905" y="80"/>
                  </a:lnTo>
                  <a:lnTo>
                    <a:pt x="909" y="80"/>
                  </a:lnTo>
                  <a:lnTo>
                    <a:pt x="909" y="80"/>
                  </a:lnTo>
                  <a:lnTo>
                    <a:pt x="913" y="75"/>
                  </a:lnTo>
                  <a:lnTo>
                    <a:pt x="917" y="75"/>
                  </a:lnTo>
                  <a:lnTo>
                    <a:pt x="917" y="80"/>
                  </a:lnTo>
                  <a:lnTo>
                    <a:pt x="922" y="80"/>
                  </a:lnTo>
                  <a:lnTo>
                    <a:pt x="922" y="80"/>
                  </a:lnTo>
                  <a:lnTo>
                    <a:pt x="926" y="80"/>
                  </a:lnTo>
                  <a:lnTo>
                    <a:pt x="926" y="75"/>
                  </a:lnTo>
                  <a:lnTo>
                    <a:pt x="930" y="75"/>
                  </a:lnTo>
                  <a:lnTo>
                    <a:pt x="930" y="75"/>
                  </a:lnTo>
                  <a:lnTo>
                    <a:pt x="934" y="75"/>
                  </a:lnTo>
                  <a:lnTo>
                    <a:pt x="938" y="75"/>
                  </a:lnTo>
                  <a:lnTo>
                    <a:pt x="938" y="75"/>
                  </a:lnTo>
                  <a:lnTo>
                    <a:pt x="942" y="75"/>
                  </a:lnTo>
                  <a:lnTo>
                    <a:pt x="942" y="75"/>
                  </a:lnTo>
                  <a:lnTo>
                    <a:pt x="946" y="75"/>
                  </a:lnTo>
                  <a:lnTo>
                    <a:pt x="946" y="75"/>
                  </a:lnTo>
                  <a:lnTo>
                    <a:pt x="950" y="75"/>
                  </a:lnTo>
                  <a:lnTo>
                    <a:pt x="954" y="75"/>
                  </a:lnTo>
                  <a:lnTo>
                    <a:pt x="954" y="75"/>
                  </a:lnTo>
                  <a:lnTo>
                    <a:pt x="958" y="75"/>
                  </a:lnTo>
                  <a:lnTo>
                    <a:pt x="958" y="75"/>
                  </a:lnTo>
                  <a:lnTo>
                    <a:pt x="962" y="71"/>
                  </a:lnTo>
                  <a:lnTo>
                    <a:pt x="962" y="75"/>
                  </a:lnTo>
                  <a:lnTo>
                    <a:pt x="966" y="71"/>
                  </a:lnTo>
                  <a:lnTo>
                    <a:pt x="966" y="71"/>
                  </a:lnTo>
                  <a:lnTo>
                    <a:pt x="970" y="75"/>
                  </a:lnTo>
                  <a:lnTo>
                    <a:pt x="974" y="75"/>
                  </a:lnTo>
                  <a:lnTo>
                    <a:pt x="974" y="71"/>
                  </a:lnTo>
                  <a:lnTo>
                    <a:pt x="978" y="71"/>
                  </a:lnTo>
                  <a:lnTo>
                    <a:pt x="978" y="71"/>
                  </a:lnTo>
                  <a:lnTo>
                    <a:pt x="982" y="71"/>
                  </a:lnTo>
                  <a:lnTo>
                    <a:pt x="982" y="71"/>
                  </a:lnTo>
                  <a:lnTo>
                    <a:pt x="986" y="71"/>
                  </a:lnTo>
                  <a:lnTo>
                    <a:pt x="986" y="71"/>
                  </a:lnTo>
                  <a:lnTo>
                    <a:pt x="990" y="71"/>
                  </a:lnTo>
                  <a:lnTo>
                    <a:pt x="994" y="71"/>
                  </a:lnTo>
                  <a:lnTo>
                    <a:pt x="994" y="71"/>
                  </a:lnTo>
                  <a:lnTo>
                    <a:pt x="998" y="71"/>
                  </a:lnTo>
                  <a:lnTo>
                    <a:pt x="998" y="71"/>
                  </a:lnTo>
                  <a:lnTo>
                    <a:pt x="1002" y="71"/>
                  </a:lnTo>
                  <a:lnTo>
                    <a:pt x="1002" y="71"/>
                  </a:lnTo>
                  <a:lnTo>
                    <a:pt x="1006" y="71"/>
                  </a:lnTo>
                  <a:lnTo>
                    <a:pt x="1010" y="67"/>
                  </a:lnTo>
                  <a:lnTo>
                    <a:pt x="1010" y="67"/>
                  </a:lnTo>
                  <a:lnTo>
                    <a:pt x="1014" y="67"/>
                  </a:lnTo>
                  <a:lnTo>
                    <a:pt x="1014" y="71"/>
                  </a:lnTo>
                  <a:lnTo>
                    <a:pt x="1018" y="67"/>
                  </a:lnTo>
                  <a:lnTo>
                    <a:pt x="1018" y="63"/>
                  </a:lnTo>
                  <a:lnTo>
                    <a:pt x="1022" y="63"/>
                  </a:lnTo>
                  <a:lnTo>
                    <a:pt x="1022" y="63"/>
                  </a:lnTo>
                  <a:lnTo>
                    <a:pt x="1026" y="63"/>
                  </a:lnTo>
                  <a:lnTo>
                    <a:pt x="1030" y="59"/>
                  </a:lnTo>
                  <a:lnTo>
                    <a:pt x="1030" y="59"/>
                  </a:lnTo>
                  <a:lnTo>
                    <a:pt x="1034" y="59"/>
                  </a:lnTo>
                  <a:lnTo>
                    <a:pt x="1034" y="63"/>
                  </a:lnTo>
                  <a:lnTo>
                    <a:pt x="1038" y="63"/>
                  </a:lnTo>
                  <a:lnTo>
                    <a:pt x="1038" y="59"/>
                  </a:lnTo>
                  <a:lnTo>
                    <a:pt x="1042" y="67"/>
                  </a:lnTo>
                  <a:lnTo>
                    <a:pt x="1042" y="59"/>
                  </a:lnTo>
                  <a:lnTo>
                    <a:pt x="1046" y="59"/>
                  </a:lnTo>
                  <a:lnTo>
                    <a:pt x="1050" y="63"/>
                  </a:lnTo>
                  <a:lnTo>
                    <a:pt x="1050" y="63"/>
                  </a:lnTo>
                  <a:lnTo>
                    <a:pt x="1054" y="63"/>
                  </a:lnTo>
                  <a:lnTo>
                    <a:pt x="1054" y="63"/>
                  </a:lnTo>
                  <a:lnTo>
                    <a:pt x="1058" y="63"/>
                  </a:lnTo>
                  <a:lnTo>
                    <a:pt x="1058" y="63"/>
                  </a:lnTo>
                  <a:lnTo>
                    <a:pt x="1062" y="63"/>
                  </a:lnTo>
                  <a:lnTo>
                    <a:pt x="1066" y="63"/>
                  </a:lnTo>
                  <a:lnTo>
                    <a:pt x="1066" y="63"/>
                  </a:lnTo>
                  <a:lnTo>
                    <a:pt x="1070" y="59"/>
                  </a:lnTo>
                  <a:lnTo>
                    <a:pt x="1070" y="59"/>
                  </a:lnTo>
                  <a:lnTo>
                    <a:pt x="1074" y="63"/>
                  </a:lnTo>
                  <a:lnTo>
                    <a:pt x="1074" y="63"/>
                  </a:lnTo>
                  <a:lnTo>
                    <a:pt x="1078" y="63"/>
                  </a:lnTo>
                  <a:lnTo>
                    <a:pt x="1078" y="63"/>
                  </a:lnTo>
                  <a:lnTo>
                    <a:pt x="1082" y="63"/>
                  </a:lnTo>
                  <a:lnTo>
                    <a:pt x="1086" y="63"/>
                  </a:lnTo>
                  <a:lnTo>
                    <a:pt x="1086" y="63"/>
                  </a:lnTo>
                  <a:lnTo>
                    <a:pt x="1090" y="63"/>
                  </a:lnTo>
                  <a:lnTo>
                    <a:pt x="1090" y="63"/>
                  </a:lnTo>
                  <a:lnTo>
                    <a:pt x="1094" y="63"/>
                  </a:lnTo>
                  <a:lnTo>
                    <a:pt x="1094" y="63"/>
                  </a:lnTo>
                  <a:lnTo>
                    <a:pt x="1098" y="63"/>
                  </a:lnTo>
                  <a:lnTo>
                    <a:pt x="1098" y="63"/>
                  </a:lnTo>
                  <a:lnTo>
                    <a:pt x="1102" y="63"/>
                  </a:lnTo>
                  <a:lnTo>
                    <a:pt x="1106" y="63"/>
                  </a:lnTo>
                  <a:lnTo>
                    <a:pt x="1106" y="63"/>
                  </a:lnTo>
                  <a:lnTo>
                    <a:pt x="1110" y="63"/>
                  </a:lnTo>
                  <a:lnTo>
                    <a:pt x="1110" y="63"/>
                  </a:lnTo>
                  <a:lnTo>
                    <a:pt x="1114" y="63"/>
                  </a:lnTo>
                  <a:lnTo>
                    <a:pt x="1114" y="63"/>
                  </a:lnTo>
                  <a:lnTo>
                    <a:pt x="1118" y="63"/>
                  </a:lnTo>
                  <a:lnTo>
                    <a:pt x="1122" y="63"/>
                  </a:lnTo>
                  <a:lnTo>
                    <a:pt x="1122" y="4"/>
                  </a:lnTo>
                  <a:lnTo>
                    <a:pt x="1118" y="4"/>
                  </a:lnTo>
                  <a:lnTo>
                    <a:pt x="1114" y="4"/>
                  </a:lnTo>
                  <a:lnTo>
                    <a:pt x="1114" y="4"/>
                  </a:lnTo>
                  <a:lnTo>
                    <a:pt x="1110" y="4"/>
                  </a:lnTo>
                  <a:lnTo>
                    <a:pt x="1110" y="4"/>
                  </a:lnTo>
                  <a:lnTo>
                    <a:pt x="1106" y="4"/>
                  </a:lnTo>
                  <a:lnTo>
                    <a:pt x="1106" y="4"/>
                  </a:lnTo>
                  <a:lnTo>
                    <a:pt x="1102" y="4"/>
                  </a:lnTo>
                  <a:lnTo>
                    <a:pt x="1098" y="4"/>
                  </a:lnTo>
                  <a:lnTo>
                    <a:pt x="1098" y="4"/>
                  </a:lnTo>
                  <a:lnTo>
                    <a:pt x="1094" y="4"/>
                  </a:lnTo>
                  <a:lnTo>
                    <a:pt x="1094" y="4"/>
                  </a:lnTo>
                  <a:lnTo>
                    <a:pt x="1090" y="4"/>
                  </a:lnTo>
                  <a:lnTo>
                    <a:pt x="1090" y="4"/>
                  </a:lnTo>
                  <a:lnTo>
                    <a:pt x="1086" y="4"/>
                  </a:lnTo>
                  <a:lnTo>
                    <a:pt x="1086" y="4"/>
                  </a:lnTo>
                  <a:lnTo>
                    <a:pt x="1082" y="4"/>
                  </a:lnTo>
                  <a:lnTo>
                    <a:pt x="1078" y="4"/>
                  </a:lnTo>
                  <a:lnTo>
                    <a:pt x="1078" y="4"/>
                  </a:lnTo>
                  <a:lnTo>
                    <a:pt x="1074" y="4"/>
                  </a:lnTo>
                  <a:lnTo>
                    <a:pt x="1074" y="4"/>
                  </a:lnTo>
                  <a:lnTo>
                    <a:pt x="1070" y="4"/>
                  </a:lnTo>
                  <a:lnTo>
                    <a:pt x="1070" y="4"/>
                  </a:lnTo>
                  <a:lnTo>
                    <a:pt x="1066" y="4"/>
                  </a:lnTo>
                  <a:lnTo>
                    <a:pt x="1066" y="4"/>
                  </a:lnTo>
                  <a:lnTo>
                    <a:pt x="1062" y="4"/>
                  </a:lnTo>
                  <a:lnTo>
                    <a:pt x="1058" y="4"/>
                  </a:lnTo>
                  <a:lnTo>
                    <a:pt x="1058" y="4"/>
                  </a:lnTo>
                  <a:lnTo>
                    <a:pt x="1054" y="4"/>
                  </a:lnTo>
                  <a:lnTo>
                    <a:pt x="1054" y="4"/>
                  </a:lnTo>
                  <a:lnTo>
                    <a:pt x="1050" y="4"/>
                  </a:lnTo>
                  <a:lnTo>
                    <a:pt x="1050" y="4"/>
                  </a:lnTo>
                  <a:lnTo>
                    <a:pt x="1046" y="4"/>
                  </a:lnTo>
                  <a:lnTo>
                    <a:pt x="1042" y="4"/>
                  </a:lnTo>
                  <a:lnTo>
                    <a:pt x="1042" y="9"/>
                  </a:lnTo>
                  <a:lnTo>
                    <a:pt x="1038" y="0"/>
                  </a:lnTo>
                  <a:lnTo>
                    <a:pt x="1038" y="4"/>
                  </a:lnTo>
                  <a:lnTo>
                    <a:pt x="1034" y="4"/>
                  </a:lnTo>
                  <a:lnTo>
                    <a:pt x="1034" y="4"/>
                  </a:lnTo>
                  <a:lnTo>
                    <a:pt x="1030" y="4"/>
                  </a:lnTo>
                  <a:lnTo>
                    <a:pt x="1030" y="4"/>
                  </a:lnTo>
                  <a:lnTo>
                    <a:pt x="1026" y="9"/>
                  </a:lnTo>
                  <a:lnTo>
                    <a:pt x="1022" y="9"/>
                  </a:lnTo>
                  <a:lnTo>
                    <a:pt x="1022" y="9"/>
                  </a:lnTo>
                  <a:lnTo>
                    <a:pt x="1018" y="9"/>
                  </a:lnTo>
                  <a:lnTo>
                    <a:pt x="1018" y="13"/>
                  </a:lnTo>
                  <a:lnTo>
                    <a:pt x="1014" y="17"/>
                  </a:lnTo>
                  <a:lnTo>
                    <a:pt x="1014" y="13"/>
                  </a:lnTo>
                  <a:lnTo>
                    <a:pt x="1010" y="13"/>
                  </a:lnTo>
                  <a:lnTo>
                    <a:pt x="1010" y="13"/>
                  </a:lnTo>
                  <a:lnTo>
                    <a:pt x="1006" y="13"/>
                  </a:lnTo>
                  <a:lnTo>
                    <a:pt x="1002" y="13"/>
                  </a:lnTo>
                  <a:lnTo>
                    <a:pt x="1002" y="13"/>
                  </a:lnTo>
                  <a:lnTo>
                    <a:pt x="998" y="13"/>
                  </a:lnTo>
                  <a:lnTo>
                    <a:pt x="998" y="13"/>
                  </a:lnTo>
                  <a:lnTo>
                    <a:pt x="994" y="17"/>
                  </a:lnTo>
                  <a:lnTo>
                    <a:pt x="994" y="13"/>
                  </a:lnTo>
                  <a:lnTo>
                    <a:pt x="990" y="13"/>
                  </a:lnTo>
                  <a:lnTo>
                    <a:pt x="986" y="17"/>
                  </a:lnTo>
                  <a:lnTo>
                    <a:pt x="986" y="17"/>
                  </a:lnTo>
                  <a:lnTo>
                    <a:pt x="982" y="17"/>
                  </a:lnTo>
                  <a:lnTo>
                    <a:pt x="982" y="17"/>
                  </a:lnTo>
                  <a:lnTo>
                    <a:pt x="978" y="17"/>
                  </a:lnTo>
                  <a:lnTo>
                    <a:pt x="978" y="17"/>
                  </a:lnTo>
                  <a:lnTo>
                    <a:pt x="974" y="17"/>
                  </a:lnTo>
                  <a:lnTo>
                    <a:pt x="974" y="17"/>
                  </a:lnTo>
                  <a:lnTo>
                    <a:pt x="970" y="17"/>
                  </a:lnTo>
                  <a:lnTo>
                    <a:pt x="966" y="17"/>
                  </a:lnTo>
                  <a:lnTo>
                    <a:pt x="966" y="17"/>
                  </a:lnTo>
                  <a:lnTo>
                    <a:pt x="962" y="17"/>
                  </a:lnTo>
                  <a:lnTo>
                    <a:pt x="962" y="17"/>
                  </a:lnTo>
                  <a:lnTo>
                    <a:pt x="958" y="17"/>
                  </a:lnTo>
                  <a:lnTo>
                    <a:pt x="958" y="17"/>
                  </a:lnTo>
                  <a:lnTo>
                    <a:pt x="954" y="17"/>
                  </a:lnTo>
                  <a:lnTo>
                    <a:pt x="954" y="17"/>
                  </a:lnTo>
                  <a:lnTo>
                    <a:pt x="950" y="17"/>
                  </a:lnTo>
                  <a:lnTo>
                    <a:pt x="946" y="21"/>
                  </a:lnTo>
                  <a:lnTo>
                    <a:pt x="946" y="21"/>
                  </a:lnTo>
                  <a:lnTo>
                    <a:pt x="942" y="21"/>
                  </a:lnTo>
                  <a:lnTo>
                    <a:pt x="942" y="21"/>
                  </a:lnTo>
                  <a:lnTo>
                    <a:pt x="938" y="21"/>
                  </a:lnTo>
                  <a:lnTo>
                    <a:pt x="938" y="21"/>
                  </a:lnTo>
                  <a:lnTo>
                    <a:pt x="934" y="21"/>
                  </a:lnTo>
                  <a:lnTo>
                    <a:pt x="930" y="21"/>
                  </a:lnTo>
                  <a:lnTo>
                    <a:pt x="930" y="21"/>
                  </a:lnTo>
                  <a:lnTo>
                    <a:pt x="926" y="21"/>
                  </a:lnTo>
                  <a:lnTo>
                    <a:pt x="926" y="21"/>
                  </a:lnTo>
                  <a:lnTo>
                    <a:pt x="922" y="21"/>
                  </a:lnTo>
                  <a:lnTo>
                    <a:pt x="922" y="21"/>
                  </a:lnTo>
                  <a:lnTo>
                    <a:pt x="917" y="21"/>
                  </a:lnTo>
                  <a:lnTo>
                    <a:pt x="917" y="21"/>
                  </a:lnTo>
                  <a:lnTo>
                    <a:pt x="913" y="21"/>
                  </a:lnTo>
                  <a:lnTo>
                    <a:pt x="909" y="21"/>
                  </a:lnTo>
                  <a:lnTo>
                    <a:pt x="909" y="21"/>
                  </a:lnTo>
                  <a:lnTo>
                    <a:pt x="905" y="21"/>
                  </a:lnTo>
                  <a:lnTo>
                    <a:pt x="905" y="21"/>
                  </a:lnTo>
                  <a:lnTo>
                    <a:pt x="901" y="21"/>
                  </a:lnTo>
                  <a:lnTo>
                    <a:pt x="901" y="21"/>
                  </a:lnTo>
                  <a:lnTo>
                    <a:pt x="897" y="21"/>
                  </a:lnTo>
                  <a:lnTo>
                    <a:pt x="897" y="21"/>
                  </a:lnTo>
                  <a:lnTo>
                    <a:pt x="893" y="21"/>
                  </a:lnTo>
                  <a:lnTo>
                    <a:pt x="889" y="21"/>
                  </a:lnTo>
                  <a:lnTo>
                    <a:pt x="889" y="25"/>
                  </a:lnTo>
                  <a:lnTo>
                    <a:pt x="885" y="21"/>
                  </a:lnTo>
                  <a:lnTo>
                    <a:pt x="885" y="25"/>
                  </a:lnTo>
                  <a:lnTo>
                    <a:pt x="881" y="25"/>
                  </a:lnTo>
                  <a:lnTo>
                    <a:pt x="881" y="25"/>
                  </a:lnTo>
                  <a:lnTo>
                    <a:pt x="877" y="25"/>
                  </a:lnTo>
                  <a:lnTo>
                    <a:pt x="873" y="25"/>
                  </a:lnTo>
                  <a:lnTo>
                    <a:pt x="873" y="25"/>
                  </a:lnTo>
                  <a:lnTo>
                    <a:pt x="869" y="25"/>
                  </a:lnTo>
                  <a:lnTo>
                    <a:pt x="869" y="25"/>
                  </a:lnTo>
                  <a:lnTo>
                    <a:pt x="865" y="25"/>
                  </a:lnTo>
                  <a:lnTo>
                    <a:pt x="865" y="25"/>
                  </a:lnTo>
                  <a:lnTo>
                    <a:pt x="861" y="25"/>
                  </a:lnTo>
                  <a:lnTo>
                    <a:pt x="861" y="29"/>
                  </a:lnTo>
                  <a:lnTo>
                    <a:pt x="857" y="29"/>
                  </a:lnTo>
                  <a:lnTo>
                    <a:pt x="853" y="29"/>
                  </a:lnTo>
                  <a:lnTo>
                    <a:pt x="853" y="29"/>
                  </a:lnTo>
                  <a:lnTo>
                    <a:pt x="849" y="29"/>
                  </a:lnTo>
                  <a:lnTo>
                    <a:pt x="849" y="29"/>
                  </a:lnTo>
                  <a:lnTo>
                    <a:pt x="845" y="29"/>
                  </a:lnTo>
                  <a:lnTo>
                    <a:pt x="845" y="29"/>
                  </a:lnTo>
                  <a:lnTo>
                    <a:pt x="841" y="29"/>
                  </a:lnTo>
                  <a:lnTo>
                    <a:pt x="841" y="29"/>
                  </a:lnTo>
                  <a:lnTo>
                    <a:pt x="837" y="29"/>
                  </a:lnTo>
                  <a:lnTo>
                    <a:pt x="833" y="29"/>
                  </a:lnTo>
                  <a:lnTo>
                    <a:pt x="833" y="29"/>
                  </a:lnTo>
                  <a:lnTo>
                    <a:pt x="829" y="29"/>
                  </a:lnTo>
                  <a:lnTo>
                    <a:pt x="829" y="29"/>
                  </a:lnTo>
                  <a:lnTo>
                    <a:pt x="825" y="29"/>
                  </a:lnTo>
                  <a:lnTo>
                    <a:pt x="825" y="29"/>
                  </a:lnTo>
                  <a:lnTo>
                    <a:pt x="821" y="29"/>
                  </a:lnTo>
                  <a:lnTo>
                    <a:pt x="817" y="29"/>
                  </a:lnTo>
                  <a:lnTo>
                    <a:pt x="817" y="34"/>
                  </a:lnTo>
                  <a:lnTo>
                    <a:pt x="813" y="34"/>
                  </a:lnTo>
                  <a:lnTo>
                    <a:pt x="813" y="38"/>
                  </a:lnTo>
                  <a:lnTo>
                    <a:pt x="809" y="38"/>
                  </a:lnTo>
                  <a:lnTo>
                    <a:pt x="809" y="38"/>
                  </a:lnTo>
                  <a:lnTo>
                    <a:pt x="805" y="38"/>
                  </a:lnTo>
                  <a:lnTo>
                    <a:pt x="805" y="38"/>
                  </a:lnTo>
                  <a:lnTo>
                    <a:pt x="801" y="38"/>
                  </a:lnTo>
                  <a:lnTo>
                    <a:pt x="797" y="38"/>
                  </a:lnTo>
                  <a:lnTo>
                    <a:pt x="797" y="38"/>
                  </a:lnTo>
                  <a:lnTo>
                    <a:pt x="793" y="38"/>
                  </a:lnTo>
                  <a:lnTo>
                    <a:pt x="793" y="38"/>
                  </a:lnTo>
                  <a:lnTo>
                    <a:pt x="789" y="38"/>
                  </a:lnTo>
                  <a:lnTo>
                    <a:pt x="789" y="38"/>
                  </a:lnTo>
                  <a:lnTo>
                    <a:pt x="785" y="38"/>
                  </a:lnTo>
                  <a:lnTo>
                    <a:pt x="785" y="38"/>
                  </a:lnTo>
                  <a:lnTo>
                    <a:pt x="781" y="38"/>
                  </a:lnTo>
                  <a:lnTo>
                    <a:pt x="777" y="38"/>
                  </a:lnTo>
                  <a:lnTo>
                    <a:pt x="777" y="42"/>
                  </a:lnTo>
                  <a:lnTo>
                    <a:pt x="773" y="38"/>
                  </a:lnTo>
                  <a:lnTo>
                    <a:pt x="773" y="38"/>
                  </a:lnTo>
                  <a:lnTo>
                    <a:pt x="769" y="42"/>
                  </a:lnTo>
                  <a:lnTo>
                    <a:pt x="769" y="42"/>
                  </a:lnTo>
                  <a:lnTo>
                    <a:pt x="765" y="42"/>
                  </a:lnTo>
                  <a:lnTo>
                    <a:pt x="761" y="42"/>
                  </a:lnTo>
                  <a:lnTo>
                    <a:pt x="761" y="42"/>
                  </a:lnTo>
                  <a:lnTo>
                    <a:pt x="757" y="42"/>
                  </a:lnTo>
                  <a:lnTo>
                    <a:pt x="757" y="42"/>
                  </a:lnTo>
                  <a:lnTo>
                    <a:pt x="753" y="42"/>
                  </a:lnTo>
                  <a:lnTo>
                    <a:pt x="753" y="42"/>
                  </a:lnTo>
                  <a:lnTo>
                    <a:pt x="749" y="42"/>
                  </a:lnTo>
                  <a:lnTo>
                    <a:pt x="749" y="42"/>
                  </a:lnTo>
                  <a:lnTo>
                    <a:pt x="745" y="42"/>
                  </a:lnTo>
                  <a:lnTo>
                    <a:pt x="741" y="42"/>
                  </a:lnTo>
                  <a:lnTo>
                    <a:pt x="741" y="42"/>
                  </a:lnTo>
                  <a:lnTo>
                    <a:pt x="737" y="42"/>
                  </a:lnTo>
                  <a:lnTo>
                    <a:pt x="737" y="42"/>
                  </a:lnTo>
                  <a:lnTo>
                    <a:pt x="733" y="42"/>
                  </a:lnTo>
                  <a:lnTo>
                    <a:pt x="733" y="42"/>
                  </a:lnTo>
                  <a:lnTo>
                    <a:pt x="729" y="42"/>
                  </a:lnTo>
                  <a:lnTo>
                    <a:pt x="729" y="42"/>
                  </a:lnTo>
                  <a:lnTo>
                    <a:pt x="725" y="42"/>
                  </a:lnTo>
                  <a:lnTo>
                    <a:pt x="721" y="42"/>
                  </a:lnTo>
                  <a:lnTo>
                    <a:pt x="721" y="42"/>
                  </a:lnTo>
                  <a:lnTo>
                    <a:pt x="717" y="42"/>
                  </a:lnTo>
                  <a:lnTo>
                    <a:pt x="717" y="42"/>
                  </a:lnTo>
                  <a:lnTo>
                    <a:pt x="713" y="46"/>
                  </a:lnTo>
                  <a:lnTo>
                    <a:pt x="713" y="42"/>
                  </a:lnTo>
                  <a:lnTo>
                    <a:pt x="709" y="42"/>
                  </a:lnTo>
                  <a:lnTo>
                    <a:pt x="705" y="42"/>
                  </a:lnTo>
                  <a:lnTo>
                    <a:pt x="705" y="46"/>
                  </a:lnTo>
                  <a:lnTo>
                    <a:pt x="701" y="46"/>
                  </a:lnTo>
                  <a:lnTo>
                    <a:pt x="701" y="46"/>
                  </a:lnTo>
                  <a:lnTo>
                    <a:pt x="697" y="46"/>
                  </a:lnTo>
                  <a:lnTo>
                    <a:pt x="697" y="46"/>
                  </a:lnTo>
                  <a:lnTo>
                    <a:pt x="693" y="46"/>
                  </a:lnTo>
                  <a:lnTo>
                    <a:pt x="693" y="46"/>
                  </a:lnTo>
                  <a:lnTo>
                    <a:pt x="689" y="46"/>
                  </a:lnTo>
                  <a:lnTo>
                    <a:pt x="685" y="46"/>
                  </a:lnTo>
                  <a:lnTo>
                    <a:pt x="685" y="46"/>
                  </a:lnTo>
                  <a:lnTo>
                    <a:pt x="681" y="46"/>
                  </a:lnTo>
                  <a:lnTo>
                    <a:pt x="681" y="46"/>
                  </a:lnTo>
                  <a:lnTo>
                    <a:pt x="677" y="46"/>
                  </a:lnTo>
                  <a:lnTo>
                    <a:pt x="677" y="46"/>
                  </a:lnTo>
                  <a:lnTo>
                    <a:pt x="673" y="46"/>
                  </a:lnTo>
                  <a:lnTo>
                    <a:pt x="673" y="46"/>
                  </a:lnTo>
                  <a:lnTo>
                    <a:pt x="669" y="46"/>
                  </a:lnTo>
                  <a:lnTo>
                    <a:pt x="665" y="46"/>
                  </a:lnTo>
                  <a:lnTo>
                    <a:pt x="665" y="46"/>
                  </a:lnTo>
                  <a:lnTo>
                    <a:pt x="661" y="46"/>
                  </a:lnTo>
                  <a:lnTo>
                    <a:pt x="661" y="46"/>
                  </a:lnTo>
                  <a:lnTo>
                    <a:pt x="657" y="46"/>
                  </a:lnTo>
                  <a:lnTo>
                    <a:pt x="657" y="46"/>
                  </a:lnTo>
                  <a:lnTo>
                    <a:pt x="653" y="46"/>
                  </a:lnTo>
                  <a:lnTo>
                    <a:pt x="649" y="46"/>
                  </a:lnTo>
                  <a:lnTo>
                    <a:pt x="649" y="46"/>
                  </a:lnTo>
                  <a:lnTo>
                    <a:pt x="645" y="46"/>
                  </a:lnTo>
                  <a:lnTo>
                    <a:pt x="645" y="46"/>
                  </a:lnTo>
                  <a:lnTo>
                    <a:pt x="641" y="46"/>
                  </a:lnTo>
                  <a:lnTo>
                    <a:pt x="641" y="46"/>
                  </a:lnTo>
                  <a:lnTo>
                    <a:pt x="637" y="46"/>
                  </a:lnTo>
                  <a:lnTo>
                    <a:pt x="637" y="46"/>
                  </a:lnTo>
                  <a:lnTo>
                    <a:pt x="633" y="46"/>
                  </a:lnTo>
                  <a:lnTo>
                    <a:pt x="629" y="46"/>
                  </a:lnTo>
                  <a:lnTo>
                    <a:pt x="629" y="46"/>
                  </a:lnTo>
                  <a:lnTo>
                    <a:pt x="625" y="42"/>
                  </a:lnTo>
                  <a:lnTo>
                    <a:pt x="625" y="42"/>
                  </a:lnTo>
                  <a:lnTo>
                    <a:pt x="621" y="42"/>
                  </a:lnTo>
                  <a:lnTo>
                    <a:pt x="621" y="42"/>
                  </a:lnTo>
                  <a:lnTo>
                    <a:pt x="617" y="46"/>
                  </a:lnTo>
                  <a:lnTo>
                    <a:pt x="617" y="46"/>
                  </a:lnTo>
                  <a:lnTo>
                    <a:pt x="613" y="42"/>
                  </a:lnTo>
                  <a:lnTo>
                    <a:pt x="609" y="46"/>
                  </a:lnTo>
                  <a:lnTo>
                    <a:pt x="609" y="46"/>
                  </a:lnTo>
                  <a:lnTo>
                    <a:pt x="605" y="46"/>
                  </a:lnTo>
                  <a:lnTo>
                    <a:pt x="605" y="46"/>
                  </a:lnTo>
                  <a:lnTo>
                    <a:pt x="601" y="46"/>
                  </a:lnTo>
                  <a:lnTo>
                    <a:pt x="601" y="46"/>
                  </a:lnTo>
                  <a:lnTo>
                    <a:pt x="597" y="46"/>
                  </a:lnTo>
                  <a:lnTo>
                    <a:pt x="593" y="46"/>
                  </a:lnTo>
                  <a:lnTo>
                    <a:pt x="593" y="46"/>
                  </a:lnTo>
                  <a:lnTo>
                    <a:pt x="589" y="46"/>
                  </a:lnTo>
                  <a:lnTo>
                    <a:pt x="589" y="46"/>
                  </a:lnTo>
                  <a:lnTo>
                    <a:pt x="585" y="46"/>
                  </a:lnTo>
                  <a:lnTo>
                    <a:pt x="585" y="46"/>
                  </a:lnTo>
                  <a:lnTo>
                    <a:pt x="581" y="46"/>
                  </a:lnTo>
                  <a:lnTo>
                    <a:pt x="581" y="46"/>
                  </a:lnTo>
                  <a:lnTo>
                    <a:pt x="577" y="46"/>
                  </a:lnTo>
                  <a:lnTo>
                    <a:pt x="573" y="46"/>
                  </a:lnTo>
                  <a:lnTo>
                    <a:pt x="573" y="46"/>
                  </a:lnTo>
                  <a:lnTo>
                    <a:pt x="569" y="46"/>
                  </a:lnTo>
                  <a:lnTo>
                    <a:pt x="569" y="46"/>
                  </a:lnTo>
                  <a:lnTo>
                    <a:pt x="565" y="46"/>
                  </a:lnTo>
                  <a:lnTo>
                    <a:pt x="565" y="46"/>
                  </a:lnTo>
                  <a:lnTo>
                    <a:pt x="561" y="46"/>
                  </a:lnTo>
                  <a:lnTo>
                    <a:pt x="561" y="46"/>
                  </a:lnTo>
                  <a:lnTo>
                    <a:pt x="557" y="50"/>
                  </a:lnTo>
                  <a:lnTo>
                    <a:pt x="553" y="50"/>
                  </a:lnTo>
                  <a:lnTo>
                    <a:pt x="553" y="50"/>
                  </a:lnTo>
                  <a:lnTo>
                    <a:pt x="549" y="50"/>
                  </a:lnTo>
                  <a:lnTo>
                    <a:pt x="549" y="50"/>
                  </a:lnTo>
                  <a:lnTo>
                    <a:pt x="545" y="50"/>
                  </a:lnTo>
                  <a:lnTo>
                    <a:pt x="545" y="50"/>
                  </a:lnTo>
                  <a:lnTo>
                    <a:pt x="541" y="50"/>
                  </a:lnTo>
                  <a:lnTo>
                    <a:pt x="537" y="50"/>
                  </a:lnTo>
                  <a:lnTo>
                    <a:pt x="537" y="50"/>
                  </a:lnTo>
                  <a:lnTo>
                    <a:pt x="533" y="50"/>
                  </a:lnTo>
                  <a:lnTo>
                    <a:pt x="533" y="46"/>
                  </a:lnTo>
                  <a:lnTo>
                    <a:pt x="529" y="46"/>
                  </a:lnTo>
                  <a:lnTo>
                    <a:pt x="529" y="46"/>
                  </a:lnTo>
                  <a:lnTo>
                    <a:pt x="525" y="46"/>
                  </a:lnTo>
                  <a:lnTo>
                    <a:pt x="525" y="50"/>
                  </a:lnTo>
                  <a:lnTo>
                    <a:pt x="521" y="46"/>
                  </a:lnTo>
                  <a:lnTo>
                    <a:pt x="517" y="50"/>
                  </a:lnTo>
                  <a:lnTo>
                    <a:pt x="517" y="50"/>
                  </a:lnTo>
                  <a:lnTo>
                    <a:pt x="513" y="50"/>
                  </a:lnTo>
                  <a:lnTo>
                    <a:pt x="513" y="54"/>
                  </a:lnTo>
                  <a:lnTo>
                    <a:pt x="509" y="54"/>
                  </a:lnTo>
                  <a:lnTo>
                    <a:pt x="509" y="59"/>
                  </a:lnTo>
                  <a:lnTo>
                    <a:pt x="505" y="59"/>
                  </a:lnTo>
                  <a:lnTo>
                    <a:pt x="505" y="59"/>
                  </a:lnTo>
                  <a:lnTo>
                    <a:pt x="501" y="59"/>
                  </a:lnTo>
                  <a:lnTo>
                    <a:pt x="497" y="59"/>
                  </a:lnTo>
                  <a:lnTo>
                    <a:pt x="497" y="59"/>
                  </a:lnTo>
                  <a:lnTo>
                    <a:pt x="493" y="63"/>
                  </a:lnTo>
                  <a:lnTo>
                    <a:pt x="493" y="59"/>
                  </a:lnTo>
                  <a:lnTo>
                    <a:pt x="489" y="63"/>
                  </a:lnTo>
                  <a:lnTo>
                    <a:pt x="489" y="63"/>
                  </a:lnTo>
                  <a:lnTo>
                    <a:pt x="485" y="63"/>
                  </a:lnTo>
                  <a:lnTo>
                    <a:pt x="481" y="63"/>
                  </a:lnTo>
                  <a:lnTo>
                    <a:pt x="481" y="63"/>
                  </a:lnTo>
                  <a:lnTo>
                    <a:pt x="477" y="63"/>
                  </a:lnTo>
                  <a:lnTo>
                    <a:pt x="477" y="63"/>
                  </a:lnTo>
                  <a:lnTo>
                    <a:pt x="473" y="67"/>
                  </a:lnTo>
                  <a:lnTo>
                    <a:pt x="473" y="67"/>
                  </a:lnTo>
                  <a:lnTo>
                    <a:pt x="469" y="67"/>
                  </a:lnTo>
                  <a:lnTo>
                    <a:pt x="469" y="67"/>
                  </a:lnTo>
                  <a:lnTo>
                    <a:pt x="465" y="67"/>
                  </a:lnTo>
                  <a:lnTo>
                    <a:pt x="461" y="67"/>
                  </a:lnTo>
                  <a:lnTo>
                    <a:pt x="461" y="67"/>
                  </a:lnTo>
                  <a:lnTo>
                    <a:pt x="457" y="67"/>
                  </a:lnTo>
                  <a:lnTo>
                    <a:pt x="457" y="67"/>
                  </a:lnTo>
                  <a:lnTo>
                    <a:pt x="453" y="71"/>
                  </a:lnTo>
                  <a:lnTo>
                    <a:pt x="453" y="71"/>
                  </a:lnTo>
                  <a:lnTo>
                    <a:pt x="449" y="71"/>
                  </a:lnTo>
                  <a:lnTo>
                    <a:pt x="449" y="71"/>
                  </a:lnTo>
                  <a:lnTo>
                    <a:pt x="445" y="71"/>
                  </a:lnTo>
                  <a:lnTo>
                    <a:pt x="441" y="71"/>
                  </a:lnTo>
                  <a:lnTo>
                    <a:pt x="441" y="71"/>
                  </a:lnTo>
                  <a:lnTo>
                    <a:pt x="436" y="71"/>
                  </a:lnTo>
                  <a:lnTo>
                    <a:pt x="436" y="71"/>
                  </a:lnTo>
                  <a:lnTo>
                    <a:pt x="432" y="71"/>
                  </a:lnTo>
                  <a:lnTo>
                    <a:pt x="432" y="71"/>
                  </a:lnTo>
                  <a:lnTo>
                    <a:pt x="428" y="71"/>
                  </a:lnTo>
                  <a:lnTo>
                    <a:pt x="424" y="71"/>
                  </a:lnTo>
                  <a:lnTo>
                    <a:pt x="424" y="75"/>
                  </a:lnTo>
                  <a:lnTo>
                    <a:pt x="420" y="75"/>
                  </a:lnTo>
                  <a:lnTo>
                    <a:pt x="420" y="80"/>
                  </a:lnTo>
                  <a:lnTo>
                    <a:pt x="416" y="80"/>
                  </a:lnTo>
                  <a:lnTo>
                    <a:pt x="416" y="80"/>
                  </a:lnTo>
                  <a:lnTo>
                    <a:pt x="412" y="80"/>
                  </a:lnTo>
                  <a:lnTo>
                    <a:pt x="412" y="80"/>
                  </a:lnTo>
                  <a:lnTo>
                    <a:pt x="408" y="84"/>
                  </a:lnTo>
                  <a:lnTo>
                    <a:pt x="404" y="80"/>
                  </a:lnTo>
                  <a:lnTo>
                    <a:pt x="404" y="80"/>
                  </a:lnTo>
                  <a:lnTo>
                    <a:pt x="400" y="88"/>
                  </a:lnTo>
                  <a:lnTo>
                    <a:pt x="400" y="88"/>
                  </a:lnTo>
                  <a:lnTo>
                    <a:pt x="396" y="88"/>
                  </a:lnTo>
                  <a:lnTo>
                    <a:pt x="396" y="88"/>
                  </a:lnTo>
                  <a:lnTo>
                    <a:pt x="392" y="88"/>
                  </a:lnTo>
                  <a:lnTo>
                    <a:pt x="392" y="88"/>
                  </a:lnTo>
                  <a:lnTo>
                    <a:pt x="388" y="88"/>
                  </a:lnTo>
                  <a:lnTo>
                    <a:pt x="384" y="88"/>
                  </a:lnTo>
                  <a:lnTo>
                    <a:pt x="384" y="88"/>
                  </a:lnTo>
                  <a:lnTo>
                    <a:pt x="380" y="88"/>
                  </a:lnTo>
                  <a:lnTo>
                    <a:pt x="380" y="88"/>
                  </a:lnTo>
                  <a:lnTo>
                    <a:pt x="376" y="88"/>
                  </a:lnTo>
                  <a:lnTo>
                    <a:pt x="376" y="88"/>
                  </a:lnTo>
                  <a:lnTo>
                    <a:pt x="372" y="92"/>
                  </a:lnTo>
                  <a:lnTo>
                    <a:pt x="368" y="92"/>
                  </a:lnTo>
                  <a:lnTo>
                    <a:pt x="368" y="96"/>
                  </a:lnTo>
                  <a:lnTo>
                    <a:pt x="364" y="96"/>
                  </a:lnTo>
                  <a:lnTo>
                    <a:pt x="364" y="96"/>
                  </a:lnTo>
                  <a:lnTo>
                    <a:pt x="360" y="96"/>
                  </a:lnTo>
                  <a:lnTo>
                    <a:pt x="360" y="96"/>
                  </a:lnTo>
                  <a:lnTo>
                    <a:pt x="356" y="96"/>
                  </a:lnTo>
                  <a:lnTo>
                    <a:pt x="356" y="100"/>
                  </a:lnTo>
                  <a:lnTo>
                    <a:pt x="352" y="100"/>
                  </a:lnTo>
                  <a:lnTo>
                    <a:pt x="348" y="100"/>
                  </a:lnTo>
                  <a:lnTo>
                    <a:pt x="348" y="105"/>
                  </a:lnTo>
                  <a:lnTo>
                    <a:pt x="344" y="96"/>
                  </a:lnTo>
                  <a:lnTo>
                    <a:pt x="344" y="96"/>
                  </a:lnTo>
                  <a:lnTo>
                    <a:pt x="340" y="109"/>
                  </a:lnTo>
                  <a:lnTo>
                    <a:pt x="340" y="109"/>
                  </a:lnTo>
                  <a:lnTo>
                    <a:pt x="336" y="109"/>
                  </a:lnTo>
                  <a:lnTo>
                    <a:pt x="336" y="109"/>
                  </a:lnTo>
                  <a:lnTo>
                    <a:pt x="332" y="109"/>
                  </a:lnTo>
                  <a:lnTo>
                    <a:pt x="328" y="105"/>
                  </a:lnTo>
                  <a:lnTo>
                    <a:pt x="328" y="109"/>
                  </a:lnTo>
                  <a:lnTo>
                    <a:pt x="324" y="109"/>
                  </a:lnTo>
                  <a:lnTo>
                    <a:pt x="324" y="109"/>
                  </a:lnTo>
                  <a:lnTo>
                    <a:pt x="320" y="113"/>
                  </a:lnTo>
                  <a:lnTo>
                    <a:pt x="320" y="117"/>
                  </a:lnTo>
                  <a:lnTo>
                    <a:pt x="316" y="121"/>
                  </a:lnTo>
                  <a:lnTo>
                    <a:pt x="312" y="117"/>
                  </a:lnTo>
                  <a:lnTo>
                    <a:pt x="312" y="117"/>
                  </a:lnTo>
                  <a:lnTo>
                    <a:pt x="308" y="121"/>
                  </a:lnTo>
                  <a:lnTo>
                    <a:pt x="308" y="121"/>
                  </a:lnTo>
                  <a:lnTo>
                    <a:pt x="304" y="130"/>
                  </a:lnTo>
                  <a:lnTo>
                    <a:pt x="304" y="130"/>
                  </a:lnTo>
                  <a:lnTo>
                    <a:pt x="300" y="134"/>
                  </a:lnTo>
                  <a:lnTo>
                    <a:pt x="300" y="138"/>
                  </a:lnTo>
                  <a:lnTo>
                    <a:pt x="296" y="138"/>
                  </a:lnTo>
                  <a:lnTo>
                    <a:pt x="292" y="138"/>
                  </a:lnTo>
                  <a:lnTo>
                    <a:pt x="292" y="146"/>
                  </a:lnTo>
                  <a:lnTo>
                    <a:pt x="288" y="142"/>
                  </a:lnTo>
                  <a:lnTo>
                    <a:pt x="288" y="146"/>
                  </a:lnTo>
                  <a:lnTo>
                    <a:pt x="284" y="146"/>
                  </a:lnTo>
                  <a:lnTo>
                    <a:pt x="284" y="150"/>
                  </a:lnTo>
                  <a:lnTo>
                    <a:pt x="280" y="150"/>
                  </a:lnTo>
                  <a:lnTo>
                    <a:pt x="280" y="150"/>
                  </a:lnTo>
                  <a:lnTo>
                    <a:pt x="276" y="150"/>
                  </a:lnTo>
                  <a:lnTo>
                    <a:pt x="272" y="150"/>
                  </a:lnTo>
                  <a:lnTo>
                    <a:pt x="272" y="150"/>
                  </a:lnTo>
                  <a:lnTo>
                    <a:pt x="268" y="155"/>
                  </a:lnTo>
                  <a:lnTo>
                    <a:pt x="268" y="159"/>
                  </a:lnTo>
                  <a:lnTo>
                    <a:pt x="264" y="171"/>
                  </a:lnTo>
                  <a:lnTo>
                    <a:pt x="264" y="176"/>
                  </a:lnTo>
                  <a:lnTo>
                    <a:pt x="260" y="176"/>
                  </a:lnTo>
                  <a:lnTo>
                    <a:pt x="256" y="176"/>
                  </a:lnTo>
                  <a:lnTo>
                    <a:pt x="256" y="184"/>
                  </a:lnTo>
                  <a:lnTo>
                    <a:pt x="252" y="180"/>
                  </a:lnTo>
                  <a:lnTo>
                    <a:pt x="252" y="184"/>
                  </a:lnTo>
                  <a:lnTo>
                    <a:pt x="248" y="188"/>
                  </a:lnTo>
                  <a:lnTo>
                    <a:pt x="248" y="188"/>
                  </a:lnTo>
                  <a:lnTo>
                    <a:pt x="244" y="188"/>
                  </a:lnTo>
                  <a:lnTo>
                    <a:pt x="244" y="192"/>
                  </a:lnTo>
                  <a:lnTo>
                    <a:pt x="240" y="201"/>
                  </a:lnTo>
                  <a:lnTo>
                    <a:pt x="236" y="201"/>
                  </a:lnTo>
                  <a:lnTo>
                    <a:pt x="236" y="201"/>
                  </a:lnTo>
                  <a:lnTo>
                    <a:pt x="232" y="209"/>
                  </a:lnTo>
                  <a:lnTo>
                    <a:pt x="232" y="209"/>
                  </a:lnTo>
                  <a:lnTo>
                    <a:pt x="228" y="213"/>
                  </a:lnTo>
                  <a:lnTo>
                    <a:pt x="228" y="221"/>
                  </a:lnTo>
                  <a:lnTo>
                    <a:pt x="224" y="221"/>
                  </a:lnTo>
                  <a:lnTo>
                    <a:pt x="224" y="217"/>
                  </a:lnTo>
                  <a:lnTo>
                    <a:pt x="220" y="221"/>
                  </a:lnTo>
                  <a:lnTo>
                    <a:pt x="216" y="226"/>
                  </a:lnTo>
                  <a:lnTo>
                    <a:pt x="216" y="234"/>
                  </a:lnTo>
                  <a:lnTo>
                    <a:pt x="212" y="238"/>
                  </a:lnTo>
                  <a:lnTo>
                    <a:pt x="212" y="238"/>
                  </a:lnTo>
                  <a:lnTo>
                    <a:pt x="208" y="238"/>
                  </a:lnTo>
                  <a:lnTo>
                    <a:pt x="208" y="242"/>
                  </a:lnTo>
                  <a:lnTo>
                    <a:pt x="204" y="242"/>
                  </a:lnTo>
                  <a:lnTo>
                    <a:pt x="200" y="246"/>
                  </a:lnTo>
                  <a:lnTo>
                    <a:pt x="200" y="251"/>
                  </a:lnTo>
                  <a:lnTo>
                    <a:pt x="196" y="259"/>
                  </a:lnTo>
                  <a:lnTo>
                    <a:pt x="196" y="267"/>
                  </a:lnTo>
                  <a:lnTo>
                    <a:pt x="192" y="267"/>
                  </a:lnTo>
                  <a:lnTo>
                    <a:pt x="192" y="272"/>
                  </a:lnTo>
                  <a:lnTo>
                    <a:pt x="188" y="272"/>
                  </a:lnTo>
                  <a:lnTo>
                    <a:pt x="188" y="276"/>
                  </a:lnTo>
                  <a:lnTo>
                    <a:pt x="184" y="276"/>
                  </a:lnTo>
                  <a:lnTo>
                    <a:pt x="180" y="272"/>
                  </a:lnTo>
                  <a:lnTo>
                    <a:pt x="180" y="280"/>
                  </a:lnTo>
                  <a:lnTo>
                    <a:pt x="176" y="288"/>
                  </a:lnTo>
                  <a:lnTo>
                    <a:pt x="176" y="297"/>
                  </a:lnTo>
                  <a:lnTo>
                    <a:pt x="172" y="301"/>
                  </a:lnTo>
                  <a:lnTo>
                    <a:pt x="172" y="305"/>
                  </a:lnTo>
                  <a:lnTo>
                    <a:pt x="168" y="309"/>
                  </a:lnTo>
                  <a:lnTo>
                    <a:pt x="168" y="309"/>
                  </a:lnTo>
                  <a:lnTo>
                    <a:pt x="164" y="317"/>
                  </a:lnTo>
                  <a:lnTo>
                    <a:pt x="160" y="317"/>
                  </a:lnTo>
                  <a:lnTo>
                    <a:pt x="160" y="326"/>
                  </a:lnTo>
                  <a:lnTo>
                    <a:pt x="156" y="326"/>
                  </a:lnTo>
                  <a:lnTo>
                    <a:pt x="156" y="326"/>
                  </a:lnTo>
                  <a:lnTo>
                    <a:pt x="152" y="330"/>
                  </a:lnTo>
                  <a:lnTo>
                    <a:pt x="152" y="334"/>
                  </a:lnTo>
                  <a:lnTo>
                    <a:pt x="148" y="334"/>
                  </a:lnTo>
                  <a:lnTo>
                    <a:pt x="144" y="338"/>
                  </a:lnTo>
                  <a:lnTo>
                    <a:pt x="144" y="338"/>
                  </a:lnTo>
                  <a:lnTo>
                    <a:pt x="140" y="338"/>
                  </a:lnTo>
                  <a:lnTo>
                    <a:pt x="140" y="338"/>
                  </a:lnTo>
                  <a:lnTo>
                    <a:pt x="136" y="342"/>
                  </a:lnTo>
                  <a:lnTo>
                    <a:pt x="136" y="347"/>
                  </a:lnTo>
                  <a:lnTo>
                    <a:pt x="132" y="347"/>
                  </a:lnTo>
                  <a:lnTo>
                    <a:pt x="132" y="355"/>
                  </a:lnTo>
                  <a:lnTo>
                    <a:pt x="128" y="372"/>
                  </a:lnTo>
                  <a:lnTo>
                    <a:pt x="124" y="363"/>
                  </a:lnTo>
                  <a:lnTo>
                    <a:pt x="124" y="368"/>
                  </a:lnTo>
                  <a:lnTo>
                    <a:pt x="120" y="380"/>
                  </a:lnTo>
                  <a:lnTo>
                    <a:pt x="120" y="380"/>
                  </a:lnTo>
                  <a:lnTo>
                    <a:pt x="116" y="388"/>
                  </a:lnTo>
                  <a:lnTo>
                    <a:pt x="116" y="393"/>
                  </a:lnTo>
                  <a:lnTo>
                    <a:pt x="112" y="393"/>
                  </a:lnTo>
                  <a:lnTo>
                    <a:pt x="112" y="397"/>
                  </a:lnTo>
                  <a:lnTo>
                    <a:pt x="108" y="405"/>
                  </a:lnTo>
                  <a:lnTo>
                    <a:pt x="104" y="401"/>
                  </a:lnTo>
                  <a:lnTo>
                    <a:pt x="104" y="409"/>
                  </a:lnTo>
                  <a:lnTo>
                    <a:pt x="100" y="409"/>
                  </a:lnTo>
                  <a:lnTo>
                    <a:pt x="100" y="413"/>
                  </a:lnTo>
                  <a:lnTo>
                    <a:pt x="96" y="413"/>
                  </a:lnTo>
                  <a:lnTo>
                    <a:pt x="96" y="413"/>
                  </a:lnTo>
                  <a:lnTo>
                    <a:pt x="92" y="418"/>
                  </a:lnTo>
                  <a:lnTo>
                    <a:pt x="88" y="418"/>
                  </a:lnTo>
                  <a:lnTo>
                    <a:pt x="88" y="418"/>
                  </a:lnTo>
                  <a:lnTo>
                    <a:pt x="84" y="422"/>
                  </a:lnTo>
                  <a:lnTo>
                    <a:pt x="84" y="422"/>
                  </a:lnTo>
                  <a:lnTo>
                    <a:pt x="80" y="426"/>
                  </a:lnTo>
                  <a:lnTo>
                    <a:pt x="80" y="426"/>
                  </a:lnTo>
                  <a:lnTo>
                    <a:pt x="76" y="430"/>
                  </a:lnTo>
                  <a:lnTo>
                    <a:pt x="76" y="434"/>
                  </a:lnTo>
                  <a:lnTo>
                    <a:pt x="72" y="438"/>
                  </a:lnTo>
                  <a:lnTo>
                    <a:pt x="68" y="438"/>
                  </a:lnTo>
                  <a:lnTo>
                    <a:pt x="68" y="447"/>
                  </a:lnTo>
                  <a:lnTo>
                    <a:pt x="64" y="447"/>
                  </a:lnTo>
                  <a:lnTo>
                    <a:pt x="64" y="455"/>
                  </a:lnTo>
                  <a:lnTo>
                    <a:pt x="60" y="459"/>
                  </a:lnTo>
                  <a:lnTo>
                    <a:pt x="60" y="468"/>
                  </a:lnTo>
                  <a:lnTo>
                    <a:pt x="56" y="464"/>
                  </a:lnTo>
                  <a:lnTo>
                    <a:pt x="56" y="468"/>
                  </a:lnTo>
                  <a:lnTo>
                    <a:pt x="52" y="480"/>
                  </a:lnTo>
                  <a:lnTo>
                    <a:pt x="48" y="480"/>
                  </a:lnTo>
                  <a:lnTo>
                    <a:pt x="48" y="493"/>
                  </a:lnTo>
                  <a:lnTo>
                    <a:pt x="44" y="505"/>
                  </a:lnTo>
                  <a:lnTo>
                    <a:pt x="44" y="505"/>
                  </a:lnTo>
                  <a:lnTo>
                    <a:pt x="40" y="505"/>
                  </a:lnTo>
                  <a:lnTo>
                    <a:pt x="40" y="518"/>
                  </a:lnTo>
                  <a:lnTo>
                    <a:pt x="36" y="534"/>
                  </a:lnTo>
                  <a:lnTo>
                    <a:pt x="32" y="543"/>
                  </a:lnTo>
                  <a:lnTo>
                    <a:pt x="32" y="560"/>
                  </a:lnTo>
                  <a:lnTo>
                    <a:pt x="28" y="560"/>
                  </a:lnTo>
                  <a:lnTo>
                    <a:pt x="28" y="576"/>
                  </a:lnTo>
                  <a:lnTo>
                    <a:pt x="24" y="568"/>
                  </a:lnTo>
                  <a:lnTo>
                    <a:pt x="24" y="585"/>
                  </a:lnTo>
                  <a:lnTo>
                    <a:pt x="20" y="585"/>
                  </a:lnTo>
                  <a:lnTo>
                    <a:pt x="20" y="585"/>
                  </a:lnTo>
                  <a:lnTo>
                    <a:pt x="16" y="593"/>
                  </a:lnTo>
                  <a:lnTo>
                    <a:pt x="12" y="601"/>
                  </a:lnTo>
                  <a:lnTo>
                    <a:pt x="12" y="593"/>
                  </a:lnTo>
                  <a:lnTo>
                    <a:pt x="8" y="597"/>
                  </a:lnTo>
                  <a:lnTo>
                    <a:pt x="8" y="597"/>
                  </a:lnTo>
                  <a:lnTo>
                    <a:pt x="4" y="626"/>
                  </a:lnTo>
                  <a:lnTo>
                    <a:pt x="4" y="676"/>
                  </a:lnTo>
                  <a:lnTo>
                    <a:pt x="0" y="681"/>
                  </a:lnTo>
                  <a:lnTo>
                    <a:pt x="0" y="685"/>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71" name="Freeform 236"/>
            <p:cNvSpPr>
              <a:spLocks/>
            </p:cNvSpPr>
            <p:nvPr/>
          </p:nvSpPr>
          <p:spPr bwMode="auto">
            <a:xfrm>
              <a:off x="2558" y="3310"/>
              <a:ext cx="404" cy="568"/>
            </a:xfrm>
            <a:custGeom>
              <a:avLst/>
              <a:gdLst>
                <a:gd name="T0" fmla="*/ 4 w 404"/>
                <a:gd name="T1" fmla="*/ 564 h 568"/>
                <a:gd name="T2" fmla="*/ 8 w 404"/>
                <a:gd name="T3" fmla="*/ 497 h 568"/>
                <a:gd name="T4" fmla="*/ 16 w 404"/>
                <a:gd name="T5" fmla="*/ 493 h 568"/>
                <a:gd name="T6" fmla="*/ 24 w 404"/>
                <a:gd name="T7" fmla="*/ 484 h 568"/>
                <a:gd name="T8" fmla="*/ 28 w 404"/>
                <a:gd name="T9" fmla="*/ 476 h 568"/>
                <a:gd name="T10" fmla="*/ 32 w 404"/>
                <a:gd name="T11" fmla="*/ 459 h 568"/>
                <a:gd name="T12" fmla="*/ 36 w 404"/>
                <a:gd name="T13" fmla="*/ 434 h 568"/>
                <a:gd name="T14" fmla="*/ 40 w 404"/>
                <a:gd name="T15" fmla="*/ 409 h 568"/>
                <a:gd name="T16" fmla="*/ 48 w 404"/>
                <a:gd name="T17" fmla="*/ 405 h 568"/>
                <a:gd name="T18" fmla="*/ 52 w 404"/>
                <a:gd name="T19" fmla="*/ 392 h 568"/>
                <a:gd name="T20" fmla="*/ 60 w 404"/>
                <a:gd name="T21" fmla="*/ 376 h 568"/>
                <a:gd name="T22" fmla="*/ 64 w 404"/>
                <a:gd name="T23" fmla="*/ 367 h 568"/>
                <a:gd name="T24" fmla="*/ 68 w 404"/>
                <a:gd name="T25" fmla="*/ 359 h 568"/>
                <a:gd name="T26" fmla="*/ 72 w 404"/>
                <a:gd name="T27" fmla="*/ 351 h 568"/>
                <a:gd name="T28" fmla="*/ 76 w 404"/>
                <a:gd name="T29" fmla="*/ 338 h 568"/>
                <a:gd name="T30" fmla="*/ 84 w 404"/>
                <a:gd name="T31" fmla="*/ 330 h 568"/>
                <a:gd name="T32" fmla="*/ 92 w 404"/>
                <a:gd name="T33" fmla="*/ 326 h 568"/>
                <a:gd name="T34" fmla="*/ 100 w 404"/>
                <a:gd name="T35" fmla="*/ 317 h 568"/>
                <a:gd name="T36" fmla="*/ 104 w 404"/>
                <a:gd name="T37" fmla="*/ 309 h 568"/>
                <a:gd name="T38" fmla="*/ 112 w 404"/>
                <a:gd name="T39" fmla="*/ 296 h 568"/>
                <a:gd name="T40" fmla="*/ 120 w 404"/>
                <a:gd name="T41" fmla="*/ 284 h 568"/>
                <a:gd name="T42" fmla="*/ 124 w 404"/>
                <a:gd name="T43" fmla="*/ 263 h 568"/>
                <a:gd name="T44" fmla="*/ 136 w 404"/>
                <a:gd name="T45" fmla="*/ 255 h 568"/>
                <a:gd name="T46" fmla="*/ 140 w 404"/>
                <a:gd name="T47" fmla="*/ 242 h 568"/>
                <a:gd name="T48" fmla="*/ 148 w 404"/>
                <a:gd name="T49" fmla="*/ 238 h 568"/>
                <a:gd name="T50" fmla="*/ 160 w 404"/>
                <a:gd name="T51" fmla="*/ 225 h 568"/>
                <a:gd name="T52" fmla="*/ 164 w 404"/>
                <a:gd name="T53" fmla="*/ 217 h 568"/>
                <a:gd name="T54" fmla="*/ 172 w 404"/>
                <a:gd name="T55" fmla="*/ 205 h 568"/>
                <a:gd name="T56" fmla="*/ 176 w 404"/>
                <a:gd name="T57" fmla="*/ 192 h 568"/>
                <a:gd name="T58" fmla="*/ 184 w 404"/>
                <a:gd name="T59" fmla="*/ 175 h 568"/>
                <a:gd name="T60" fmla="*/ 184 w 404"/>
                <a:gd name="T61" fmla="*/ 175 h 568"/>
                <a:gd name="T62" fmla="*/ 192 w 404"/>
                <a:gd name="T63" fmla="*/ 171 h 568"/>
                <a:gd name="T64" fmla="*/ 196 w 404"/>
                <a:gd name="T65" fmla="*/ 163 h 568"/>
                <a:gd name="T66" fmla="*/ 200 w 404"/>
                <a:gd name="T67" fmla="*/ 150 h 568"/>
                <a:gd name="T68" fmla="*/ 208 w 404"/>
                <a:gd name="T69" fmla="*/ 146 h 568"/>
                <a:gd name="T70" fmla="*/ 216 w 404"/>
                <a:gd name="T71" fmla="*/ 138 h 568"/>
                <a:gd name="T72" fmla="*/ 220 w 404"/>
                <a:gd name="T73" fmla="*/ 129 h 568"/>
                <a:gd name="T74" fmla="*/ 224 w 404"/>
                <a:gd name="T75" fmla="*/ 129 h 568"/>
                <a:gd name="T76" fmla="*/ 232 w 404"/>
                <a:gd name="T77" fmla="*/ 117 h 568"/>
                <a:gd name="T78" fmla="*/ 240 w 404"/>
                <a:gd name="T79" fmla="*/ 109 h 568"/>
                <a:gd name="T80" fmla="*/ 244 w 404"/>
                <a:gd name="T81" fmla="*/ 100 h 568"/>
                <a:gd name="T82" fmla="*/ 252 w 404"/>
                <a:gd name="T83" fmla="*/ 96 h 568"/>
                <a:gd name="T84" fmla="*/ 260 w 404"/>
                <a:gd name="T85" fmla="*/ 92 h 568"/>
                <a:gd name="T86" fmla="*/ 260 w 404"/>
                <a:gd name="T87" fmla="*/ 92 h 568"/>
                <a:gd name="T88" fmla="*/ 264 w 404"/>
                <a:gd name="T89" fmla="*/ 84 h 568"/>
                <a:gd name="T90" fmla="*/ 268 w 404"/>
                <a:gd name="T91" fmla="*/ 71 h 568"/>
                <a:gd name="T92" fmla="*/ 276 w 404"/>
                <a:gd name="T93" fmla="*/ 67 h 568"/>
                <a:gd name="T94" fmla="*/ 284 w 404"/>
                <a:gd name="T95" fmla="*/ 63 h 568"/>
                <a:gd name="T96" fmla="*/ 292 w 404"/>
                <a:gd name="T97" fmla="*/ 63 h 568"/>
                <a:gd name="T98" fmla="*/ 296 w 404"/>
                <a:gd name="T99" fmla="*/ 50 h 568"/>
                <a:gd name="T100" fmla="*/ 304 w 404"/>
                <a:gd name="T101" fmla="*/ 46 h 568"/>
                <a:gd name="T102" fmla="*/ 312 w 404"/>
                <a:gd name="T103" fmla="*/ 38 h 568"/>
                <a:gd name="T104" fmla="*/ 320 w 404"/>
                <a:gd name="T105" fmla="*/ 33 h 568"/>
                <a:gd name="T106" fmla="*/ 324 w 404"/>
                <a:gd name="T107" fmla="*/ 33 h 568"/>
                <a:gd name="T108" fmla="*/ 332 w 404"/>
                <a:gd name="T109" fmla="*/ 29 h 568"/>
                <a:gd name="T110" fmla="*/ 340 w 404"/>
                <a:gd name="T111" fmla="*/ 29 h 568"/>
                <a:gd name="T112" fmla="*/ 348 w 404"/>
                <a:gd name="T113" fmla="*/ 25 h 568"/>
                <a:gd name="T114" fmla="*/ 356 w 404"/>
                <a:gd name="T115" fmla="*/ 17 h 568"/>
                <a:gd name="T116" fmla="*/ 364 w 404"/>
                <a:gd name="T117" fmla="*/ 17 h 568"/>
                <a:gd name="T118" fmla="*/ 372 w 404"/>
                <a:gd name="T119" fmla="*/ 13 h 568"/>
                <a:gd name="T120" fmla="*/ 384 w 404"/>
                <a:gd name="T121" fmla="*/ 13 h 568"/>
                <a:gd name="T122" fmla="*/ 392 w 404"/>
                <a:gd name="T123" fmla="*/ 8 h 568"/>
                <a:gd name="T124" fmla="*/ 400 w 404"/>
                <a:gd name="T125" fmla="*/ 8 h 5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04" h="568">
                  <a:moveTo>
                    <a:pt x="0" y="568"/>
                  </a:moveTo>
                  <a:lnTo>
                    <a:pt x="4" y="564"/>
                  </a:lnTo>
                  <a:lnTo>
                    <a:pt x="4" y="522"/>
                  </a:lnTo>
                  <a:lnTo>
                    <a:pt x="8" y="497"/>
                  </a:lnTo>
                  <a:lnTo>
                    <a:pt x="12" y="501"/>
                  </a:lnTo>
                  <a:lnTo>
                    <a:pt x="16" y="493"/>
                  </a:lnTo>
                  <a:lnTo>
                    <a:pt x="20" y="484"/>
                  </a:lnTo>
                  <a:lnTo>
                    <a:pt x="24" y="484"/>
                  </a:lnTo>
                  <a:lnTo>
                    <a:pt x="24" y="468"/>
                  </a:lnTo>
                  <a:lnTo>
                    <a:pt x="28" y="476"/>
                  </a:lnTo>
                  <a:lnTo>
                    <a:pt x="28" y="459"/>
                  </a:lnTo>
                  <a:lnTo>
                    <a:pt x="32" y="459"/>
                  </a:lnTo>
                  <a:lnTo>
                    <a:pt x="32" y="443"/>
                  </a:lnTo>
                  <a:lnTo>
                    <a:pt x="36" y="434"/>
                  </a:lnTo>
                  <a:lnTo>
                    <a:pt x="40" y="422"/>
                  </a:lnTo>
                  <a:lnTo>
                    <a:pt x="40" y="409"/>
                  </a:lnTo>
                  <a:lnTo>
                    <a:pt x="44" y="413"/>
                  </a:lnTo>
                  <a:lnTo>
                    <a:pt x="48" y="405"/>
                  </a:lnTo>
                  <a:lnTo>
                    <a:pt x="48" y="392"/>
                  </a:lnTo>
                  <a:lnTo>
                    <a:pt x="52" y="392"/>
                  </a:lnTo>
                  <a:lnTo>
                    <a:pt x="56" y="376"/>
                  </a:lnTo>
                  <a:lnTo>
                    <a:pt x="60" y="376"/>
                  </a:lnTo>
                  <a:lnTo>
                    <a:pt x="60" y="367"/>
                  </a:lnTo>
                  <a:lnTo>
                    <a:pt x="64" y="367"/>
                  </a:lnTo>
                  <a:lnTo>
                    <a:pt x="64" y="359"/>
                  </a:lnTo>
                  <a:lnTo>
                    <a:pt x="68" y="359"/>
                  </a:lnTo>
                  <a:lnTo>
                    <a:pt x="68" y="351"/>
                  </a:lnTo>
                  <a:lnTo>
                    <a:pt x="72" y="351"/>
                  </a:lnTo>
                  <a:lnTo>
                    <a:pt x="76" y="347"/>
                  </a:lnTo>
                  <a:lnTo>
                    <a:pt x="76" y="338"/>
                  </a:lnTo>
                  <a:lnTo>
                    <a:pt x="80" y="334"/>
                  </a:lnTo>
                  <a:lnTo>
                    <a:pt x="84" y="330"/>
                  </a:lnTo>
                  <a:lnTo>
                    <a:pt x="88" y="326"/>
                  </a:lnTo>
                  <a:lnTo>
                    <a:pt x="92" y="326"/>
                  </a:lnTo>
                  <a:lnTo>
                    <a:pt x="96" y="321"/>
                  </a:lnTo>
                  <a:lnTo>
                    <a:pt x="100" y="317"/>
                  </a:lnTo>
                  <a:lnTo>
                    <a:pt x="108" y="309"/>
                  </a:lnTo>
                  <a:lnTo>
                    <a:pt x="104" y="309"/>
                  </a:lnTo>
                  <a:lnTo>
                    <a:pt x="108" y="309"/>
                  </a:lnTo>
                  <a:lnTo>
                    <a:pt x="112" y="296"/>
                  </a:lnTo>
                  <a:lnTo>
                    <a:pt x="116" y="292"/>
                  </a:lnTo>
                  <a:lnTo>
                    <a:pt x="120" y="284"/>
                  </a:lnTo>
                  <a:lnTo>
                    <a:pt x="124" y="271"/>
                  </a:lnTo>
                  <a:lnTo>
                    <a:pt x="124" y="263"/>
                  </a:lnTo>
                  <a:lnTo>
                    <a:pt x="128" y="271"/>
                  </a:lnTo>
                  <a:lnTo>
                    <a:pt x="136" y="255"/>
                  </a:lnTo>
                  <a:lnTo>
                    <a:pt x="136" y="246"/>
                  </a:lnTo>
                  <a:lnTo>
                    <a:pt x="140" y="242"/>
                  </a:lnTo>
                  <a:lnTo>
                    <a:pt x="144" y="238"/>
                  </a:lnTo>
                  <a:lnTo>
                    <a:pt x="148" y="238"/>
                  </a:lnTo>
                  <a:lnTo>
                    <a:pt x="152" y="234"/>
                  </a:lnTo>
                  <a:lnTo>
                    <a:pt x="160" y="225"/>
                  </a:lnTo>
                  <a:lnTo>
                    <a:pt x="160" y="217"/>
                  </a:lnTo>
                  <a:lnTo>
                    <a:pt x="164" y="217"/>
                  </a:lnTo>
                  <a:lnTo>
                    <a:pt x="168" y="209"/>
                  </a:lnTo>
                  <a:lnTo>
                    <a:pt x="172" y="205"/>
                  </a:lnTo>
                  <a:lnTo>
                    <a:pt x="172" y="196"/>
                  </a:lnTo>
                  <a:lnTo>
                    <a:pt x="176" y="192"/>
                  </a:lnTo>
                  <a:lnTo>
                    <a:pt x="176" y="188"/>
                  </a:lnTo>
                  <a:lnTo>
                    <a:pt x="184" y="175"/>
                  </a:lnTo>
                  <a:lnTo>
                    <a:pt x="180" y="175"/>
                  </a:lnTo>
                  <a:lnTo>
                    <a:pt x="184" y="175"/>
                  </a:lnTo>
                  <a:lnTo>
                    <a:pt x="188" y="175"/>
                  </a:lnTo>
                  <a:lnTo>
                    <a:pt x="192" y="171"/>
                  </a:lnTo>
                  <a:lnTo>
                    <a:pt x="196" y="171"/>
                  </a:lnTo>
                  <a:lnTo>
                    <a:pt x="196" y="163"/>
                  </a:lnTo>
                  <a:lnTo>
                    <a:pt x="204" y="150"/>
                  </a:lnTo>
                  <a:lnTo>
                    <a:pt x="200" y="150"/>
                  </a:lnTo>
                  <a:lnTo>
                    <a:pt x="204" y="150"/>
                  </a:lnTo>
                  <a:lnTo>
                    <a:pt x="208" y="146"/>
                  </a:lnTo>
                  <a:lnTo>
                    <a:pt x="212" y="146"/>
                  </a:lnTo>
                  <a:lnTo>
                    <a:pt x="216" y="138"/>
                  </a:lnTo>
                  <a:lnTo>
                    <a:pt x="216" y="134"/>
                  </a:lnTo>
                  <a:lnTo>
                    <a:pt x="220" y="129"/>
                  </a:lnTo>
                  <a:lnTo>
                    <a:pt x="228" y="129"/>
                  </a:lnTo>
                  <a:lnTo>
                    <a:pt x="224" y="129"/>
                  </a:lnTo>
                  <a:lnTo>
                    <a:pt x="228" y="121"/>
                  </a:lnTo>
                  <a:lnTo>
                    <a:pt x="232" y="117"/>
                  </a:lnTo>
                  <a:lnTo>
                    <a:pt x="236" y="109"/>
                  </a:lnTo>
                  <a:lnTo>
                    <a:pt x="240" y="109"/>
                  </a:lnTo>
                  <a:lnTo>
                    <a:pt x="248" y="100"/>
                  </a:lnTo>
                  <a:lnTo>
                    <a:pt x="244" y="100"/>
                  </a:lnTo>
                  <a:lnTo>
                    <a:pt x="248" y="100"/>
                  </a:lnTo>
                  <a:lnTo>
                    <a:pt x="252" y="96"/>
                  </a:lnTo>
                  <a:lnTo>
                    <a:pt x="252" y="92"/>
                  </a:lnTo>
                  <a:lnTo>
                    <a:pt x="260" y="92"/>
                  </a:lnTo>
                  <a:lnTo>
                    <a:pt x="256" y="92"/>
                  </a:lnTo>
                  <a:lnTo>
                    <a:pt x="260" y="92"/>
                  </a:lnTo>
                  <a:lnTo>
                    <a:pt x="264" y="88"/>
                  </a:lnTo>
                  <a:lnTo>
                    <a:pt x="264" y="84"/>
                  </a:lnTo>
                  <a:lnTo>
                    <a:pt x="268" y="75"/>
                  </a:lnTo>
                  <a:lnTo>
                    <a:pt x="268" y="71"/>
                  </a:lnTo>
                  <a:lnTo>
                    <a:pt x="272" y="67"/>
                  </a:lnTo>
                  <a:lnTo>
                    <a:pt x="276" y="67"/>
                  </a:lnTo>
                  <a:lnTo>
                    <a:pt x="280" y="67"/>
                  </a:lnTo>
                  <a:lnTo>
                    <a:pt x="284" y="63"/>
                  </a:lnTo>
                  <a:lnTo>
                    <a:pt x="288" y="59"/>
                  </a:lnTo>
                  <a:lnTo>
                    <a:pt x="292" y="63"/>
                  </a:lnTo>
                  <a:lnTo>
                    <a:pt x="292" y="54"/>
                  </a:lnTo>
                  <a:lnTo>
                    <a:pt x="296" y="50"/>
                  </a:lnTo>
                  <a:lnTo>
                    <a:pt x="300" y="50"/>
                  </a:lnTo>
                  <a:lnTo>
                    <a:pt x="304" y="46"/>
                  </a:lnTo>
                  <a:lnTo>
                    <a:pt x="308" y="38"/>
                  </a:lnTo>
                  <a:lnTo>
                    <a:pt x="312" y="38"/>
                  </a:lnTo>
                  <a:lnTo>
                    <a:pt x="316" y="38"/>
                  </a:lnTo>
                  <a:lnTo>
                    <a:pt x="320" y="33"/>
                  </a:lnTo>
                  <a:lnTo>
                    <a:pt x="324" y="29"/>
                  </a:lnTo>
                  <a:lnTo>
                    <a:pt x="324" y="33"/>
                  </a:lnTo>
                  <a:lnTo>
                    <a:pt x="328" y="29"/>
                  </a:lnTo>
                  <a:lnTo>
                    <a:pt x="332" y="29"/>
                  </a:lnTo>
                  <a:lnTo>
                    <a:pt x="336" y="29"/>
                  </a:lnTo>
                  <a:lnTo>
                    <a:pt x="340" y="29"/>
                  </a:lnTo>
                  <a:lnTo>
                    <a:pt x="344" y="21"/>
                  </a:lnTo>
                  <a:lnTo>
                    <a:pt x="348" y="25"/>
                  </a:lnTo>
                  <a:lnTo>
                    <a:pt x="352" y="21"/>
                  </a:lnTo>
                  <a:lnTo>
                    <a:pt x="356" y="17"/>
                  </a:lnTo>
                  <a:lnTo>
                    <a:pt x="360" y="17"/>
                  </a:lnTo>
                  <a:lnTo>
                    <a:pt x="364" y="17"/>
                  </a:lnTo>
                  <a:lnTo>
                    <a:pt x="368" y="13"/>
                  </a:lnTo>
                  <a:lnTo>
                    <a:pt x="372" y="13"/>
                  </a:lnTo>
                  <a:lnTo>
                    <a:pt x="376" y="13"/>
                  </a:lnTo>
                  <a:lnTo>
                    <a:pt x="384" y="13"/>
                  </a:lnTo>
                  <a:lnTo>
                    <a:pt x="388" y="13"/>
                  </a:lnTo>
                  <a:lnTo>
                    <a:pt x="392" y="8"/>
                  </a:lnTo>
                  <a:lnTo>
                    <a:pt x="396" y="8"/>
                  </a:lnTo>
                  <a:lnTo>
                    <a:pt x="400" y="8"/>
                  </a:lnTo>
                  <a:lnTo>
                    <a:pt x="404" y="0"/>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72" name="Freeform 237"/>
            <p:cNvSpPr>
              <a:spLocks/>
            </p:cNvSpPr>
            <p:nvPr/>
          </p:nvSpPr>
          <p:spPr bwMode="auto">
            <a:xfrm>
              <a:off x="2962" y="3243"/>
              <a:ext cx="497" cy="71"/>
            </a:xfrm>
            <a:custGeom>
              <a:avLst/>
              <a:gdLst>
                <a:gd name="T0" fmla="*/ 4 w 497"/>
                <a:gd name="T1" fmla="*/ 71 h 71"/>
                <a:gd name="T2" fmla="*/ 12 w 497"/>
                <a:gd name="T3" fmla="*/ 67 h 71"/>
                <a:gd name="T4" fmla="*/ 20 w 497"/>
                <a:gd name="T5" fmla="*/ 59 h 71"/>
                <a:gd name="T6" fmla="*/ 28 w 497"/>
                <a:gd name="T7" fmla="*/ 59 h 71"/>
                <a:gd name="T8" fmla="*/ 37 w 497"/>
                <a:gd name="T9" fmla="*/ 59 h 71"/>
                <a:gd name="T10" fmla="*/ 45 w 497"/>
                <a:gd name="T11" fmla="*/ 59 h 71"/>
                <a:gd name="T12" fmla="*/ 53 w 497"/>
                <a:gd name="T13" fmla="*/ 55 h 71"/>
                <a:gd name="T14" fmla="*/ 61 w 497"/>
                <a:gd name="T15" fmla="*/ 50 h 71"/>
                <a:gd name="T16" fmla="*/ 69 w 497"/>
                <a:gd name="T17" fmla="*/ 50 h 71"/>
                <a:gd name="T18" fmla="*/ 77 w 497"/>
                <a:gd name="T19" fmla="*/ 46 h 71"/>
                <a:gd name="T20" fmla="*/ 89 w 497"/>
                <a:gd name="T21" fmla="*/ 46 h 71"/>
                <a:gd name="T22" fmla="*/ 89 w 497"/>
                <a:gd name="T23" fmla="*/ 46 h 71"/>
                <a:gd name="T24" fmla="*/ 97 w 497"/>
                <a:gd name="T25" fmla="*/ 42 h 71"/>
                <a:gd name="T26" fmla="*/ 105 w 497"/>
                <a:gd name="T27" fmla="*/ 42 h 71"/>
                <a:gd name="T28" fmla="*/ 109 w 497"/>
                <a:gd name="T29" fmla="*/ 34 h 71"/>
                <a:gd name="T30" fmla="*/ 117 w 497"/>
                <a:gd name="T31" fmla="*/ 34 h 71"/>
                <a:gd name="T32" fmla="*/ 125 w 497"/>
                <a:gd name="T33" fmla="*/ 34 h 71"/>
                <a:gd name="T34" fmla="*/ 133 w 497"/>
                <a:gd name="T35" fmla="*/ 34 h 71"/>
                <a:gd name="T36" fmla="*/ 141 w 497"/>
                <a:gd name="T37" fmla="*/ 34 h 71"/>
                <a:gd name="T38" fmla="*/ 149 w 497"/>
                <a:gd name="T39" fmla="*/ 34 h 71"/>
                <a:gd name="T40" fmla="*/ 157 w 497"/>
                <a:gd name="T41" fmla="*/ 34 h 71"/>
                <a:gd name="T42" fmla="*/ 165 w 497"/>
                <a:gd name="T43" fmla="*/ 30 h 71"/>
                <a:gd name="T44" fmla="*/ 173 w 497"/>
                <a:gd name="T45" fmla="*/ 30 h 71"/>
                <a:gd name="T46" fmla="*/ 181 w 497"/>
                <a:gd name="T47" fmla="*/ 30 h 71"/>
                <a:gd name="T48" fmla="*/ 189 w 497"/>
                <a:gd name="T49" fmla="*/ 30 h 71"/>
                <a:gd name="T50" fmla="*/ 197 w 497"/>
                <a:gd name="T51" fmla="*/ 30 h 71"/>
                <a:gd name="T52" fmla="*/ 205 w 497"/>
                <a:gd name="T53" fmla="*/ 30 h 71"/>
                <a:gd name="T54" fmla="*/ 213 w 497"/>
                <a:gd name="T55" fmla="*/ 30 h 71"/>
                <a:gd name="T56" fmla="*/ 221 w 497"/>
                <a:gd name="T57" fmla="*/ 25 h 71"/>
                <a:gd name="T58" fmla="*/ 229 w 497"/>
                <a:gd name="T59" fmla="*/ 30 h 71"/>
                <a:gd name="T60" fmla="*/ 237 w 497"/>
                <a:gd name="T61" fmla="*/ 30 h 71"/>
                <a:gd name="T62" fmla="*/ 245 w 497"/>
                <a:gd name="T63" fmla="*/ 30 h 71"/>
                <a:gd name="T64" fmla="*/ 253 w 497"/>
                <a:gd name="T65" fmla="*/ 30 h 71"/>
                <a:gd name="T66" fmla="*/ 261 w 497"/>
                <a:gd name="T67" fmla="*/ 30 h 71"/>
                <a:gd name="T68" fmla="*/ 269 w 497"/>
                <a:gd name="T69" fmla="*/ 30 h 71"/>
                <a:gd name="T70" fmla="*/ 277 w 497"/>
                <a:gd name="T71" fmla="*/ 30 h 71"/>
                <a:gd name="T72" fmla="*/ 285 w 497"/>
                <a:gd name="T73" fmla="*/ 30 h 71"/>
                <a:gd name="T74" fmla="*/ 293 w 497"/>
                <a:gd name="T75" fmla="*/ 30 h 71"/>
                <a:gd name="T76" fmla="*/ 301 w 497"/>
                <a:gd name="T77" fmla="*/ 25 h 71"/>
                <a:gd name="T78" fmla="*/ 309 w 497"/>
                <a:gd name="T79" fmla="*/ 30 h 71"/>
                <a:gd name="T80" fmla="*/ 317 w 497"/>
                <a:gd name="T81" fmla="*/ 25 h 71"/>
                <a:gd name="T82" fmla="*/ 325 w 497"/>
                <a:gd name="T83" fmla="*/ 25 h 71"/>
                <a:gd name="T84" fmla="*/ 333 w 497"/>
                <a:gd name="T85" fmla="*/ 25 h 71"/>
                <a:gd name="T86" fmla="*/ 341 w 497"/>
                <a:gd name="T87" fmla="*/ 25 h 71"/>
                <a:gd name="T88" fmla="*/ 349 w 497"/>
                <a:gd name="T89" fmla="*/ 25 h 71"/>
                <a:gd name="T90" fmla="*/ 357 w 497"/>
                <a:gd name="T91" fmla="*/ 25 h 71"/>
                <a:gd name="T92" fmla="*/ 365 w 497"/>
                <a:gd name="T93" fmla="*/ 25 h 71"/>
                <a:gd name="T94" fmla="*/ 377 w 497"/>
                <a:gd name="T95" fmla="*/ 21 h 71"/>
                <a:gd name="T96" fmla="*/ 385 w 497"/>
                <a:gd name="T97" fmla="*/ 21 h 71"/>
                <a:gd name="T98" fmla="*/ 393 w 497"/>
                <a:gd name="T99" fmla="*/ 21 h 71"/>
                <a:gd name="T100" fmla="*/ 401 w 497"/>
                <a:gd name="T101" fmla="*/ 21 h 71"/>
                <a:gd name="T102" fmla="*/ 409 w 497"/>
                <a:gd name="T103" fmla="*/ 17 h 71"/>
                <a:gd name="T104" fmla="*/ 417 w 497"/>
                <a:gd name="T105" fmla="*/ 13 h 71"/>
                <a:gd name="T106" fmla="*/ 425 w 497"/>
                <a:gd name="T107" fmla="*/ 9 h 71"/>
                <a:gd name="T108" fmla="*/ 433 w 497"/>
                <a:gd name="T109" fmla="*/ 9 h 71"/>
                <a:gd name="T110" fmla="*/ 441 w 497"/>
                <a:gd name="T111" fmla="*/ 9 h 71"/>
                <a:gd name="T112" fmla="*/ 449 w 497"/>
                <a:gd name="T113" fmla="*/ 9 h 71"/>
                <a:gd name="T114" fmla="*/ 457 w 497"/>
                <a:gd name="T115" fmla="*/ 9 h 71"/>
                <a:gd name="T116" fmla="*/ 465 w 497"/>
                <a:gd name="T117" fmla="*/ 9 h 71"/>
                <a:gd name="T118" fmla="*/ 473 w 497"/>
                <a:gd name="T119" fmla="*/ 4 h 71"/>
                <a:gd name="T120" fmla="*/ 481 w 497"/>
                <a:gd name="T121" fmla="*/ 0 h 71"/>
                <a:gd name="T122" fmla="*/ 485 w 497"/>
                <a:gd name="T123" fmla="*/ 0 h 71"/>
                <a:gd name="T124" fmla="*/ 493 w 497"/>
                <a:gd name="T125" fmla="*/ 0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97" h="71">
                  <a:moveTo>
                    <a:pt x="0" y="67"/>
                  </a:moveTo>
                  <a:lnTo>
                    <a:pt x="4" y="71"/>
                  </a:lnTo>
                  <a:lnTo>
                    <a:pt x="8" y="67"/>
                  </a:lnTo>
                  <a:lnTo>
                    <a:pt x="12" y="67"/>
                  </a:lnTo>
                  <a:lnTo>
                    <a:pt x="16" y="63"/>
                  </a:lnTo>
                  <a:lnTo>
                    <a:pt x="20" y="59"/>
                  </a:lnTo>
                  <a:lnTo>
                    <a:pt x="24" y="59"/>
                  </a:lnTo>
                  <a:lnTo>
                    <a:pt x="28" y="59"/>
                  </a:lnTo>
                  <a:lnTo>
                    <a:pt x="32" y="59"/>
                  </a:lnTo>
                  <a:lnTo>
                    <a:pt x="37" y="59"/>
                  </a:lnTo>
                  <a:lnTo>
                    <a:pt x="41" y="59"/>
                  </a:lnTo>
                  <a:lnTo>
                    <a:pt x="45" y="59"/>
                  </a:lnTo>
                  <a:lnTo>
                    <a:pt x="49" y="55"/>
                  </a:lnTo>
                  <a:lnTo>
                    <a:pt x="53" y="55"/>
                  </a:lnTo>
                  <a:lnTo>
                    <a:pt x="57" y="50"/>
                  </a:lnTo>
                  <a:lnTo>
                    <a:pt x="61" y="50"/>
                  </a:lnTo>
                  <a:lnTo>
                    <a:pt x="65" y="50"/>
                  </a:lnTo>
                  <a:lnTo>
                    <a:pt x="69" y="50"/>
                  </a:lnTo>
                  <a:lnTo>
                    <a:pt x="73" y="50"/>
                  </a:lnTo>
                  <a:lnTo>
                    <a:pt x="77" y="46"/>
                  </a:lnTo>
                  <a:lnTo>
                    <a:pt x="81" y="46"/>
                  </a:lnTo>
                  <a:lnTo>
                    <a:pt x="89" y="46"/>
                  </a:lnTo>
                  <a:lnTo>
                    <a:pt x="85" y="46"/>
                  </a:lnTo>
                  <a:lnTo>
                    <a:pt x="89" y="46"/>
                  </a:lnTo>
                  <a:lnTo>
                    <a:pt x="93" y="46"/>
                  </a:lnTo>
                  <a:lnTo>
                    <a:pt x="97" y="42"/>
                  </a:lnTo>
                  <a:lnTo>
                    <a:pt x="101" y="42"/>
                  </a:lnTo>
                  <a:lnTo>
                    <a:pt x="105" y="42"/>
                  </a:lnTo>
                  <a:lnTo>
                    <a:pt x="113" y="34"/>
                  </a:lnTo>
                  <a:lnTo>
                    <a:pt x="109" y="34"/>
                  </a:lnTo>
                  <a:lnTo>
                    <a:pt x="113" y="34"/>
                  </a:lnTo>
                  <a:lnTo>
                    <a:pt x="117" y="34"/>
                  </a:lnTo>
                  <a:lnTo>
                    <a:pt x="121" y="34"/>
                  </a:lnTo>
                  <a:lnTo>
                    <a:pt x="125" y="34"/>
                  </a:lnTo>
                  <a:lnTo>
                    <a:pt x="129" y="34"/>
                  </a:lnTo>
                  <a:lnTo>
                    <a:pt x="133" y="34"/>
                  </a:lnTo>
                  <a:lnTo>
                    <a:pt x="137" y="34"/>
                  </a:lnTo>
                  <a:lnTo>
                    <a:pt x="141" y="34"/>
                  </a:lnTo>
                  <a:lnTo>
                    <a:pt x="145" y="34"/>
                  </a:lnTo>
                  <a:lnTo>
                    <a:pt x="149" y="34"/>
                  </a:lnTo>
                  <a:lnTo>
                    <a:pt x="153" y="34"/>
                  </a:lnTo>
                  <a:lnTo>
                    <a:pt x="157" y="34"/>
                  </a:lnTo>
                  <a:lnTo>
                    <a:pt x="161" y="30"/>
                  </a:lnTo>
                  <a:lnTo>
                    <a:pt x="165" y="30"/>
                  </a:lnTo>
                  <a:lnTo>
                    <a:pt x="169" y="30"/>
                  </a:lnTo>
                  <a:lnTo>
                    <a:pt x="173" y="30"/>
                  </a:lnTo>
                  <a:lnTo>
                    <a:pt x="177" y="30"/>
                  </a:lnTo>
                  <a:lnTo>
                    <a:pt x="181" y="30"/>
                  </a:lnTo>
                  <a:lnTo>
                    <a:pt x="185" y="30"/>
                  </a:lnTo>
                  <a:lnTo>
                    <a:pt x="189" y="30"/>
                  </a:lnTo>
                  <a:lnTo>
                    <a:pt x="193" y="30"/>
                  </a:lnTo>
                  <a:lnTo>
                    <a:pt x="197" y="30"/>
                  </a:lnTo>
                  <a:lnTo>
                    <a:pt x="201" y="30"/>
                  </a:lnTo>
                  <a:lnTo>
                    <a:pt x="205" y="30"/>
                  </a:lnTo>
                  <a:lnTo>
                    <a:pt x="209" y="25"/>
                  </a:lnTo>
                  <a:lnTo>
                    <a:pt x="213" y="30"/>
                  </a:lnTo>
                  <a:lnTo>
                    <a:pt x="217" y="25"/>
                  </a:lnTo>
                  <a:lnTo>
                    <a:pt x="221" y="25"/>
                  </a:lnTo>
                  <a:lnTo>
                    <a:pt x="225" y="30"/>
                  </a:lnTo>
                  <a:lnTo>
                    <a:pt x="229" y="30"/>
                  </a:lnTo>
                  <a:lnTo>
                    <a:pt x="233" y="30"/>
                  </a:lnTo>
                  <a:lnTo>
                    <a:pt x="237" y="30"/>
                  </a:lnTo>
                  <a:lnTo>
                    <a:pt x="241" y="30"/>
                  </a:lnTo>
                  <a:lnTo>
                    <a:pt x="245" y="30"/>
                  </a:lnTo>
                  <a:lnTo>
                    <a:pt x="249" y="30"/>
                  </a:lnTo>
                  <a:lnTo>
                    <a:pt x="253" y="30"/>
                  </a:lnTo>
                  <a:lnTo>
                    <a:pt x="257" y="30"/>
                  </a:lnTo>
                  <a:lnTo>
                    <a:pt x="261" y="30"/>
                  </a:lnTo>
                  <a:lnTo>
                    <a:pt x="265" y="30"/>
                  </a:lnTo>
                  <a:lnTo>
                    <a:pt x="269" y="30"/>
                  </a:lnTo>
                  <a:lnTo>
                    <a:pt x="273" y="30"/>
                  </a:lnTo>
                  <a:lnTo>
                    <a:pt x="277" y="30"/>
                  </a:lnTo>
                  <a:lnTo>
                    <a:pt x="281" y="30"/>
                  </a:lnTo>
                  <a:lnTo>
                    <a:pt x="285" y="30"/>
                  </a:lnTo>
                  <a:lnTo>
                    <a:pt x="289" y="30"/>
                  </a:lnTo>
                  <a:lnTo>
                    <a:pt x="293" y="30"/>
                  </a:lnTo>
                  <a:lnTo>
                    <a:pt x="297" y="30"/>
                  </a:lnTo>
                  <a:lnTo>
                    <a:pt x="301" y="25"/>
                  </a:lnTo>
                  <a:lnTo>
                    <a:pt x="305" y="25"/>
                  </a:lnTo>
                  <a:lnTo>
                    <a:pt x="309" y="30"/>
                  </a:lnTo>
                  <a:lnTo>
                    <a:pt x="313" y="25"/>
                  </a:lnTo>
                  <a:lnTo>
                    <a:pt x="317" y="25"/>
                  </a:lnTo>
                  <a:lnTo>
                    <a:pt x="321" y="25"/>
                  </a:lnTo>
                  <a:lnTo>
                    <a:pt x="325" y="25"/>
                  </a:lnTo>
                  <a:lnTo>
                    <a:pt x="329" y="25"/>
                  </a:lnTo>
                  <a:lnTo>
                    <a:pt x="333" y="25"/>
                  </a:lnTo>
                  <a:lnTo>
                    <a:pt x="337" y="25"/>
                  </a:lnTo>
                  <a:lnTo>
                    <a:pt x="341" y="25"/>
                  </a:lnTo>
                  <a:lnTo>
                    <a:pt x="345" y="25"/>
                  </a:lnTo>
                  <a:lnTo>
                    <a:pt x="349" y="25"/>
                  </a:lnTo>
                  <a:lnTo>
                    <a:pt x="353" y="25"/>
                  </a:lnTo>
                  <a:lnTo>
                    <a:pt x="357" y="25"/>
                  </a:lnTo>
                  <a:lnTo>
                    <a:pt x="361" y="25"/>
                  </a:lnTo>
                  <a:lnTo>
                    <a:pt x="365" y="25"/>
                  </a:lnTo>
                  <a:lnTo>
                    <a:pt x="369" y="21"/>
                  </a:lnTo>
                  <a:lnTo>
                    <a:pt x="377" y="21"/>
                  </a:lnTo>
                  <a:lnTo>
                    <a:pt x="381" y="21"/>
                  </a:lnTo>
                  <a:lnTo>
                    <a:pt x="385" y="21"/>
                  </a:lnTo>
                  <a:lnTo>
                    <a:pt x="389" y="21"/>
                  </a:lnTo>
                  <a:lnTo>
                    <a:pt x="393" y="21"/>
                  </a:lnTo>
                  <a:lnTo>
                    <a:pt x="397" y="21"/>
                  </a:lnTo>
                  <a:lnTo>
                    <a:pt x="401" y="21"/>
                  </a:lnTo>
                  <a:lnTo>
                    <a:pt x="405" y="21"/>
                  </a:lnTo>
                  <a:lnTo>
                    <a:pt x="409" y="17"/>
                  </a:lnTo>
                  <a:lnTo>
                    <a:pt x="413" y="13"/>
                  </a:lnTo>
                  <a:lnTo>
                    <a:pt x="417" y="13"/>
                  </a:lnTo>
                  <a:lnTo>
                    <a:pt x="421" y="9"/>
                  </a:lnTo>
                  <a:lnTo>
                    <a:pt x="425" y="9"/>
                  </a:lnTo>
                  <a:lnTo>
                    <a:pt x="429" y="9"/>
                  </a:lnTo>
                  <a:lnTo>
                    <a:pt x="433" y="9"/>
                  </a:lnTo>
                  <a:lnTo>
                    <a:pt x="437" y="9"/>
                  </a:lnTo>
                  <a:lnTo>
                    <a:pt x="441" y="9"/>
                  </a:lnTo>
                  <a:lnTo>
                    <a:pt x="445" y="9"/>
                  </a:lnTo>
                  <a:lnTo>
                    <a:pt x="449" y="9"/>
                  </a:lnTo>
                  <a:lnTo>
                    <a:pt x="453" y="9"/>
                  </a:lnTo>
                  <a:lnTo>
                    <a:pt x="457" y="9"/>
                  </a:lnTo>
                  <a:lnTo>
                    <a:pt x="461" y="9"/>
                  </a:lnTo>
                  <a:lnTo>
                    <a:pt x="465" y="9"/>
                  </a:lnTo>
                  <a:lnTo>
                    <a:pt x="469" y="9"/>
                  </a:lnTo>
                  <a:lnTo>
                    <a:pt x="473" y="4"/>
                  </a:lnTo>
                  <a:lnTo>
                    <a:pt x="477" y="4"/>
                  </a:lnTo>
                  <a:lnTo>
                    <a:pt x="481" y="0"/>
                  </a:lnTo>
                  <a:lnTo>
                    <a:pt x="489" y="0"/>
                  </a:lnTo>
                  <a:lnTo>
                    <a:pt x="485" y="0"/>
                  </a:lnTo>
                  <a:lnTo>
                    <a:pt x="489" y="0"/>
                  </a:lnTo>
                  <a:lnTo>
                    <a:pt x="493" y="0"/>
                  </a:lnTo>
                  <a:lnTo>
                    <a:pt x="497" y="0"/>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73" name="Freeform 238"/>
            <p:cNvSpPr>
              <a:spLocks/>
            </p:cNvSpPr>
            <p:nvPr/>
          </p:nvSpPr>
          <p:spPr bwMode="auto">
            <a:xfrm>
              <a:off x="3459" y="3222"/>
              <a:ext cx="221" cy="21"/>
            </a:xfrm>
            <a:custGeom>
              <a:avLst/>
              <a:gdLst>
                <a:gd name="T0" fmla="*/ 0 w 221"/>
                <a:gd name="T1" fmla="*/ 21 h 21"/>
                <a:gd name="T2" fmla="*/ 4 w 221"/>
                <a:gd name="T3" fmla="*/ 21 h 21"/>
                <a:gd name="T4" fmla="*/ 8 w 221"/>
                <a:gd name="T5" fmla="*/ 21 h 21"/>
                <a:gd name="T6" fmla="*/ 12 w 221"/>
                <a:gd name="T7" fmla="*/ 21 h 21"/>
                <a:gd name="T8" fmla="*/ 16 w 221"/>
                <a:gd name="T9" fmla="*/ 21 h 21"/>
                <a:gd name="T10" fmla="*/ 21 w 221"/>
                <a:gd name="T11" fmla="*/ 21 h 21"/>
                <a:gd name="T12" fmla="*/ 25 w 221"/>
                <a:gd name="T13" fmla="*/ 17 h 21"/>
                <a:gd name="T14" fmla="*/ 29 w 221"/>
                <a:gd name="T15" fmla="*/ 17 h 21"/>
                <a:gd name="T16" fmla="*/ 33 w 221"/>
                <a:gd name="T17" fmla="*/ 17 h 21"/>
                <a:gd name="T18" fmla="*/ 37 w 221"/>
                <a:gd name="T19" fmla="*/ 17 h 21"/>
                <a:gd name="T20" fmla="*/ 41 w 221"/>
                <a:gd name="T21" fmla="*/ 17 h 21"/>
                <a:gd name="T22" fmla="*/ 45 w 221"/>
                <a:gd name="T23" fmla="*/ 17 h 21"/>
                <a:gd name="T24" fmla="*/ 49 w 221"/>
                <a:gd name="T25" fmla="*/ 17 h 21"/>
                <a:gd name="T26" fmla="*/ 53 w 221"/>
                <a:gd name="T27" fmla="*/ 17 h 21"/>
                <a:gd name="T28" fmla="*/ 57 w 221"/>
                <a:gd name="T29" fmla="*/ 17 h 21"/>
                <a:gd name="T30" fmla="*/ 61 w 221"/>
                <a:gd name="T31" fmla="*/ 17 h 21"/>
                <a:gd name="T32" fmla="*/ 65 w 221"/>
                <a:gd name="T33" fmla="*/ 17 h 21"/>
                <a:gd name="T34" fmla="*/ 69 w 221"/>
                <a:gd name="T35" fmla="*/ 17 h 21"/>
                <a:gd name="T36" fmla="*/ 73 w 221"/>
                <a:gd name="T37" fmla="*/ 17 h 21"/>
                <a:gd name="T38" fmla="*/ 77 w 221"/>
                <a:gd name="T39" fmla="*/ 17 h 21"/>
                <a:gd name="T40" fmla="*/ 81 w 221"/>
                <a:gd name="T41" fmla="*/ 17 h 21"/>
                <a:gd name="T42" fmla="*/ 85 w 221"/>
                <a:gd name="T43" fmla="*/ 13 h 21"/>
                <a:gd name="T44" fmla="*/ 89 w 221"/>
                <a:gd name="T45" fmla="*/ 13 h 21"/>
                <a:gd name="T46" fmla="*/ 93 w 221"/>
                <a:gd name="T47" fmla="*/ 17 h 21"/>
                <a:gd name="T48" fmla="*/ 97 w 221"/>
                <a:gd name="T49" fmla="*/ 13 h 21"/>
                <a:gd name="T50" fmla="*/ 101 w 221"/>
                <a:gd name="T51" fmla="*/ 13 h 21"/>
                <a:gd name="T52" fmla="*/ 105 w 221"/>
                <a:gd name="T53" fmla="*/ 13 h 21"/>
                <a:gd name="T54" fmla="*/ 109 w 221"/>
                <a:gd name="T55" fmla="*/ 13 h 21"/>
                <a:gd name="T56" fmla="*/ 113 w 221"/>
                <a:gd name="T57" fmla="*/ 13 h 21"/>
                <a:gd name="T58" fmla="*/ 117 w 221"/>
                <a:gd name="T59" fmla="*/ 13 h 21"/>
                <a:gd name="T60" fmla="*/ 117 w 221"/>
                <a:gd name="T61" fmla="*/ 5 h 21"/>
                <a:gd name="T62" fmla="*/ 121 w 221"/>
                <a:gd name="T63" fmla="*/ 5 h 21"/>
                <a:gd name="T64" fmla="*/ 125 w 221"/>
                <a:gd name="T65" fmla="*/ 5 h 21"/>
                <a:gd name="T66" fmla="*/ 129 w 221"/>
                <a:gd name="T67" fmla="*/ 5 h 21"/>
                <a:gd name="T68" fmla="*/ 133 w 221"/>
                <a:gd name="T69" fmla="*/ 5 h 21"/>
                <a:gd name="T70" fmla="*/ 137 w 221"/>
                <a:gd name="T71" fmla="*/ 0 h 21"/>
                <a:gd name="T72" fmla="*/ 141 w 221"/>
                <a:gd name="T73" fmla="*/ 9 h 21"/>
                <a:gd name="T74" fmla="*/ 141 w 221"/>
                <a:gd name="T75" fmla="*/ 5 h 21"/>
                <a:gd name="T76" fmla="*/ 145 w 221"/>
                <a:gd name="T77" fmla="*/ 0 h 21"/>
                <a:gd name="T78" fmla="*/ 149 w 221"/>
                <a:gd name="T79" fmla="*/ 5 h 21"/>
                <a:gd name="T80" fmla="*/ 153 w 221"/>
                <a:gd name="T81" fmla="*/ 5 h 21"/>
                <a:gd name="T82" fmla="*/ 157 w 221"/>
                <a:gd name="T83" fmla="*/ 5 h 21"/>
                <a:gd name="T84" fmla="*/ 161 w 221"/>
                <a:gd name="T85" fmla="*/ 5 h 21"/>
                <a:gd name="T86" fmla="*/ 165 w 221"/>
                <a:gd name="T87" fmla="*/ 5 h 21"/>
                <a:gd name="T88" fmla="*/ 169 w 221"/>
                <a:gd name="T89" fmla="*/ 5 h 21"/>
                <a:gd name="T90" fmla="*/ 173 w 221"/>
                <a:gd name="T91" fmla="*/ 5 h 21"/>
                <a:gd name="T92" fmla="*/ 177 w 221"/>
                <a:gd name="T93" fmla="*/ 5 h 21"/>
                <a:gd name="T94" fmla="*/ 181 w 221"/>
                <a:gd name="T95" fmla="*/ 5 h 21"/>
                <a:gd name="T96" fmla="*/ 185 w 221"/>
                <a:gd name="T97" fmla="*/ 5 h 21"/>
                <a:gd name="T98" fmla="*/ 189 w 221"/>
                <a:gd name="T99" fmla="*/ 5 h 21"/>
                <a:gd name="T100" fmla="*/ 193 w 221"/>
                <a:gd name="T101" fmla="*/ 5 h 21"/>
                <a:gd name="T102" fmla="*/ 197 w 221"/>
                <a:gd name="T103" fmla="*/ 5 h 21"/>
                <a:gd name="T104" fmla="*/ 201 w 221"/>
                <a:gd name="T105" fmla="*/ 5 h 21"/>
                <a:gd name="T106" fmla="*/ 205 w 221"/>
                <a:gd name="T107" fmla="*/ 5 h 21"/>
                <a:gd name="T108" fmla="*/ 209 w 221"/>
                <a:gd name="T109" fmla="*/ 5 h 21"/>
                <a:gd name="T110" fmla="*/ 213 w 221"/>
                <a:gd name="T111" fmla="*/ 5 h 21"/>
                <a:gd name="T112" fmla="*/ 217 w 221"/>
                <a:gd name="T113" fmla="*/ 5 h 21"/>
                <a:gd name="T114" fmla="*/ 221 w 221"/>
                <a:gd name="T115" fmla="*/ 5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221" h="21">
                  <a:moveTo>
                    <a:pt x="0" y="21"/>
                  </a:moveTo>
                  <a:lnTo>
                    <a:pt x="4" y="21"/>
                  </a:lnTo>
                  <a:lnTo>
                    <a:pt x="8" y="21"/>
                  </a:lnTo>
                  <a:lnTo>
                    <a:pt x="12" y="21"/>
                  </a:lnTo>
                  <a:lnTo>
                    <a:pt x="16" y="21"/>
                  </a:lnTo>
                  <a:lnTo>
                    <a:pt x="21" y="21"/>
                  </a:lnTo>
                  <a:lnTo>
                    <a:pt x="25" y="17"/>
                  </a:lnTo>
                  <a:lnTo>
                    <a:pt x="29" y="17"/>
                  </a:lnTo>
                  <a:lnTo>
                    <a:pt x="33" y="17"/>
                  </a:lnTo>
                  <a:lnTo>
                    <a:pt x="37" y="17"/>
                  </a:lnTo>
                  <a:lnTo>
                    <a:pt x="41" y="17"/>
                  </a:lnTo>
                  <a:lnTo>
                    <a:pt x="45" y="17"/>
                  </a:lnTo>
                  <a:lnTo>
                    <a:pt x="49" y="17"/>
                  </a:lnTo>
                  <a:lnTo>
                    <a:pt x="53" y="17"/>
                  </a:lnTo>
                  <a:lnTo>
                    <a:pt x="57" y="17"/>
                  </a:lnTo>
                  <a:lnTo>
                    <a:pt x="61" y="17"/>
                  </a:lnTo>
                  <a:lnTo>
                    <a:pt x="65" y="17"/>
                  </a:lnTo>
                  <a:lnTo>
                    <a:pt x="69" y="17"/>
                  </a:lnTo>
                  <a:lnTo>
                    <a:pt x="73" y="17"/>
                  </a:lnTo>
                  <a:lnTo>
                    <a:pt x="77" y="17"/>
                  </a:lnTo>
                  <a:lnTo>
                    <a:pt x="81" y="17"/>
                  </a:lnTo>
                  <a:lnTo>
                    <a:pt x="85" y="13"/>
                  </a:lnTo>
                  <a:lnTo>
                    <a:pt x="89" y="13"/>
                  </a:lnTo>
                  <a:lnTo>
                    <a:pt x="93" y="17"/>
                  </a:lnTo>
                  <a:lnTo>
                    <a:pt x="97" y="13"/>
                  </a:lnTo>
                  <a:lnTo>
                    <a:pt x="101" y="13"/>
                  </a:lnTo>
                  <a:lnTo>
                    <a:pt x="105" y="13"/>
                  </a:lnTo>
                  <a:lnTo>
                    <a:pt x="109" y="13"/>
                  </a:lnTo>
                  <a:lnTo>
                    <a:pt x="113" y="13"/>
                  </a:lnTo>
                  <a:lnTo>
                    <a:pt x="117" y="13"/>
                  </a:lnTo>
                  <a:lnTo>
                    <a:pt x="117" y="5"/>
                  </a:lnTo>
                  <a:lnTo>
                    <a:pt x="121" y="5"/>
                  </a:lnTo>
                  <a:lnTo>
                    <a:pt x="125" y="5"/>
                  </a:lnTo>
                  <a:lnTo>
                    <a:pt x="129" y="5"/>
                  </a:lnTo>
                  <a:lnTo>
                    <a:pt x="133" y="5"/>
                  </a:lnTo>
                  <a:lnTo>
                    <a:pt x="137" y="0"/>
                  </a:lnTo>
                  <a:lnTo>
                    <a:pt x="141" y="9"/>
                  </a:lnTo>
                  <a:lnTo>
                    <a:pt x="141" y="5"/>
                  </a:lnTo>
                  <a:lnTo>
                    <a:pt x="145" y="0"/>
                  </a:lnTo>
                  <a:lnTo>
                    <a:pt x="149" y="5"/>
                  </a:lnTo>
                  <a:lnTo>
                    <a:pt x="153" y="5"/>
                  </a:lnTo>
                  <a:lnTo>
                    <a:pt x="157" y="5"/>
                  </a:lnTo>
                  <a:lnTo>
                    <a:pt x="161" y="5"/>
                  </a:lnTo>
                  <a:lnTo>
                    <a:pt x="165" y="5"/>
                  </a:lnTo>
                  <a:lnTo>
                    <a:pt x="169" y="5"/>
                  </a:lnTo>
                  <a:lnTo>
                    <a:pt x="173" y="5"/>
                  </a:lnTo>
                  <a:lnTo>
                    <a:pt x="177" y="5"/>
                  </a:lnTo>
                  <a:lnTo>
                    <a:pt x="181" y="5"/>
                  </a:lnTo>
                  <a:lnTo>
                    <a:pt x="185" y="5"/>
                  </a:lnTo>
                  <a:lnTo>
                    <a:pt x="189" y="5"/>
                  </a:lnTo>
                  <a:lnTo>
                    <a:pt x="193" y="5"/>
                  </a:lnTo>
                  <a:lnTo>
                    <a:pt x="197" y="5"/>
                  </a:lnTo>
                  <a:lnTo>
                    <a:pt x="201" y="5"/>
                  </a:lnTo>
                  <a:lnTo>
                    <a:pt x="205" y="5"/>
                  </a:lnTo>
                  <a:lnTo>
                    <a:pt x="209" y="5"/>
                  </a:lnTo>
                  <a:lnTo>
                    <a:pt x="213" y="5"/>
                  </a:lnTo>
                  <a:lnTo>
                    <a:pt x="217" y="5"/>
                  </a:lnTo>
                  <a:lnTo>
                    <a:pt x="221" y="5"/>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74" name="Rectangle 239"/>
            <p:cNvSpPr>
              <a:spLocks noChangeArrowheads="1"/>
            </p:cNvSpPr>
            <p:nvPr/>
          </p:nvSpPr>
          <p:spPr bwMode="auto">
            <a:xfrm>
              <a:off x="2966" y="4074"/>
              <a:ext cx="341"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smtClean="0">
                  <a:ln>
                    <a:noFill/>
                  </a:ln>
                  <a:solidFill>
                    <a:srgbClr val="000000"/>
                  </a:solidFill>
                  <a:effectLst/>
                  <a:latin typeface="Calibri" panose="020F0502020204030204" pitchFamily="34" charset="0"/>
                </a:rPr>
                <a:t>Iteration</a:t>
              </a: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sp>
          <p:nvSpPr>
            <p:cNvPr id="375" name="Rectangle 240"/>
            <p:cNvSpPr>
              <a:spLocks noChangeArrowheads="1"/>
            </p:cNvSpPr>
            <p:nvPr/>
          </p:nvSpPr>
          <p:spPr bwMode="auto">
            <a:xfrm rot="16200000">
              <a:off x="1923" y="3474"/>
              <a:ext cx="898"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smtClean="0">
                  <a:ln>
                    <a:noFill/>
                  </a:ln>
                  <a:solidFill>
                    <a:srgbClr val="000000"/>
                  </a:solidFill>
                  <a:effectLst/>
                  <a:latin typeface="Calibri" panose="020F0502020204030204" pitchFamily="34" charset="0"/>
                </a:rPr>
                <a:t>Fraction specific neurons</a:t>
              </a: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grpSp>
      <p:sp>
        <p:nvSpPr>
          <p:cNvPr id="377" name="TextBox 376"/>
          <p:cNvSpPr txBox="1"/>
          <p:nvPr/>
        </p:nvSpPr>
        <p:spPr>
          <a:xfrm>
            <a:off x="148347" y="258700"/>
            <a:ext cx="312906" cy="369332"/>
          </a:xfrm>
          <a:prstGeom prst="rect">
            <a:avLst/>
          </a:prstGeom>
          <a:noFill/>
        </p:spPr>
        <p:txBody>
          <a:bodyPr wrap="none" rtlCol="0">
            <a:spAutoFit/>
          </a:bodyPr>
          <a:lstStyle/>
          <a:p>
            <a:r>
              <a:rPr lang="en-US" b="1" dirty="0" smtClean="0">
                <a:latin typeface="Arial" panose="020B0604020202020204" pitchFamily="34" charset="0"/>
                <a:cs typeface="Arial" panose="020B0604020202020204" pitchFamily="34" charset="0"/>
              </a:rPr>
              <a:t>a</a:t>
            </a:r>
            <a:endParaRPr lang="en-US" b="1" dirty="0">
              <a:latin typeface="Arial" panose="020B0604020202020204" pitchFamily="34" charset="0"/>
              <a:cs typeface="Arial" panose="020B0604020202020204" pitchFamily="34" charset="0"/>
            </a:endParaRPr>
          </a:p>
        </p:txBody>
      </p:sp>
      <p:sp>
        <p:nvSpPr>
          <p:cNvPr id="378" name="TextBox 377"/>
          <p:cNvSpPr txBox="1"/>
          <p:nvPr/>
        </p:nvSpPr>
        <p:spPr>
          <a:xfrm>
            <a:off x="3042348" y="258454"/>
            <a:ext cx="325730" cy="369332"/>
          </a:xfrm>
          <a:prstGeom prst="rect">
            <a:avLst/>
          </a:prstGeom>
          <a:noFill/>
        </p:spPr>
        <p:txBody>
          <a:bodyPr wrap="none" rtlCol="0">
            <a:spAutoFit/>
          </a:bodyPr>
          <a:lstStyle/>
          <a:p>
            <a:r>
              <a:rPr lang="en-US" b="1" dirty="0" smtClean="0">
                <a:latin typeface="Arial" panose="020B0604020202020204" pitchFamily="34" charset="0"/>
                <a:cs typeface="Arial" panose="020B0604020202020204" pitchFamily="34" charset="0"/>
              </a:rPr>
              <a:t>b</a:t>
            </a:r>
            <a:endParaRPr lang="en-US" b="1" dirty="0">
              <a:latin typeface="Arial" panose="020B0604020202020204" pitchFamily="34" charset="0"/>
              <a:cs typeface="Arial" panose="020B0604020202020204" pitchFamily="34" charset="0"/>
            </a:endParaRPr>
          </a:p>
        </p:txBody>
      </p:sp>
      <p:sp>
        <p:nvSpPr>
          <p:cNvPr id="379" name="TextBox 378"/>
          <p:cNvSpPr txBox="1"/>
          <p:nvPr/>
        </p:nvSpPr>
        <p:spPr>
          <a:xfrm>
            <a:off x="148347" y="2164613"/>
            <a:ext cx="312906" cy="369332"/>
          </a:xfrm>
          <a:prstGeom prst="rect">
            <a:avLst/>
          </a:prstGeom>
          <a:noFill/>
        </p:spPr>
        <p:txBody>
          <a:bodyPr wrap="none" rtlCol="0">
            <a:spAutoFit/>
          </a:bodyPr>
          <a:lstStyle/>
          <a:p>
            <a:r>
              <a:rPr lang="en-US" b="1" dirty="0">
                <a:latin typeface="Arial" panose="020B0604020202020204" pitchFamily="34" charset="0"/>
                <a:cs typeface="Arial" panose="020B0604020202020204" pitchFamily="34" charset="0"/>
              </a:rPr>
              <a:t>c</a:t>
            </a:r>
          </a:p>
        </p:txBody>
      </p:sp>
      <p:sp>
        <p:nvSpPr>
          <p:cNvPr id="380" name="TextBox 379"/>
          <p:cNvSpPr txBox="1"/>
          <p:nvPr/>
        </p:nvSpPr>
        <p:spPr>
          <a:xfrm>
            <a:off x="3042348" y="2164367"/>
            <a:ext cx="325730" cy="369332"/>
          </a:xfrm>
          <a:prstGeom prst="rect">
            <a:avLst/>
          </a:prstGeom>
          <a:noFill/>
        </p:spPr>
        <p:txBody>
          <a:bodyPr wrap="none" rtlCol="0">
            <a:spAutoFit/>
          </a:bodyPr>
          <a:lstStyle/>
          <a:p>
            <a:r>
              <a:rPr lang="en-US" b="1" dirty="0">
                <a:latin typeface="Arial" panose="020B0604020202020204" pitchFamily="34" charset="0"/>
                <a:cs typeface="Arial" panose="020B0604020202020204" pitchFamily="34" charset="0"/>
              </a:rPr>
              <a:t>d</a:t>
            </a:r>
          </a:p>
        </p:txBody>
      </p:sp>
      <p:sp>
        <p:nvSpPr>
          <p:cNvPr id="2" name="Rectangle 1"/>
          <p:cNvSpPr/>
          <p:nvPr/>
        </p:nvSpPr>
        <p:spPr>
          <a:xfrm>
            <a:off x="382363" y="5152798"/>
            <a:ext cx="6250243" cy="1985159"/>
          </a:xfrm>
          <a:prstGeom prst="rect">
            <a:avLst/>
          </a:prstGeom>
        </p:spPr>
        <p:txBody>
          <a:bodyPr wrap="square">
            <a:spAutoFit/>
          </a:bodyPr>
          <a:lstStyle/>
          <a:p>
            <a:pPr marL="342900" indent="-342900">
              <a:spcAft>
                <a:spcPts val="600"/>
              </a:spcAft>
              <a:buFont typeface="+mj-lt"/>
              <a:buAutoNum type="alphaLcPeriod"/>
              <a:defRPr/>
            </a:pPr>
            <a:r>
              <a:rPr lang="en-US" sz="1200" dirty="0" smtClean="0">
                <a:latin typeface="Arial" panose="020B0604020202020204" pitchFamily="34" charset="0"/>
                <a:cs typeface="Arial" panose="020B0604020202020204" pitchFamily="34" charset="0"/>
              </a:rPr>
              <a:t>Distribution of firing latency of neurons participating in the protosyllable. (</a:t>
            </a:r>
            <a:r>
              <a:rPr lang="en-US" sz="1200" dirty="0">
                <a:latin typeface="Arial" panose="020B0604020202020204" pitchFamily="34" charset="0"/>
                <a:cs typeface="Arial" panose="020B0604020202020204" pitchFamily="34" charset="0"/>
              </a:rPr>
              <a:t>n = x neurons from 10 simulations).</a:t>
            </a:r>
            <a:endParaRPr lang="en-US" sz="1200" dirty="0"/>
          </a:p>
          <a:p>
            <a:pPr marL="342900" indent="-342900">
              <a:spcAft>
                <a:spcPts val="600"/>
              </a:spcAft>
              <a:buFont typeface="+mj-lt"/>
              <a:buAutoNum type="alphaLcPeriod"/>
              <a:defRPr/>
            </a:pPr>
            <a:r>
              <a:rPr lang="en-US" sz="1200" dirty="0" smtClean="0">
                <a:latin typeface="Arial" panose="020B0604020202020204" pitchFamily="34" charset="0"/>
                <a:cs typeface="Arial" panose="020B0604020202020204" pitchFamily="34" charset="0"/>
              </a:rPr>
              <a:t>Position </a:t>
            </a:r>
            <a:r>
              <a:rPr lang="en-US" sz="1200" dirty="0">
                <a:latin typeface="Arial" panose="020B0604020202020204" pitchFamily="34" charset="0"/>
                <a:cs typeface="Arial" panose="020B0604020202020204" pitchFamily="34" charset="0"/>
              </a:rPr>
              <a:t>of shared neurons within daughter syllables during partial differentiation: sequence is preserved</a:t>
            </a:r>
            <a:endParaRPr lang="en-US" sz="1200" dirty="0"/>
          </a:p>
          <a:p>
            <a:pPr marL="342900" indent="-342900">
              <a:spcAft>
                <a:spcPts val="600"/>
              </a:spcAft>
              <a:buFont typeface="+mj-lt"/>
              <a:buAutoNum type="alphaLcPeriod"/>
              <a:defRPr/>
            </a:pPr>
            <a:r>
              <a:rPr lang="en-US" sz="1200" dirty="0" smtClean="0"/>
              <a:t>Fraction </a:t>
            </a:r>
            <a:r>
              <a:rPr lang="en-US" sz="1200" dirty="0">
                <a:latin typeface="Arial" panose="020B0604020202020204" pitchFamily="34" charset="0"/>
                <a:cs typeface="Arial" panose="020B0604020202020204" pitchFamily="34" charset="0"/>
              </a:rPr>
              <a:t>of neurons that fire only during one syllable, and not the other, as a function of iteration number. Each iteration represents 100 time steps of neural activity. </a:t>
            </a:r>
            <a:r>
              <a:rPr lang="en-US" sz="1200" dirty="0"/>
              <a:t>Error bars indicate SEM (n=10 simulations);</a:t>
            </a:r>
          </a:p>
          <a:p>
            <a:pPr marL="342900" indent="-342900">
              <a:spcAft>
                <a:spcPts val="600"/>
              </a:spcAft>
              <a:buFont typeface="+mj-lt"/>
              <a:buAutoNum type="alphaLcPeriod"/>
            </a:pPr>
            <a:r>
              <a:rPr lang="en-US" sz="1200" dirty="0" smtClean="0"/>
              <a:t>Mean </a:t>
            </a:r>
            <a:r>
              <a:rPr lang="en-US" sz="1200" dirty="0"/>
              <a:t>period of model neurons as a function of iteration number. Error bars indicate SEM (n=10 simulations)</a:t>
            </a:r>
          </a:p>
        </p:txBody>
      </p:sp>
    </p:spTree>
    <p:extLst>
      <p:ext uri="{BB962C8B-B14F-4D97-AF65-F5344CB8AC3E}">
        <p14:creationId xmlns:p14="http://schemas.microsoft.com/office/powerpoint/2010/main" val="120232056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773814" y="483525"/>
            <a:ext cx="7937596" cy="1656600"/>
          </a:xfrm>
          <a:prstGeom prst="rect">
            <a:avLst/>
          </a:prstGeom>
        </p:spPr>
      </p:pic>
      <p:sp>
        <p:nvSpPr>
          <p:cNvPr id="5" name="TextBox 4"/>
          <p:cNvSpPr txBox="1"/>
          <p:nvPr/>
        </p:nvSpPr>
        <p:spPr>
          <a:xfrm>
            <a:off x="212008" y="979947"/>
            <a:ext cx="978153" cy="430887"/>
          </a:xfrm>
          <a:prstGeom prst="rect">
            <a:avLst/>
          </a:prstGeom>
          <a:noFill/>
        </p:spPr>
        <p:txBody>
          <a:bodyPr wrap="none" rtlCol="0">
            <a:spAutoFit/>
          </a:bodyPr>
          <a:lstStyle/>
          <a:p>
            <a:pPr algn="ctr"/>
            <a:r>
              <a:rPr lang="en-US" sz="1100" dirty="0" smtClean="0">
                <a:latin typeface="Arial" panose="020B0604020202020204" pitchFamily="34" charset="0"/>
                <a:cs typeface="Arial" panose="020B0604020202020204" pitchFamily="34" charset="0"/>
              </a:rPr>
              <a:t>Partial</a:t>
            </a:r>
            <a:br>
              <a:rPr lang="en-US" sz="1100" dirty="0" smtClean="0">
                <a:latin typeface="Arial" panose="020B0604020202020204" pitchFamily="34" charset="0"/>
                <a:cs typeface="Arial" panose="020B0604020202020204" pitchFamily="34" charset="0"/>
              </a:rPr>
            </a:br>
            <a:r>
              <a:rPr lang="en-US" sz="1100" dirty="0" smtClean="0">
                <a:latin typeface="Arial" panose="020B0604020202020204" pitchFamily="34" charset="0"/>
                <a:cs typeface="Arial" panose="020B0604020202020204" pitchFamily="34" charset="0"/>
              </a:rPr>
              <a:t>protosyllable</a:t>
            </a:r>
            <a:endParaRPr lang="en-US" sz="1100" dirty="0">
              <a:latin typeface="Arial" panose="020B0604020202020204" pitchFamily="34" charset="0"/>
              <a:cs typeface="Arial" panose="020B0604020202020204" pitchFamily="34" charset="0"/>
            </a:endParaRPr>
          </a:p>
        </p:txBody>
      </p:sp>
      <p:sp>
        <p:nvSpPr>
          <p:cNvPr id="6" name="TextBox 5"/>
          <p:cNvSpPr txBox="1"/>
          <p:nvPr/>
        </p:nvSpPr>
        <p:spPr>
          <a:xfrm>
            <a:off x="152332" y="2595357"/>
            <a:ext cx="1101030" cy="261610"/>
          </a:xfrm>
          <a:prstGeom prst="rect">
            <a:avLst/>
          </a:prstGeom>
          <a:noFill/>
        </p:spPr>
        <p:txBody>
          <a:bodyPr wrap="square" rtlCol="0">
            <a:spAutoFit/>
          </a:bodyPr>
          <a:lstStyle/>
          <a:p>
            <a:pPr algn="ctr"/>
            <a:r>
              <a:rPr lang="en-US" sz="1100" dirty="0" smtClean="0">
                <a:latin typeface="Arial" panose="020B0604020202020204" pitchFamily="34" charset="0"/>
                <a:cs typeface="Arial" panose="020B0604020202020204" pitchFamily="34" charset="0"/>
              </a:rPr>
              <a:t>Protosyllable</a:t>
            </a:r>
            <a:endParaRPr lang="en-US" sz="1100" dirty="0">
              <a:latin typeface="Arial" panose="020B0604020202020204" pitchFamily="34" charset="0"/>
              <a:cs typeface="Arial" panose="020B0604020202020204" pitchFamily="34" charset="0"/>
            </a:endParaRPr>
          </a:p>
        </p:txBody>
      </p:sp>
      <p:sp>
        <p:nvSpPr>
          <p:cNvPr id="7" name="TextBox 6"/>
          <p:cNvSpPr txBox="1"/>
          <p:nvPr/>
        </p:nvSpPr>
        <p:spPr>
          <a:xfrm>
            <a:off x="76279" y="4380045"/>
            <a:ext cx="1253136" cy="430887"/>
          </a:xfrm>
          <a:prstGeom prst="rect">
            <a:avLst/>
          </a:prstGeom>
          <a:noFill/>
        </p:spPr>
        <p:txBody>
          <a:bodyPr wrap="square" rtlCol="0">
            <a:spAutoFit/>
          </a:bodyPr>
          <a:lstStyle/>
          <a:p>
            <a:pPr algn="ctr"/>
            <a:r>
              <a:rPr lang="en-US" sz="1100" dirty="0" smtClean="0">
                <a:latin typeface="Arial" panose="020B0604020202020204" pitchFamily="34" charset="0"/>
                <a:cs typeface="Arial" panose="020B0604020202020204" pitchFamily="34" charset="0"/>
              </a:rPr>
              <a:t>Partially</a:t>
            </a:r>
            <a:br>
              <a:rPr lang="en-US" sz="1100" dirty="0" smtClean="0">
                <a:latin typeface="Arial" panose="020B0604020202020204" pitchFamily="34" charset="0"/>
                <a:cs typeface="Arial" panose="020B0604020202020204" pitchFamily="34" charset="0"/>
              </a:rPr>
            </a:br>
            <a:r>
              <a:rPr lang="en-US" sz="1100" dirty="0" smtClean="0">
                <a:latin typeface="Arial" panose="020B0604020202020204" pitchFamily="34" charset="0"/>
                <a:cs typeface="Arial" panose="020B0604020202020204" pitchFamily="34" charset="0"/>
              </a:rPr>
              <a:t>differentiated</a:t>
            </a:r>
            <a:endParaRPr lang="en-US" sz="1100" dirty="0">
              <a:latin typeface="Arial" panose="020B0604020202020204" pitchFamily="34" charset="0"/>
              <a:cs typeface="Arial" panose="020B0604020202020204" pitchFamily="34" charset="0"/>
            </a:endParaRPr>
          </a:p>
        </p:txBody>
      </p:sp>
      <p:sp>
        <p:nvSpPr>
          <p:cNvPr id="8" name="TextBox 7"/>
          <p:cNvSpPr txBox="1"/>
          <p:nvPr/>
        </p:nvSpPr>
        <p:spPr>
          <a:xfrm>
            <a:off x="1538429" y="135766"/>
            <a:ext cx="1244251" cy="261610"/>
          </a:xfrm>
          <a:prstGeom prst="rect">
            <a:avLst/>
          </a:prstGeom>
          <a:noFill/>
          <a:ln>
            <a:solidFill>
              <a:schemeClr val="tx1"/>
            </a:solidFill>
          </a:ln>
        </p:spPr>
        <p:txBody>
          <a:bodyPr wrap="none" rtlCol="0">
            <a:spAutoFit/>
          </a:bodyPr>
          <a:lstStyle/>
          <a:p>
            <a:r>
              <a:rPr lang="en-US" sz="1100" dirty="0" smtClean="0">
                <a:latin typeface="Arial" panose="020B0604020202020204" pitchFamily="34" charset="0"/>
                <a:cs typeface="Arial" panose="020B0604020202020204" pitchFamily="34" charset="0"/>
              </a:rPr>
              <a:t>Synaptic weights</a:t>
            </a:r>
            <a:endParaRPr lang="en-US" sz="1100" dirty="0">
              <a:latin typeface="Arial" panose="020B0604020202020204" pitchFamily="34" charset="0"/>
              <a:cs typeface="Arial" panose="020B0604020202020204" pitchFamily="34" charset="0"/>
            </a:endParaRPr>
          </a:p>
        </p:txBody>
      </p:sp>
      <p:sp>
        <p:nvSpPr>
          <p:cNvPr id="9" name="TextBox 8"/>
          <p:cNvSpPr txBox="1"/>
          <p:nvPr/>
        </p:nvSpPr>
        <p:spPr>
          <a:xfrm>
            <a:off x="3503631" y="135766"/>
            <a:ext cx="954107" cy="261610"/>
          </a:xfrm>
          <a:prstGeom prst="rect">
            <a:avLst/>
          </a:prstGeom>
          <a:noFill/>
          <a:ln>
            <a:solidFill>
              <a:schemeClr val="tx1"/>
            </a:solidFill>
          </a:ln>
        </p:spPr>
        <p:txBody>
          <a:bodyPr wrap="none" rtlCol="0">
            <a:spAutoFit/>
          </a:bodyPr>
          <a:lstStyle/>
          <a:p>
            <a:r>
              <a:rPr lang="en-US" sz="1100" dirty="0" smtClean="0">
                <a:latin typeface="Arial" panose="020B0604020202020204" pitchFamily="34" charset="0"/>
                <a:cs typeface="Arial" panose="020B0604020202020204" pitchFamily="34" charset="0"/>
              </a:rPr>
              <a:t>HVC activity</a:t>
            </a:r>
            <a:endParaRPr lang="en-US" sz="1100" dirty="0">
              <a:latin typeface="Arial" panose="020B0604020202020204" pitchFamily="34" charset="0"/>
              <a:cs typeface="Arial" panose="020B0604020202020204" pitchFamily="34" charset="0"/>
            </a:endParaRPr>
          </a:p>
        </p:txBody>
      </p:sp>
      <p:sp>
        <p:nvSpPr>
          <p:cNvPr id="10" name="TextBox 9"/>
          <p:cNvSpPr txBox="1"/>
          <p:nvPr/>
        </p:nvSpPr>
        <p:spPr>
          <a:xfrm>
            <a:off x="5390851" y="135766"/>
            <a:ext cx="954107" cy="261610"/>
          </a:xfrm>
          <a:prstGeom prst="rect">
            <a:avLst/>
          </a:prstGeom>
          <a:noFill/>
          <a:ln>
            <a:solidFill>
              <a:schemeClr val="tx1"/>
            </a:solidFill>
          </a:ln>
        </p:spPr>
        <p:txBody>
          <a:bodyPr wrap="none" rtlCol="0">
            <a:spAutoFit/>
          </a:bodyPr>
          <a:lstStyle/>
          <a:p>
            <a:r>
              <a:rPr lang="en-US" sz="1100" dirty="0" smtClean="0">
                <a:latin typeface="Arial" panose="020B0604020202020204" pitchFamily="34" charset="0"/>
                <a:cs typeface="Arial" panose="020B0604020202020204" pitchFamily="34" charset="0"/>
              </a:rPr>
              <a:t>Connectivity</a:t>
            </a:r>
            <a:endParaRPr lang="en-US" sz="1100" dirty="0">
              <a:latin typeface="Arial" panose="020B0604020202020204" pitchFamily="34" charset="0"/>
              <a:cs typeface="Arial" panose="020B0604020202020204" pitchFamily="34" charset="0"/>
            </a:endParaRPr>
          </a:p>
        </p:txBody>
      </p:sp>
      <p:sp>
        <p:nvSpPr>
          <p:cNvPr id="11" name="TextBox 10"/>
          <p:cNvSpPr txBox="1"/>
          <p:nvPr/>
        </p:nvSpPr>
        <p:spPr>
          <a:xfrm>
            <a:off x="148347" y="258700"/>
            <a:ext cx="312906" cy="369332"/>
          </a:xfrm>
          <a:prstGeom prst="rect">
            <a:avLst/>
          </a:prstGeom>
          <a:noFill/>
        </p:spPr>
        <p:txBody>
          <a:bodyPr wrap="none" rtlCol="0">
            <a:spAutoFit/>
          </a:bodyPr>
          <a:lstStyle/>
          <a:p>
            <a:r>
              <a:rPr lang="en-US" b="1" dirty="0" smtClean="0">
                <a:latin typeface="Arial" panose="020B0604020202020204" pitchFamily="34" charset="0"/>
                <a:cs typeface="Arial" panose="020B0604020202020204" pitchFamily="34" charset="0"/>
              </a:rPr>
              <a:t>a</a:t>
            </a:r>
            <a:endParaRPr lang="en-US" b="1" dirty="0">
              <a:latin typeface="Arial" panose="020B0604020202020204" pitchFamily="34" charset="0"/>
              <a:cs typeface="Arial" panose="020B0604020202020204" pitchFamily="34" charset="0"/>
            </a:endParaRPr>
          </a:p>
        </p:txBody>
      </p:sp>
      <p:sp>
        <p:nvSpPr>
          <p:cNvPr id="12" name="TextBox 11"/>
          <p:cNvSpPr txBox="1"/>
          <p:nvPr/>
        </p:nvSpPr>
        <p:spPr>
          <a:xfrm>
            <a:off x="148347" y="1981738"/>
            <a:ext cx="325730" cy="369332"/>
          </a:xfrm>
          <a:prstGeom prst="rect">
            <a:avLst/>
          </a:prstGeom>
          <a:noFill/>
        </p:spPr>
        <p:txBody>
          <a:bodyPr wrap="none" rtlCol="0">
            <a:spAutoFit/>
          </a:bodyPr>
          <a:lstStyle/>
          <a:p>
            <a:r>
              <a:rPr lang="en-US" b="1" dirty="0" smtClean="0">
                <a:latin typeface="Arial" panose="020B0604020202020204" pitchFamily="34" charset="0"/>
                <a:cs typeface="Arial" panose="020B0604020202020204" pitchFamily="34" charset="0"/>
              </a:rPr>
              <a:t>b</a:t>
            </a:r>
            <a:endParaRPr lang="en-US" b="1" dirty="0">
              <a:latin typeface="Arial" panose="020B0604020202020204" pitchFamily="34" charset="0"/>
              <a:cs typeface="Arial" panose="020B0604020202020204" pitchFamily="34" charset="0"/>
            </a:endParaRPr>
          </a:p>
        </p:txBody>
      </p:sp>
      <p:sp>
        <p:nvSpPr>
          <p:cNvPr id="13" name="TextBox 12"/>
          <p:cNvSpPr txBox="1"/>
          <p:nvPr/>
        </p:nvSpPr>
        <p:spPr>
          <a:xfrm>
            <a:off x="150947" y="3704870"/>
            <a:ext cx="312906" cy="369332"/>
          </a:xfrm>
          <a:prstGeom prst="rect">
            <a:avLst/>
          </a:prstGeom>
          <a:noFill/>
        </p:spPr>
        <p:txBody>
          <a:bodyPr wrap="none" rtlCol="0">
            <a:spAutoFit/>
          </a:bodyPr>
          <a:lstStyle/>
          <a:p>
            <a:r>
              <a:rPr lang="en-US" b="1" dirty="0" smtClean="0">
                <a:latin typeface="Arial" panose="020B0604020202020204" pitchFamily="34" charset="0"/>
                <a:cs typeface="Arial" panose="020B0604020202020204" pitchFamily="34" charset="0"/>
              </a:rPr>
              <a:t>c</a:t>
            </a:r>
            <a:endParaRPr lang="en-US" b="1" dirty="0">
              <a:latin typeface="Arial" panose="020B0604020202020204" pitchFamily="34" charset="0"/>
              <a:cs typeface="Arial" panose="020B0604020202020204" pitchFamily="34" charset="0"/>
            </a:endParaRPr>
          </a:p>
        </p:txBody>
      </p:sp>
      <p:sp>
        <p:nvSpPr>
          <p:cNvPr id="14" name="Rectangle 13"/>
          <p:cNvSpPr/>
          <p:nvPr/>
        </p:nvSpPr>
        <p:spPr>
          <a:xfrm>
            <a:off x="378509" y="7279911"/>
            <a:ext cx="6250243" cy="1800493"/>
          </a:xfrm>
          <a:prstGeom prst="rect">
            <a:avLst/>
          </a:prstGeom>
        </p:spPr>
        <p:txBody>
          <a:bodyPr wrap="square">
            <a:spAutoFit/>
          </a:bodyPr>
          <a:lstStyle/>
          <a:p>
            <a:pPr marL="342900" indent="-342900">
              <a:spcAft>
                <a:spcPts val="600"/>
              </a:spcAft>
              <a:buFont typeface="+mj-lt"/>
              <a:buAutoNum type="alphaLcPeriod"/>
              <a:defRPr/>
            </a:pPr>
            <a:r>
              <a:rPr lang="en-US" sz="1200" dirty="0" smtClean="0">
                <a:latin typeface="Arial" panose="020B0604020202020204" pitchFamily="34" charset="0"/>
                <a:cs typeface="Arial" panose="020B0604020202020204" pitchFamily="34" charset="0"/>
              </a:rPr>
              <a:t>Syllable formation with probabilistic firing. Probability of firing ranges from 0 to 1 as the drive onto each neuron increases from 0 to </a:t>
            </a:r>
            <a:r>
              <a:rPr lang="en-US" sz="1200" dirty="0" err="1" smtClean="0">
                <a:latin typeface="Arial" panose="020B0604020202020204" pitchFamily="34" charset="0"/>
                <a:cs typeface="Arial" panose="020B0604020202020204" pitchFamily="34" charset="0"/>
              </a:rPr>
              <a:t>w</a:t>
            </a:r>
            <a:r>
              <a:rPr lang="en-US" sz="1200" baseline="-25000" dirty="0" err="1" smtClean="0">
                <a:latin typeface="Arial" panose="020B0604020202020204" pitchFamily="34" charset="0"/>
                <a:cs typeface="Arial" panose="020B0604020202020204" pitchFamily="34" charset="0"/>
              </a:rPr>
              <a:t>max</a:t>
            </a:r>
            <a:r>
              <a:rPr lang="en-US" sz="1200" dirty="0" smtClean="0">
                <a:latin typeface="Arial" panose="020B0604020202020204" pitchFamily="34" charset="0"/>
                <a:cs typeface="Arial" panose="020B0604020202020204" pitchFamily="34" charset="0"/>
              </a:rPr>
              <a:t>*k. </a:t>
            </a:r>
            <a:r>
              <a:rPr lang="en-US" sz="1200" dirty="0" smtClean="0">
                <a:latin typeface="Arial" panose="020B0604020202020204" pitchFamily="34" charset="0"/>
                <a:cs typeface="Arial" panose="020B0604020202020204" pitchFamily="34" charset="0"/>
              </a:rPr>
              <a:t>Wide chains form by sequentially creating many weak synapses, then pruning back to the correct number of strong synapses</a:t>
            </a:r>
          </a:p>
          <a:p>
            <a:pPr marL="342900" indent="-342900">
              <a:spcAft>
                <a:spcPts val="600"/>
              </a:spcAft>
              <a:buFont typeface="+mj-lt"/>
              <a:buAutoNum type="alphaLcPeriod"/>
              <a:defRPr/>
            </a:pPr>
            <a:r>
              <a:rPr lang="en-US" sz="1200" dirty="0" smtClean="0">
                <a:latin typeface="Arial" panose="020B0604020202020204" pitchFamily="34" charset="0"/>
                <a:cs typeface="Arial" panose="020B0604020202020204" pitchFamily="34" charset="0"/>
              </a:rPr>
              <a:t>.Complete protosyllable has relatively consistent width</a:t>
            </a:r>
          </a:p>
          <a:p>
            <a:pPr marL="342900" indent="-342900">
              <a:spcAft>
                <a:spcPts val="600"/>
              </a:spcAft>
              <a:buFont typeface="+mj-lt"/>
              <a:buAutoNum type="alphaLcPeriod"/>
              <a:defRPr/>
            </a:pPr>
            <a:r>
              <a:rPr lang="en-US" sz="1200" dirty="0" smtClean="0">
                <a:latin typeface="Arial" panose="020B0604020202020204" pitchFamily="34" charset="0"/>
                <a:cs typeface="Arial" panose="020B0604020202020204" pitchFamily="34" charset="0"/>
              </a:rPr>
              <a:t>The process of differentiation is robust to failures in firing. Note increased </a:t>
            </a:r>
            <a:r>
              <a:rPr lang="en-US" sz="1200" dirty="0" err="1" smtClean="0">
                <a:latin typeface="Arial" panose="020B0604020202020204" pitchFamily="34" charset="0"/>
                <a:cs typeface="Arial" panose="020B0604020202020204" pitchFamily="34" charset="0"/>
              </a:rPr>
              <a:t>ommisions</a:t>
            </a:r>
            <a:r>
              <a:rPr lang="en-US" sz="1200" dirty="0" smtClean="0">
                <a:latin typeface="Arial" panose="020B0604020202020204" pitchFamily="34" charset="0"/>
                <a:cs typeface="Arial" panose="020B0604020202020204" pitchFamily="34" charset="0"/>
              </a:rPr>
              <a:t> of neural firing in the center panel.</a:t>
            </a:r>
          </a:p>
          <a:p>
            <a:pPr marL="342900" indent="-342900">
              <a:spcAft>
                <a:spcPts val="600"/>
              </a:spcAft>
              <a:buFont typeface="+mj-lt"/>
              <a:buAutoNum type="alphaLcPeriod"/>
              <a:defRPr/>
            </a:pPr>
            <a:r>
              <a:rPr lang="en-US" sz="1200" dirty="0" smtClean="0">
                <a:latin typeface="Arial" panose="020B0604020202020204" pitchFamily="34" charset="0"/>
                <a:cs typeface="Arial" panose="020B0604020202020204" pitchFamily="34" charset="0"/>
              </a:rPr>
              <a:t>The fully differentiated daughter sequences.</a:t>
            </a:r>
            <a:endParaRPr lang="en-US" sz="1200" dirty="0"/>
          </a:p>
        </p:txBody>
      </p:sp>
      <p:pic>
        <p:nvPicPr>
          <p:cNvPr id="15" name="Picture 14"/>
          <p:cNvPicPr>
            <a:picLocks noChangeAspect="1"/>
          </p:cNvPicPr>
          <p:nvPr/>
        </p:nvPicPr>
        <p:blipFill>
          <a:blip r:embed="rId3"/>
          <a:stretch>
            <a:fillRect/>
          </a:stretch>
        </p:blipFill>
        <p:spPr>
          <a:xfrm>
            <a:off x="701084" y="2160351"/>
            <a:ext cx="7937596" cy="1656600"/>
          </a:xfrm>
          <a:prstGeom prst="rect">
            <a:avLst/>
          </a:prstGeom>
        </p:spPr>
      </p:pic>
      <p:pic>
        <p:nvPicPr>
          <p:cNvPr id="16" name="Picture 15"/>
          <p:cNvPicPr>
            <a:picLocks noChangeAspect="1"/>
          </p:cNvPicPr>
          <p:nvPr/>
        </p:nvPicPr>
        <p:blipFill>
          <a:blip r:embed="rId4"/>
          <a:stretch>
            <a:fillRect/>
          </a:stretch>
        </p:blipFill>
        <p:spPr>
          <a:xfrm>
            <a:off x="701084" y="3901046"/>
            <a:ext cx="7937596" cy="1656600"/>
          </a:xfrm>
          <a:prstGeom prst="rect">
            <a:avLst/>
          </a:prstGeom>
        </p:spPr>
      </p:pic>
      <p:pic>
        <p:nvPicPr>
          <p:cNvPr id="17" name="Picture 16"/>
          <p:cNvPicPr>
            <a:picLocks noChangeAspect="1"/>
          </p:cNvPicPr>
          <p:nvPr/>
        </p:nvPicPr>
        <p:blipFill>
          <a:blip r:embed="rId5"/>
          <a:stretch>
            <a:fillRect/>
          </a:stretch>
        </p:blipFill>
        <p:spPr>
          <a:xfrm>
            <a:off x="701084" y="5614430"/>
            <a:ext cx="7937596" cy="1656600"/>
          </a:xfrm>
          <a:prstGeom prst="rect">
            <a:avLst/>
          </a:prstGeom>
        </p:spPr>
      </p:pic>
      <p:sp>
        <p:nvSpPr>
          <p:cNvPr id="18" name="TextBox 17"/>
          <p:cNvSpPr txBox="1"/>
          <p:nvPr/>
        </p:nvSpPr>
        <p:spPr>
          <a:xfrm>
            <a:off x="80746" y="5980659"/>
            <a:ext cx="1253136" cy="430887"/>
          </a:xfrm>
          <a:prstGeom prst="rect">
            <a:avLst/>
          </a:prstGeom>
          <a:noFill/>
        </p:spPr>
        <p:txBody>
          <a:bodyPr wrap="square" rtlCol="0">
            <a:spAutoFit/>
          </a:bodyPr>
          <a:lstStyle/>
          <a:p>
            <a:pPr algn="ctr"/>
            <a:r>
              <a:rPr lang="en-US" sz="1100" dirty="0" smtClean="0">
                <a:latin typeface="Arial" panose="020B0604020202020204" pitchFamily="34" charset="0"/>
                <a:cs typeface="Arial" panose="020B0604020202020204" pitchFamily="34" charset="0"/>
              </a:rPr>
              <a:t>Fully differentiated</a:t>
            </a:r>
            <a:endParaRPr lang="en-US" sz="1100" dirty="0">
              <a:latin typeface="Arial" panose="020B0604020202020204" pitchFamily="34" charset="0"/>
              <a:cs typeface="Arial" panose="020B0604020202020204" pitchFamily="34" charset="0"/>
            </a:endParaRPr>
          </a:p>
        </p:txBody>
      </p:sp>
      <p:sp>
        <p:nvSpPr>
          <p:cNvPr id="19" name="TextBox 18"/>
          <p:cNvSpPr txBox="1"/>
          <p:nvPr/>
        </p:nvSpPr>
        <p:spPr>
          <a:xfrm>
            <a:off x="155414" y="5388609"/>
            <a:ext cx="312906" cy="369332"/>
          </a:xfrm>
          <a:prstGeom prst="rect">
            <a:avLst/>
          </a:prstGeom>
          <a:noFill/>
        </p:spPr>
        <p:txBody>
          <a:bodyPr wrap="none" rtlCol="0">
            <a:spAutoFit/>
          </a:bodyPr>
          <a:lstStyle/>
          <a:p>
            <a:r>
              <a:rPr lang="en-US" b="1" dirty="0" smtClean="0">
                <a:latin typeface="Arial" panose="020B0604020202020204" pitchFamily="34" charset="0"/>
                <a:cs typeface="Arial" panose="020B0604020202020204" pitchFamily="34" charset="0"/>
              </a:rPr>
              <a:t>c</a:t>
            </a:r>
            <a:endParaRPr lang="en-US"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154659812"/>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4948</TotalTime>
  <Words>1345</Words>
  <Application>Microsoft Office PowerPoint</Application>
  <PresentationFormat>Letter Paper (8.5x11 in)</PresentationFormat>
  <Paragraphs>168</Paragraphs>
  <Slides>6</Slides>
  <Notes>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Arial</vt:lpstr>
      <vt:lpstr>Calibri</vt:lpstr>
      <vt:lpstr>Calibri Light</vt:lpstr>
      <vt:lpstr>Office Theme</vt:lpstr>
      <vt:lpstr>List of figures</vt:lpstr>
      <vt:lpstr>PowerPoint Presentation</vt:lpstr>
      <vt:lpstr>Generalized to wider chains: Number of training neurons determines chain width</vt:lpstr>
      <vt:lpstr>Generalized to larger numbers of neurons: chain length  is determined by training interval</vt:lpstr>
      <vt:lpstr>PowerPoint Presentation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Hannah Payne</dc:creator>
  <cp:lastModifiedBy>Hannah Payne</cp:lastModifiedBy>
  <cp:revision>55</cp:revision>
  <dcterms:created xsi:type="dcterms:W3CDTF">2014-11-22T05:08:01Z</dcterms:created>
  <dcterms:modified xsi:type="dcterms:W3CDTF">2014-11-25T15:53:35Z</dcterms:modified>
</cp:coreProperties>
</file>